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7c14c4440d47e1" /><Relationship Type="http://schemas.openxmlformats.org/officeDocument/2006/relationships/extended-properties" Target="/docProps/app.xml" Id="Rda3f6b068d0b460e" /><Relationship Type="http://schemas.openxmlformats.org/officeDocument/2006/relationships/officeDocument" Target="/ppt/presentation.xml" Id="Rfe50b0f5481d49b5" /></Relationships>
</file>

<file path=ppt/presentation.xml><?xml version="1.0" encoding="utf-8"?>
<p:presentation xmlns:p="http://schemas.openxmlformats.org/presentationml/2006/main">
  <p:sldMasterIdLst>
    <p:sldMasterId xmlns:r="http://schemas.openxmlformats.org/officeDocument/2006/relationships" id="2147483648" r:id="Rc0ee9cfffbb54677"/>
  </p:sldMasterIdLst>
  <p:notesMasterIdLst>
    <p:notesMasterId xmlns:r="http://schemas.openxmlformats.org/officeDocument/2006/relationships" r:id="R81ee16854ffc490d"/>
  </p:notesMasterIdLst>
  <p:sldIdLst>
    <p:sldId xmlns:r="http://schemas.openxmlformats.org/officeDocument/2006/relationships" id="256" r:id="Rb9138618e5af44bf"/>
    <p:sldId xmlns:r="http://schemas.openxmlformats.org/officeDocument/2006/relationships" id="257" r:id="R7da57c05279b4117"/>
    <p:sldId xmlns:r="http://schemas.openxmlformats.org/officeDocument/2006/relationships" id="258" r:id="Rc4c1b0baf28544c5"/>
    <p:sldId xmlns:r="http://schemas.openxmlformats.org/officeDocument/2006/relationships" id="259" r:id="R6d2c303b3ce44870"/>
    <p:sldId xmlns:r="http://schemas.openxmlformats.org/officeDocument/2006/relationships" id="260" r:id="R8f7e0f5f903f47d3"/>
    <p:sldId xmlns:r="http://schemas.openxmlformats.org/officeDocument/2006/relationships" id="261" r:id="R299de118c0c8443e"/>
    <p:sldId xmlns:r="http://schemas.openxmlformats.org/officeDocument/2006/relationships" id="262" r:id="R3a18c02f1f294492"/>
    <p:sldId xmlns:r="http://schemas.openxmlformats.org/officeDocument/2006/relationships" id="263" r:id="R603d07eda9c74fb6"/>
    <p:sldId xmlns:r="http://schemas.openxmlformats.org/officeDocument/2006/relationships" id="264" r:id="Rafa2ac7100d2431e"/>
    <p:sldId xmlns:r="http://schemas.openxmlformats.org/officeDocument/2006/relationships" id="265" r:id="R8df34e2dd40440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9eb13607db4e1e" /><Relationship Type="http://schemas.openxmlformats.org/officeDocument/2006/relationships/slideMaster" Target="/ppt/slideMasters/slideMaster1.xml" Id="Rc0ee9cfffbb54677" /><Relationship Type="http://schemas.openxmlformats.org/officeDocument/2006/relationships/notesMaster" Target="/ppt/notesMasters/notesMaster1.xml" Id="R81ee16854ffc490d" /><Relationship Type="http://schemas.openxmlformats.org/officeDocument/2006/relationships/presProps" Target="/ppt/presProps.xml" Id="R6fefcb95080d464b" /><Relationship Type="http://schemas.openxmlformats.org/officeDocument/2006/relationships/tableStyles" Target="/ppt/tableStyles.xml" Id="R90dea5e7d7954fcb" /><Relationship Type="http://schemas.openxmlformats.org/officeDocument/2006/relationships/slide" Target="/ppt/slides/slide1.xml" Id="Rb9138618e5af44bf" /><Relationship Type="http://schemas.openxmlformats.org/officeDocument/2006/relationships/slide" Target="/ppt/slides/slide2.xml" Id="R7da57c05279b4117" /><Relationship Type="http://schemas.openxmlformats.org/officeDocument/2006/relationships/slide" Target="/ppt/slides/slide3.xml" Id="Rc4c1b0baf28544c5" /><Relationship Type="http://schemas.openxmlformats.org/officeDocument/2006/relationships/slide" Target="/ppt/slides/slide4.xml" Id="R6d2c303b3ce44870" /><Relationship Type="http://schemas.openxmlformats.org/officeDocument/2006/relationships/slide" Target="/ppt/slides/slide5.xml" Id="R8f7e0f5f903f47d3" /><Relationship Type="http://schemas.openxmlformats.org/officeDocument/2006/relationships/slide" Target="/ppt/slides/slide6.xml" Id="R299de118c0c8443e" /><Relationship Type="http://schemas.openxmlformats.org/officeDocument/2006/relationships/slide" Target="/ppt/slides/slide7.xml" Id="R3a18c02f1f294492" /><Relationship Type="http://schemas.openxmlformats.org/officeDocument/2006/relationships/slide" Target="/ppt/slides/slide8.xml" Id="R603d07eda9c74fb6" /><Relationship Type="http://schemas.openxmlformats.org/officeDocument/2006/relationships/slide" Target="/ppt/slides/slide9.xml" Id="Rafa2ac7100d2431e" /><Relationship Type="http://schemas.openxmlformats.org/officeDocument/2006/relationships/slide" Target="/ppt/slides/slide10.xml" Id="R8df34e2dd40440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7bf57309fc4c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3294315458481a" /><Relationship Type="http://schemas.openxmlformats.org/officeDocument/2006/relationships/notesMaster" Target="/ppt/notesMasters/notesMaster1.xml" Id="Rac696a99545740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300d0d1b024534" /><Relationship Type="http://schemas.openxmlformats.org/officeDocument/2006/relationships/notesMaster" Target="/ppt/notesMasters/notesMaster1.xml" Id="R76f549e6d6334a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58be61ddb64ba4" /><Relationship Type="http://schemas.openxmlformats.org/officeDocument/2006/relationships/notesMaster" Target="/ppt/notesMasters/notesMaster1.xml" Id="R0d953fc75f8f4c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5eea168b90411f" /><Relationship Type="http://schemas.openxmlformats.org/officeDocument/2006/relationships/notesMaster" Target="/ppt/notesMasters/notesMaster1.xml" Id="R7472973f168847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6dc7291baa4280" /><Relationship Type="http://schemas.openxmlformats.org/officeDocument/2006/relationships/notesMaster" Target="/ppt/notesMasters/notesMaster1.xml" Id="Rc02d73f079e549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2affe0fdfc4d42" /><Relationship Type="http://schemas.openxmlformats.org/officeDocument/2006/relationships/notesMaster" Target="/ppt/notesMasters/notesMaster1.xml" Id="Ra94517cd367f4e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cad995995f4f65" /><Relationship Type="http://schemas.openxmlformats.org/officeDocument/2006/relationships/notesMaster" Target="/ppt/notesMasters/notesMaster1.xml" Id="R125d4889ea8d4b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7580d5c71e4694" /><Relationship Type="http://schemas.openxmlformats.org/officeDocument/2006/relationships/notesMaster" Target="/ppt/notesMasters/notesMaster1.xml" Id="R12cf23b00afb4e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b4bbcbc3434814" /><Relationship Type="http://schemas.openxmlformats.org/officeDocument/2006/relationships/notesMaster" Target="/ppt/notesMasters/notesMaster1.xml" Id="R75bf9d9c0fc543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e63fd0296c497a" /><Relationship Type="http://schemas.openxmlformats.org/officeDocument/2006/relationships/notesMaster" Target="/ppt/notesMasters/notesMaster1.xml" Id="R3fc3b1ca416147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Utkrishta 2026 participant guidelines, slide1: team, members, track and one-line solution. Member names are intentionally editable for the team to fill. This project combines established statistical and forecasting methods; no claim of a new foundational algorithm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Utkrishta2026 participant guidelines, Challenge2 objective and metrics. Operational examples refer to the NAB signal groups included in the dataset. The project explains statistical evidence, not the causal source of an outage.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NAB input files and import audit. Raw readings365558, normalized365509, duplicates49. The offline input conversion drops missing values; the streaming path forward-fills context and does not score missing targets. There are5 synthetic normal,6 synthetic anomaly,17 AWS,7 traffic,10 tweet,6 ad and7 known-cause streams. NAB source: https://github.com/numenta/NAB . All-normal streams retain score arrays but are not assigned artificial benchmark F1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streaming implementation, frozen control configuration and imported benchmark protocol. The streaming path is past-only for feature construction and decisions. The offline comparison includes centered windows and label-chosen benchmark thresholds. These must not be described as the same deployment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score arrays, scorer implementation and frozen control configuration. Centered variance uses pandas rolling variance with the sample-variance convention and original edge backfill/forward-fill. Operational candidates include a24/96 window, Ridge alpha1/10/100 and horizon sets1;1,8,24;1,16,64. Threshold quantiles0.99/0.999 or robust MAD; adaptation is selected during development and is not always enabled. Persistent profile can require2-of3 exceedances,3 quiet readings for recovery and8-reading cooldown. These are established methods, not claimed as newly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completed-job records, archived summary and next-stream interrupt log. There are714 completed method/stream pairs:696 from12 full methods plus18 from the next configuration. The summary contains only the12 fully evaluated methods. The next model was stopped by KeyboardInterrupt; it is not reported as a completed configuration. No independent tuning claim is made for selecting the best benchmark window after reviewing this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archived benchmark metrics and separate frozen-control streaming replay. Operational TP14, FP43, FN8; precision14/57, recall14/22, F1=28/79. Mean delay is the TP-weighted mean of per-stream means,40885.714seconds=11.357hours. Latency1.059750ms is the median of 58 per-stream P50 samples,128 one-window samples per stream; it includes features, forecast and scoring/state, not file I/O or fitting. The public test was repeatedly inspected, so this is exploratory reporting, not fresh hidden-test evidence. Offline summary does not provide deployable thresholds or precision/recall at such a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imported summary for the12 completed methods. Event-F1: var64=.736387501396601; MOMENT64=.7268644603179857; var96=.7143711850338679; ensemble=.7257208744824655. VUS-PR: var256=.4582472499393551; MOMENT256=.44706398900863803; var512=.4280307403318515; var96=.3963256497579135. Charts retain complete literal values in editable embedded workbooks. This is macro-averaged offline benchmark performance. Six all-normal streams are not included in these means.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streaming predictions and NAB anomaly windows. The time-series charts show61 actual readings centered on each alert, with the past-only expectation at the triggering horizon. Match status comes from a label-window lookup, not an invented visual annotation. True-positive source: realAWSCloudwatch/ec2_cpu_utilization_24ae8d.csv. False-positive source: realKnownCause/ambient_temperature_system_failure.csv. The score may be driven by a longer forecast horizon. Full saved evidence: h=1: observed 0.134; expected 0.87; range [0.202537, 1.53746]; score 1.267 versus threshold 1.149. Label includes persistence, incident recovery and cooldown rules; this is evidence, not a root cause. False-alert evidence: h=8: observed 70.0738; expected 62.71; range [56.7249, 68.695]; score 6.147 versus threshold 4.996. Label includes persistence, incident recovery and cooldown rules; this is evidence, not a root cause. Statistical evidence is not root-cause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completed offline benchmark, separate streaming replay and Challenge2 judging requirements. The current73.64% result is not a deployment guarantee; it uses label-selected benchmark thresholds and centered context. No forecast of future score improvement is made. The best observed configuration was selected after seeing results. A final hidden-test submission and live/video demonstration remain team deliverables. Team members should be added on slide1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137edc280c4a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978bd1656a42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82e998d4814c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d188e4b23549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290a5a708a49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0509fbc9eb41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C53DD2-60E6-44C6-A92F-10F3A46A53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D314E3-11BA-4092-8470-AAC4E5E0CE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E89EE8-2B93-4083-ACC6-15CC4835852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E0AF0E-8720-4CC8-8838-66D84992AC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F0B886-9296-45AA-AB7A-583B9B1BA6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96F9AD-43E6-4373-BA65-61AB6B77B8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E3127A-C9F0-47BD-9E2C-A217CCF856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F66497-C5C1-40E0-A22B-6ACF416623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58048A-69BC-4FA6-AC9E-F07D8AE1A2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D37C28-38AA-48B5-A2E9-0D16C9DF9E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7e64b9a51c45d3" /><Relationship Type="http://schemas.openxmlformats.org/officeDocument/2006/relationships/slideLayout" Target="/ppt/slideLayouts/slideLayout1.xml" Id="R19314fb6d02d4ac2" /><Relationship Type="http://schemas.openxmlformats.org/officeDocument/2006/relationships/slideLayout" Target="/ppt/slideLayouts/slideLayout2.xml" Id="R6ba56c4ccc264096" /><Relationship Type="http://schemas.openxmlformats.org/officeDocument/2006/relationships/slideLayout" Target="/ppt/slideLayouts/slideLayout3.xml" Id="R2b4ff9ddf6d34bb5" /><Relationship Type="http://schemas.openxmlformats.org/officeDocument/2006/relationships/slideLayout" Target="/ppt/slideLayouts/slideLayout4.xml" Id="R56a874cd567a4885" /><Relationship Type="http://schemas.openxmlformats.org/officeDocument/2006/relationships/slideLayout" Target="/ppt/slideLayouts/slideLayout5.xml" Id="Ra547e78f98d8441a" /><Relationship Type="http://schemas.openxmlformats.org/officeDocument/2006/relationships/slideLayout" Target="/ppt/slideLayouts/slideLayout6.xml" Id="R787a37cd280240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314fb6d02d4ac2"/>
    <p:sldLayoutId xmlns:r="http://schemas.openxmlformats.org/officeDocument/2006/relationships" id="2147483650" r:id="R6ba56c4ccc264096"/>
    <p:sldLayoutId xmlns:r="http://schemas.openxmlformats.org/officeDocument/2006/relationships" id="2147483651" r:id="R2b4ff9ddf6d34bb5"/>
    <p:sldLayoutId xmlns:r="http://schemas.openxmlformats.org/officeDocument/2006/relationships" id="2147483652" r:id="R56a874cd567a4885"/>
    <p:sldLayoutId xmlns:r="http://schemas.openxmlformats.org/officeDocument/2006/relationships" id="2147483653" r:id="Ra547e78f98d8441a"/>
    <p:sldLayoutId xmlns:r="http://schemas.openxmlformats.org/officeDocument/2006/relationships" id="2147483654" r:id="R787a37cd280240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03c8c57a724b39" /><Relationship Type="http://schemas.openxmlformats.org/officeDocument/2006/relationships/notesSlide" Target="/ppt/notesSlides/notesSlide1.xml" Id="Rbdbcc6cd481841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bf74092b9f47d6" /><Relationship Type="http://schemas.openxmlformats.org/officeDocument/2006/relationships/notesSlide" Target="/ppt/notesSlides/notesSlide2.xml" Id="R9d7750d9e6de48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431b142e534faf" /><Relationship Type="http://schemas.openxmlformats.org/officeDocument/2006/relationships/notesSlide" Target="/ppt/notesSlides/notesSlide3.xml" Id="Rfd985456da9f4e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fe14bd6a514964" /><Relationship Type="http://schemas.openxmlformats.org/officeDocument/2006/relationships/notesSlide" Target="/ppt/notesSlides/notesSlide4.xml" Id="R732f2ba0f5bd47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0bd9e304bb4c27" /><Relationship Type="http://schemas.openxmlformats.org/officeDocument/2006/relationships/notesSlide" Target="/ppt/notesSlides/notesSlide5.xml" Id="Re5da62312f3b40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cc89c2469254e7d" /><Relationship Type="http://schemas.openxmlformats.org/officeDocument/2006/relationships/notesSlide" Target="/ppt/notesSlides/notesSlide6.xml" Id="Ra9cb5a69ac4846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f8c843e4a774b3b" /><Relationship Type="http://schemas.openxmlformats.org/officeDocument/2006/relationships/notesSlide" Target="/ppt/notesSlides/notesSlide7.xml" Id="R988e460c20ea4d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8dc57ba17634cfb" /><Relationship Type="http://schemas.openxmlformats.org/officeDocument/2006/relationships/chart" Target="/ppt/slides/charts/chart1.xml" Id="Rf41bcb07660c4fc8" /><Relationship Type="http://schemas.openxmlformats.org/officeDocument/2006/relationships/chart" Target="/ppt/slides/charts/chart2.xml" Id="Rb86c5a85dbe442ee" /><Relationship Type="http://schemas.openxmlformats.org/officeDocument/2006/relationships/notesSlide" Target="/ppt/notesSlides/notesSlide8.xml" Id="R5586acf7f90241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eaeb5eccd84344" /><Relationship Type="http://schemas.openxmlformats.org/officeDocument/2006/relationships/chart" Target="/ppt/slides/charts/chart3.xml" Id="R4e6ef267c33a4d5b" /><Relationship Type="http://schemas.openxmlformats.org/officeDocument/2006/relationships/chart" Target="/ppt/slides/charts/chart4.xml" Id="R2a3441fef66048af" /><Relationship Type="http://schemas.openxmlformats.org/officeDocument/2006/relationships/notesSlide" Target="/ppt/notesSlides/notesSlide9.xml" Id="Rfeeae4acac1140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c0c2f9b22c4ae3" /><Relationship Type="http://schemas.openxmlformats.org/officeDocument/2006/relationships/notesSlide" Target="/ppt/notesSlides/notesSlide10.xml" Id="Ree2b90330c40454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plotArea>
      <c:barChart>
        <c:barDir val="bar"/>
        <c:grouping val="clustered"/>
        <c:varyColors val="0"/>
        <c:ser>
          <c:idx val="0"/>
          <c:order val="0"/>
          <c:tx>
            <c:v>Event-F1</c:v>
          </c:tx>
          <c:spPr>
            <ns1:solidFill>
              <ns1:srgbClr val="067C75"/>
            </ns1:solidFill>
          </c:spPr>
          <c:invertIfNegative val="0"/>
          <c:cat>
            <c:strRef>
              <c:f>'Chart Data'!$A$2:$A$5</c:f>
              <c:strCache>
                <c:ptCount val="4"/>
                <c:pt idx="0">
                  <c:v>Variance96</c:v>
                </c:pt>
                <c:pt idx="1">
                  <c:v>Var96 + Last3</c:v>
                </c:pt>
                <c:pt idx="2">
                  <c:v>MOMENT64</c:v>
                </c:pt>
                <c:pt idx="3">
                  <c:v>Variance64</c:v>
                </c:pt>
              </c:strCache>
            </c:strRef>
          </c:cat>
          <c:val>
            <c:numRef>
              <c:f>'Chart Data'!$B$2:$B$5</c:f>
              <c:numCache>
                <c:formatCode>0%</c:formatCode>
                <c:ptCount val="4"/>
                <c:pt idx="0">
                  <c:v>0.71437118503387</c:v>
                </c:pt>
                <c:pt idx="1">
                  <c:v>0.72572087448247</c:v>
                </c:pt>
                <c:pt idx="2">
                  <c:v>0.72686446031799</c:v>
                </c:pt>
                <c:pt idx="3">
                  <c:v>0.7363875013966</c:v>
                </c:pt>
              </c:numCache>
            </c:numRef>
          </c:val>
        </c:ser>
        <c:dLbls>
          <c:numFmt formatCode="0.00%" sourceLinked="0"/>
          <c:txPr>
            <ns1:bodyPr anchorCtr="1"/>
            <ns1:lstStyle/>
            <ns1:p>
              <ns1:pPr>
                <ns1:defRPr sz="1275" b="1">
                  <ns1:solidFill>
                    <ns1:srgbClr val="142D40"/>
                  </ns1:solidFill>
                </ns1:defRPr>
              </ns1:pPr>
            </ns1: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majorGridlines>
          <c:spPr>
            <ns1:ln w="9525">
              <ns1:solidFill>
                <ns1:srgbClr val="D7E2E7"/>
              </ns1:solidFill>
            </ns1:ln>
          </c:spPr>
        </c:majorGridlines>
        <c:numFmt formatCode="0%"/>
        <c:majorTickMark val="none"/>
        <c:minorTickMark val="none"/>
        <c:spPr>
          <ns1:ln w="9525">
            <ns1:solidFill>
              <ns1:srgbClr val="D4D4D4"/>
            </ns1:solidFill>
            <ns1:prstDash val="solid"/>
          </ns1:ln>
        </c:spPr>
        <c:txPr>
          <ns1:bodyPr anchorCtr="1"/>
          <ns1:lstStyle/>
          <ns1:p>
            <ns1:pPr>
              <ns1:defRPr sz="1125">
                <ns1:solidFill>
                  <ns1:srgbClr val="536775"/>
                </ns1:solidFill>
              </ns1:defRPr>
            </ns1:pPr>
          </ns1:p>
        </c:txPr>
        <c:crossAx val="48672768"/>
      </c:catAx>
      <c:valAx>
        <c:axId val="48672768"/>
        <c:scaling>
          <c:orientation val="minMax"/>
          <c:max val="1"/>
          <c:min val="0"/>
        </c:scaling>
        <c:delete val="0"/>
        <c:axPos val="b"/>
        <c:numFmt formatCode="0%"/>
        <c:majorTickMark val="none"/>
        <c:minorTickMark val="none"/>
        <c:spPr>
          <ns1:ln w="9525">
            <ns1:solidFill>
              <ns1:srgbClr val="D4D4D4"/>
            </ns1:solidFill>
            <ns1:prstDash val="solid"/>
          </ns1:ln>
        </c:spPr>
        <c:txPr>
          <ns1:bodyPr anchorCtr="1"/>
          <ns1:lstStyle/>
          <ns1:p>
            <ns1:pPr>
              <ns1:defRPr sz="1350">
                <ns1:solidFill>
                  <ns1:srgbClr val="142D40"/>
                </ns1:solidFill>
              </ns1:defRPr>
            </ns1:pPr>
          </ns1: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plotArea>
      <c:barChart>
        <c:barDir val="bar"/>
        <c:grouping val="clustered"/>
        <c:varyColors val="0"/>
        <c:ser>
          <c:idx val="0"/>
          <c:order val="0"/>
          <c:tx>
            <c:v>VUS-PR</c:v>
          </c:tx>
          <c:spPr>
            <ns1:solidFill>
              <ns1:srgbClr val="067C75"/>
            </ns1:solidFill>
          </c:spPr>
          <c:invertIfNegative val="0"/>
          <c:cat>
            <c:strRef>
              <c:f>'Chart Data'!$A$2:$A$5</c:f>
              <c:strCache>
                <c:ptCount val="4"/>
                <c:pt idx="0">
                  <c:v>Variance96</c:v>
                </c:pt>
                <c:pt idx="1">
                  <c:v>Variance512</c:v>
                </c:pt>
                <c:pt idx="2">
                  <c:v>MOMENT256</c:v>
                </c:pt>
                <c:pt idx="3">
                  <c:v>Variance256</c:v>
                </c:pt>
              </c:strCache>
            </c:strRef>
          </c:cat>
          <c:val>
            <c:numRef>
              <c:f>'Chart Data'!$B$2:$B$5</c:f>
              <c:numCache>
                <c:formatCode>0%</c:formatCode>
                <c:ptCount val="4"/>
                <c:pt idx="0">
                  <c:v>0.39632564975791</c:v>
                </c:pt>
                <c:pt idx="1">
                  <c:v>0.42803074033185</c:v>
                </c:pt>
                <c:pt idx="2">
                  <c:v>0.44706398900864</c:v>
                </c:pt>
                <c:pt idx="3">
                  <c:v>0.45824724993936</c:v>
                </c:pt>
              </c:numCache>
            </c:numRef>
          </c:val>
        </c:ser>
        <c:dLbls>
          <c:numFmt formatCode="0.00%" sourceLinked="0"/>
          <c:txPr>
            <ns1:bodyPr anchorCtr="1"/>
            <ns1:lstStyle/>
            <ns1:p>
              <ns1:pPr>
                <ns1:defRPr sz="1275" b="1">
                  <ns1:solidFill>
                    <ns1:srgbClr val="142D40"/>
                  </ns1:solidFill>
                </ns1:defRPr>
              </ns1:pPr>
            </ns1: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majorGridlines>
          <c:spPr>
            <ns1:ln w="9525">
              <ns1:solidFill>
                <ns1:srgbClr val="D7E2E7"/>
              </ns1:solidFill>
            </ns1:ln>
          </c:spPr>
        </c:majorGridlines>
        <c:numFmt formatCode="0%"/>
        <c:majorTickMark val="none"/>
        <c:minorTickMark val="none"/>
        <c:spPr>
          <ns1:ln w="9525">
            <ns1:solidFill>
              <ns1:srgbClr val="D4D4D4"/>
            </ns1:solidFill>
            <ns1:prstDash val="solid"/>
          </ns1:ln>
        </c:spPr>
        <c:txPr>
          <ns1:bodyPr anchorCtr="1"/>
          <ns1:lstStyle/>
          <ns1:p>
            <ns1:pPr>
              <ns1:defRPr sz="1125">
                <ns1:solidFill>
                  <ns1:srgbClr val="536775"/>
                </ns1:solidFill>
              </ns1:defRPr>
            </ns1:pPr>
          </ns1:p>
        </c:txPr>
        <c:crossAx val="48672768"/>
      </c:catAx>
      <c:valAx>
        <c:axId val="48672768"/>
        <c:scaling>
          <c:orientation val="minMax"/>
          <c:max val="0.6"/>
          <c:min val="0"/>
        </c:scaling>
        <c:delete val="0"/>
        <c:axPos val="b"/>
        <c:numFmt formatCode="0%"/>
        <c:majorTickMark val="none"/>
        <c:minorTickMark val="none"/>
        <c:spPr>
          <ns1:ln w="9525">
            <ns1:solidFill>
              <ns1:srgbClr val="D4D4D4"/>
            </ns1:solidFill>
            <ns1:prstDash val="solid"/>
          </ns1:ln>
        </c:spPr>
        <c:txPr>
          <ns1:bodyPr anchorCtr="1"/>
          <ns1:lstStyle/>
          <ns1:p>
            <ns1:pPr>
              <ns1:defRPr sz="1350">
                <ns1:solidFill>
                  <ns1:srgbClr val="142D40"/>
                </ns1:solidFill>
              </ns1:defRPr>
            </ns1:pPr>
          </ns1: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plotArea>
      <c:lineChart>
        <c:grouping val="standard"/>
        <c:varyColors val="0"/>
        <c:ser>
          <c:idx val="0"/>
          <c:order val="0"/>
          <c:tx>
            <c:v>Observed</c:v>
          </c:tx>
          <c:spPr>
            <ns1:ln w="19050">
              <ns1:solidFill>
                <ns1:srgbClr val="142D40"/>
              </ns1:solidFill>
            </ns1:ln>
          </c:spPr>
          <c:marker>
            <c:symbol val="none"/>
          </c:marker>
          <c:cat>
            <c:numRef>
              <c:f>'Chart Data'!$A$2:$A$62</c:f>
              <c:numCache>
                <c:formatCode>General</c:formatCode>
                <c:ptCount val="61"/>
                <c:pt idx="0">
                  <c:v>-30</c:v>
                </c:pt>
                <c:pt idx="1">
                  <c:v>-29</c:v>
                </c:pt>
                <c:pt idx="2">
                  <c:v>-28</c:v>
                </c:pt>
                <c:pt idx="3">
                  <c:v>-27</c:v>
                </c:pt>
                <c:pt idx="4">
                  <c:v>-26</c:v>
                </c:pt>
                <c:pt idx="5">
                  <c:v>-25</c:v>
                </c:pt>
                <c:pt idx="6">
                  <c:v>-24</c:v>
                </c:pt>
                <c:pt idx="7">
                  <c:v>-23</c:v>
                </c:pt>
                <c:pt idx="8">
                  <c:v>-22</c:v>
                </c:pt>
                <c:pt idx="9">
                  <c:v>-21</c:v>
                </c:pt>
                <c:pt idx="10">
                  <c:v>-20</c:v>
                </c:pt>
                <c:pt idx="11">
                  <c:v>-19</c:v>
                </c:pt>
                <c:pt idx="12">
                  <c:v>-18</c:v>
                </c:pt>
                <c:pt idx="13">
                  <c:v>-17</c:v>
                </c:pt>
                <c:pt idx="14">
                  <c:v>-16</c:v>
                </c:pt>
                <c:pt idx="15">
                  <c:v>-15</c:v>
                </c:pt>
                <c:pt idx="16">
                  <c:v>-14</c:v>
                </c:pt>
                <c:pt idx="17">
                  <c:v>-13</c:v>
                </c:pt>
                <c:pt idx="18">
                  <c:v>-12</c:v>
                </c:pt>
                <c:pt idx="19">
                  <c:v>-11</c:v>
                </c:pt>
                <c:pt idx="20">
                  <c:v>-10</c:v>
                </c:pt>
                <c:pt idx="21">
                  <c:v>-9</c:v>
                </c:pt>
                <c:pt idx="22">
                  <c:v>-8</c:v>
                </c:pt>
                <c:pt idx="23">
                  <c:v>-7</c:v>
                </c:pt>
                <c:pt idx="24">
                  <c:v>-6</c:v>
                </c:pt>
                <c:pt idx="25">
                  <c:v>-5</c:v>
                </c:pt>
                <c:pt idx="26">
                  <c:v>-4</c:v>
                </c:pt>
                <c:pt idx="27">
                  <c:v>-3</c:v>
                </c:pt>
                <c:pt idx="28">
                  <c:v>-2</c:v>
                </c:pt>
                <c:pt idx="29">
                  <c:v>-1</c:v>
                </c:pt>
                <c:pt idx="30">
                  <c:v>0</c:v>
                </c:pt>
                <c:pt idx="31">
                  <c:v>1</c:v>
                </c:pt>
                <c:pt idx="32">
                  <c:v>2</c:v>
                </c:pt>
                <c:pt idx="33">
                  <c:v>3</c:v>
                </c:pt>
                <c:pt idx="34">
                  <c:v>4</c:v>
                </c:pt>
                <c:pt idx="35">
                  <c:v>5</c:v>
                </c:pt>
                <c:pt idx="36">
                  <c:v>6</c:v>
                </c:pt>
                <c:pt idx="37">
                  <c:v>7</c:v>
                </c:pt>
                <c:pt idx="38">
                  <c:v>8</c:v>
                </c:pt>
                <c:pt idx="39">
                  <c:v>9</c:v>
                </c:pt>
                <c:pt idx="40">
                  <c:v>10</c:v>
                </c:pt>
                <c:pt idx="41">
                  <c:v>11</c:v>
                </c:pt>
                <c:pt idx="42">
                  <c:v>12</c:v>
                </c:pt>
                <c:pt idx="43">
                  <c:v>13</c:v>
                </c:pt>
                <c:pt idx="44">
                  <c:v>14</c:v>
                </c:pt>
                <c:pt idx="45">
                  <c:v>15</c:v>
                </c:pt>
                <c:pt idx="46">
                  <c:v>16</c:v>
                </c:pt>
                <c:pt idx="47">
                  <c:v>17</c:v>
                </c:pt>
                <c:pt idx="48">
                  <c:v>18</c:v>
                </c:pt>
                <c:pt idx="49">
                  <c:v>19</c:v>
                </c:pt>
                <c:pt idx="50">
                  <c:v>20</c:v>
                </c:pt>
                <c:pt idx="51">
                  <c:v>21</c:v>
                </c:pt>
                <c:pt idx="52">
                  <c:v>22</c:v>
                </c:pt>
                <c:pt idx="53">
                  <c:v>23</c:v>
                </c:pt>
                <c:pt idx="54">
                  <c:v>24</c:v>
                </c:pt>
                <c:pt idx="55">
                  <c:v>25</c:v>
                </c:pt>
                <c:pt idx="56">
                  <c:v>26</c:v>
                </c:pt>
                <c:pt idx="57">
                  <c:v>27</c:v>
                </c:pt>
                <c:pt idx="58">
                  <c:v>28</c:v>
                </c:pt>
                <c:pt idx="59">
                  <c:v>29</c:v>
                </c:pt>
                <c:pt idx="60">
                  <c:v>30</c:v>
                </c:pt>
              </c:numCache>
            </c:numRef>
          </c:cat>
          <c:val>
            <c:numRef>
              <c:f>'Chart Data'!$B$2:$B$62</c:f>
              <c:numCache>
                <c:formatCode>0.0</c:formatCode>
                <c:ptCount val="61"/>
                <c:pt idx="0">
                  <c:v>0.134</c:v>
                </c:pt>
                <c:pt idx="1">
                  <c:v>0.134</c:v>
                </c:pt>
                <c:pt idx="2">
                  <c:v>0.134</c:v>
                </c:pt>
                <c:pt idx="3">
                  <c:v>0.134</c:v>
                </c:pt>
                <c:pt idx="4">
                  <c:v>0.134</c:v>
                </c:pt>
                <c:pt idx="5">
                  <c:v>0.134</c:v>
                </c:pt>
                <c:pt idx="6">
                  <c:v>0.066</c:v>
                </c:pt>
                <c:pt idx="7">
                  <c:v>0.134</c:v>
                </c:pt>
                <c:pt idx="8">
                  <c:v>0.136</c:v>
                </c:pt>
                <c:pt idx="9">
                  <c:v>0.136</c:v>
                </c:pt>
                <c:pt idx="10">
                  <c:v>0.134</c:v>
                </c:pt>
                <c:pt idx="11">
                  <c:v>0.068</c:v>
                </c:pt>
                <c:pt idx="12">
                  <c:v>0.134</c:v>
                </c:pt>
                <c:pt idx="13">
                  <c:v>0.136</c:v>
                </c:pt>
                <c:pt idx="14">
                  <c:v>0.134</c:v>
                </c:pt>
                <c:pt idx="15">
                  <c:v>0.134</c:v>
                </c:pt>
                <c:pt idx="16">
                  <c:v>0.266</c:v>
                </c:pt>
                <c:pt idx="17">
                  <c:v>0.198</c:v>
                </c:pt>
                <c:pt idx="18">
                  <c:v>0.264</c:v>
                </c:pt>
                <c:pt idx="19">
                  <c:v>0.2</c:v>
                </c:pt>
                <c:pt idx="20">
                  <c:v>0.134</c:v>
                </c:pt>
                <c:pt idx="21">
                  <c:v>0.066</c:v>
                </c:pt>
                <c:pt idx="22">
                  <c:v>0.134</c:v>
                </c:pt>
                <c:pt idx="23">
                  <c:v>0.132</c:v>
                </c:pt>
                <c:pt idx="24">
                  <c:v>0.134</c:v>
                </c:pt>
                <c:pt idx="25">
                  <c:v>0.066</c:v>
                </c:pt>
                <c:pt idx="26">
                  <c:v>0.134</c:v>
                </c:pt>
                <c:pt idx="27">
                  <c:v>0.132</c:v>
                </c:pt>
                <c:pt idx="28">
                  <c:v>0.132</c:v>
                </c:pt>
                <c:pt idx="29">
                  <c:v>2.344</c:v>
                </c:pt>
                <c:pt idx="30">
                  <c:v>0.134</c:v>
                </c:pt>
                <c:pt idx="31">
                  <c:v>0.066</c:v>
                </c:pt>
                <c:pt idx="32">
                  <c:v>0.134</c:v>
                </c:pt>
                <c:pt idx="33">
                  <c:v>0.066</c:v>
                </c:pt>
                <c:pt idx="34">
                  <c:v>0.132</c:v>
                </c:pt>
                <c:pt idx="35">
                  <c:v>0.134</c:v>
                </c:pt>
                <c:pt idx="36">
                  <c:v>0.132</c:v>
                </c:pt>
                <c:pt idx="37">
                  <c:v>0.132</c:v>
                </c:pt>
                <c:pt idx="38">
                  <c:v>0.134</c:v>
                </c:pt>
                <c:pt idx="39">
                  <c:v>0.134</c:v>
                </c:pt>
                <c:pt idx="40">
                  <c:v>0.132</c:v>
                </c:pt>
                <c:pt idx="41">
                  <c:v>0.134</c:v>
                </c:pt>
                <c:pt idx="42">
                  <c:v>0.066</c:v>
                </c:pt>
                <c:pt idx="43">
                  <c:v>0.328</c:v>
                </c:pt>
                <c:pt idx="44">
                  <c:v>0.132</c:v>
                </c:pt>
                <c:pt idx="45">
                  <c:v>0.066</c:v>
                </c:pt>
                <c:pt idx="46">
                  <c:v>0.134</c:v>
                </c:pt>
                <c:pt idx="47">
                  <c:v>0.134</c:v>
                </c:pt>
                <c:pt idx="48">
                  <c:v>0.132</c:v>
                </c:pt>
                <c:pt idx="49">
                  <c:v>0.066</c:v>
                </c:pt>
                <c:pt idx="50">
                  <c:v>0.134</c:v>
                </c:pt>
                <c:pt idx="51">
                  <c:v>0.136</c:v>
                </c:pt>
                <c:pt idx="52">
                  <c:v>0.132</c:v>
                </c:pt>
                <c:pt idx="53">
                  <c:v>0.134</c:v>
                </c:pt>
                <c:pt idx="54">
                  <c:v>0.066</c:v>
                </c:pt>
                <c:pt idx="55">
                  <c:v>0.132</c:v>
                </c:pt>
                <c:pt idx="56">
                  <c:v>0.066</c:v>
                </c:pt>
                <c:pt idx="57">
                  <c:v>0.134</c:v>
                </c:pt>
                <c:pt idx="58">
                  <c:v>0.132</c:v>
                </c:pt>
                <c:pt idx="59">
                  <c:v>0.066</c:v>
                </c:pt>
                <c:pt idx="60">
                  <c:v>0.132</c:v>
                </c:pt>
              </c:numCache>
            </c:numRef>
          </c:val>
        </c:ser>
        <c:ser>
          <c:idx val="1"/>
          <c:order val="1"/>
          <c:tx>
            <c:v>Expected</c:v>
          </c:tx>
          <c:spPr>
            <ns1:ln w="19050">
              <ns1:solidFill>
                <ns1:srgbClr val="067C75"/>
              </ns1:solidFill>
            </ns1:ln>
          </c:spPr>
          <c:marker>
            <c:symbol val="none"/>
          </c:marker>
          <c:cat>
            <c:numRef>
              <c:f>'Chart Data'!$C$2:$C$62</c:f>
              <c:numCache>
                <c:formatCode>General</c:formatCode>
                <c:ptCount val="61"/>
                <c:pt idx="0">
                  <c:v>-30</c:v>
                </c:pt>
                <c:pt idx="1">
                  <c:v>-29</c:v>
                </c:pt>
                <c:pt idx="2">
                  <c:v>-28</c:v>
                </c:pt>
                <c:pt idx="3">
                  <c:v>-27</c:v>
                </c:pt>
                <c:pt idx="4">
                  <c:v>-26</c:v>
                </c:pt>
                <c:pt idx="5">
                  <c:v>-25</c:v>
                </c:pt>
                <c:pt idx="6">
                  <c:v>-24</c:v>
                </c:pt>
                <c:pt idx="7">
                  <c:v>-23</c:v>
                </c:pt>
                <c:pt idx="8">
                  <c:v>-22</c:v>
                </c:pt>
                <c:pt idx="9">
                  <c:v>-21</c:v>
                </c:pt>
                <c:pt idx="10">
                  <c:v>-20</c:v>
                </c:pt>
                <c:pt idx="11">
                  <c:v>-19</c:v>
                </c:pt>
                <c:pt idx="12">
                  <c:v>-18</c:v>
                </c:pt>
                <c:pt idx="13">
                  <c:v>-17</c:v>
                </c:pt>
                <c:pt idx="14">
                  <c:v>-16</c:v>
                </c:pt>
                <c:pt idx="15">
                  <c:v>-15</c:v>
                </c:pt>
                <c:pt idx="16">
                  <c:v>-14</c:v>
                </c:pt>
                <c:pt idx="17">
                  <c:v>-13</c:v>
                </c:pt>
                <c:pt idx="18">
                  <c:v>-12</c:v>
                </c:pt>
                <c:pt idx="19">
                  <c:v>-11</c:v>
                </c:pt>
                <c:pt idx="20">
                  <c:v>-10</c:v>
                </c:pt>
                <c:pt idx="21">
                  <c:v>-9</c:v>
                </c:pt>
                <c:pt idx="22">
                  <c:v>-8</c:v>
                </c:pt>
                <c:pt idx="23">
                  <c:v>-7</c:v>
                </c:pt>
                <c:pt idx="24">
                  <c:v>-6</c:v>
                </c:pt>
                <c:pt idx="25">
                  <c:v>-5</c:v>
                </c:pt>
                <c:pt idx="26">
                  <c:v>-4</c:v>
                </c:pt>
                <c:pt idx="27">
                  <c:v>-3</c:v>
                </c:pt>
                <c:pt idx="28">
                  <c:v>-2</c:v>
                </c:pt>
                <c:pt idx="29">
                  <c:v>-1</c:v>
                </c:pt>
                <c:pt idx="30">
                  <c:v>0</c:v>
                </c:pt>
                <c:pt idx="31">
                  <c:v>1</c:v>
                </c:pt>
                <c:pt idx="32">
                  <c:v>2</c:v>
                </c:pt>
                <c:pt idx="33">
                  <c:v>3</c:v>
                </c:pt>
                <c:pt idx="34">
                  <c:v>4</c:v>
                </c:pt>
                <c:pt idx="35">
                  <c:v>5</c:v>
                </c:pt>
                <c:pt idx="36">
                  <c:v>6</c:v>
                </c:pt>
                <c:pt idx="37">
                  <c:v>7</c:v>
                </c:pt>
                <c:pt idx="38">
                  <c:v>8</c:v>
                </c:pt>
                <c:pt idx="39">
                  <c:v>9</c:v>
                </c:pt>
                <c:pt idx="40">
                  <c:v>10</c:v>
                </c:pt>
                <c:pt idx="41">
                  <c:v>11</c:v>
                </c:pt>
                <c:pt idx="42">
                  <c:v>12</c:v>
                </c:pt>
                <c:pt idx="43">
                  <c:v>13</c:v>
                </c:pt>
                <c:pt idx="44">
                  <c:v>14</c:v>
                </c:pt>
                <c:pt idx="45">
                  <c:v>15</c:v>
                </c:pt>
                <c:pt idx="46">
                  <c:v>16</c:v>
                </c:pt>
                <c:pt idx="47">
                  <c:v>17</c:v>
                </c:pt>
                <c:pt idx="48">
                  <c:v>18</c:v>
                </c:pt>
                <c:pt idx="49">
                  <c:v>19</c:v>
                </c:pt>
                <c:pt idx="50">
                  <c:v>20</c:v>
                </c:pt>
                <c:pt idx="51">
                  <c:v>21</c:v>
                </c:pt>
                <c:pt idx="52">
                  <c:v>22</c:v>
                </c:pt>
                <c:pt idx="53">
                  <c:v>23</c:v>
                </c:pt>
                <c:pt idx="54">
                  <c:v>24</c:v>
                </c:pt>
                <c:pt idx="55">
                  <c:v>25</c:v>
                </c:pt>
                <c:pt idx="56">
                  <c:v>26</c:v>
                </c:pt>
                <c:pt idx="57">
                  <c:v>27</c:v>
                </c:pt>
                <c:pt idx="58">
                  <c:v>28</c:v>
                </c:pt>
                <c:pt idx="59">
                  <c:v>29</c:v>
                </c:pt>
                <c:pt idx="60">
                  <c:v>30</c:v>
                </c:pt>
              </c:numCache>
            </c:numRef>
          </c:cat>
          <c:val>
            <c:numRef>
              <c:f>'Chart Data'!$D$2:$D$62</c:f>
              <c:numCache>
                <c:formatCode>0.0</c:formatCode>
                <c:ptCount val="61"/>
                <c:pt idx="0">
                  <c:v>0.11066666666667</c:v>
                </c:pt>
                <c:pt idx="1">
                  <c:v>0.11133333333333</c:v>
                </c:pt>
                <c:pt idx="2">
                  <c:v>0.112</c:v>
                </c:pt>
                <c:pt idx="3">
                  <c:v>0.13466666666667</c:v>
                </c:pt>
                <c:pt idx="4">
                  <c:v>0.13466666666667</c:v>
                </c:pt>
                <c:pt idx="5">
                  <c:v>0.13466666666667</c:v>
                </c:pt>
                <c:pt idx="6">
                  <c:v>0.13466666666667</c:v>
                </c:pt>
                <c:pt idx="7">
                  <c:v>0.112</c:v>
                </c:pt>
                <c:pt idx="8">
                  <c:v>0.112</c:v>
                </c:pt>
                <c:pt idx="9">
                  <c:v>0.11266666666667</c:v>
                </c:pt>
                <c:pt idx="10">
                  <c:v>0.136</c:v>
                </c:pt>
                <c:pt idx="11">
                  <c:v>0.136</c:v>
                </c:pt>
                <c:pt idx="12">
                  <c:v>0.11333333333333</c:v>
                </c:pt>
                <c:pt idx="13">
                  <c:v>0.11266666666667</c:v>
                </c:pt>
                <c:pt idx="14">
                  <c:v>0.11333333333333</c:v>
                </c:pt>
                <c:pt idx="15">
                  <c:v>0.13533333333333</c:v>
                </c:pt>
                <c:pt idx="16">
                  <c:v>0.13533333333333</c:v>
                </c:pt>
                <c:pt idx="17">
                  <c:v>0.17866666666667</c:v>
                </c:pt>
                <c:pt idx="18">
                  <c:v>0.2</c:v>
                </c:pt>
                <c:pt idx="19">
                  <c:v>0.24333333333333</c:v>
                </c:pt>
                <c:pt idx="20">
                  <c:v>0.22133333333333</c:v>
                </c:pt>
                <c:pt idx="21">
                  <c:v>0.2</c:v>
                </c:pt>
                <c:pt idx="22">
                  <c:v>0.134</c:v>
                </c:pt>
                <c:pt idx="23">
                  <c:v>0.112</c:v>
                </c:pt>
                <c:pt idx="24">
                  <c:v>0.11133333333333</c:v>
                </c:pt>
                <c:pt idx="25">
                  <c:v>0.134</c:v>
                </c:pt>
                <c:pt idx="26">
                  <c:v>0.11133333333333</c:v>
                </c:pt>
                <c:pt idx="27">
                  <c:v>0.112</c:v>
                </c:pt>
                <c:pt idx="28">
                  <c:v>0.11133333333333</c:v>
                </c:pt>
                <c:pt idx="29">
                  <c:v>0.13333333333333</c:v>
                </c:pt>
                <c:pt idx="30">
                  <c:v>0.87</c:v>
                </c:pt>
                <c:pt idx="31">
                  <c:v>0.87066666666667</c:v>
                </c:pt>
                <c:pt idx="32">
                  <c:v>0.84866666666667</c:v>
                </c:pt>
                <c:pt idx="33">
                  <c:v>0.112</c:v>
                </c:pt>
                <c:pt idx="34">
                  <c:v>0.089333333333333</c:v>
                </c:pt>
                <c:pt idx="35">
                  <c:v>0.11133333333333</c:v>
                </c:pt>
                <c:pt idx="36">
                  <c:v>0.11133333333333</c:v>
                </c:pt>
                <c:pt idx="37">
                  <c:v>0.13333333333333</c:v>
                </c:pt>
                <c:pt idx="38">
                  <c:v>0.13333333333333</c:v>
                </c:pt>
                <c:pt idx="39">
                  <c:v>0.13333333333333</c:v>
                </c:pt>
                <c:pt idx="40">
                  <c:v>0.134</c:v>
                </c:pt>
                <c:pt idx="41">
                  <c:v>0.134</c:v>
                </c:pt>
                <c:pt idx="42">
                  <c:v>0.134</c:v>
                </c:pt>
                <c:pt idx="43">
                  <c:v>0.11133333333333</c:v>
                </c:pt>
                <c:pt idx="44">
                  <c:v>0.17666666666667</c:v>
                </c:pt>
                <c:pt idx="45">
                  <c:v>0.176</c:v>
                </c:pt>
                <c:pt idx="46">
                  <c:v>0.176</c:v>
                </c:pt>
                <c:pt idx="47">
                  <c:v>0.11133333333333</c:v>
                </c:pt>
                <c:pt idx="48">
                  <c:v>0.112</c:v>
                </c:pt>
                <c:pt idx="49">
                  <c:v>0.134</c:v>
                </c:pt>
                <c:pt idx="50">
                  <c:v>0.11133333333333</c:v>
                </c:pt>
                <c:pt idx="51">
                  <c:v>0.11133333333333</c:v>
                </c:pt>
                <c:pt idx="52">
                  <c:v>0.11266666666667</c:v>
                </c:pt>
                <c:pt idx="53">
                  <c:v>0.13466666666667</c:v>
                </c:pt>
                <c:pt idx="54">
                  <c:v>0.13466666666667</c:v>
                </c:pt>
                <c:pt idx="55">
                  <c:v>0.11133333333333</c:v>
                </c:pt>
                <c:pt idx="56">
                  <c:v>0.11133333333333</c:v>
                </c:pt>
                <c:pt idx="57">
                  <c:v>0.088666666666667</c:v>
                </c:pt>
                <c:pt idx="58">
                  <c:v>0.11133333333333</c:v>
                </c:pt>
                <c:pt idx="59">
                  <c:v>0.11133333333333</c:v>
                </c:pt>
                <c:pt idx="60">
                  <c:v>0.11133333333333</c:v>
                </c:pt>
              </c:numCache>
            </c:numRef>
          </c:val>
        </c:ser>
        <c:axId val="48650112"/>
        <c:axId val="48672768"/>
      </c:lineChart>
      <c:catAx>
        <c:axId val="48650112"/>
        <c:scaling>
          <c:orientation val="minMax"/>
        </c:scaling>
        <c:delete val="0"/>
        <c:axPos val="b"/>
        <c:title>
          <c:tx>
            <c:rich>
              <ns1:bodyPr/>
              <ns1:lstStyle/>
              <ns1:p>
                <ns1:r>
                  <ns1:t>Readings relative to alert</ns1:t>
                </ns1:r>
              </ns1:p>
            </c:rich>
          </c:tx>
          <c:overlay val="0"/>
        </c:title>
        <c:numFmt formatCode="General"/>
        <c:majorTickMark val="none"/>
        <c:minorTickMark val="none"/>
        <c:tickLblSkip val="15"/>
        <c:spPr>
          <ns1:ln w="9525">
            <ns1:solidFill>
              <ns1:srgbClr val="D4D4D4"/>
            </ns1:solidFill>
            <ns1:prstDash val="solid"/>
          </ns1:ln>
        </c:spPr>
        <c:txPr>
          <ns1:bodyPr anchorCtr="1"/>
          <ns1:lstStyle/>
          <ns1:p>
            <ns1:pPr>
              <ns1:defRPr sz="900">
                <ns1:solidFill>
                  <ns1:srgbClr val="536775"/>
                </ns1:solidFill>
              </ns1:defRPr>
            </ns1:pPr>
          </ns1:p>
        </c:txPr>
        <c:crossAx val="48672768"/>
      </c:catAx>
      <c:valAx>
        <c:axId val="48672768"/>
        <c:scaling>
          <c:orientation val="minMax"/>
        </c:scaling>
        <c:delete val="0"/>
        <c:axPos val="l"/>
        <c:majorGridlines>
          <c:spPr>
            <ns1:ln w="9525">
              <ns1:solidFill>
                <ns1:srgbClr val="D7E2E7"/>
              </ns1:solidFill>
            </ns1:ln>
          </c:spPr>
        </c:majorGridlines>
        <c:numFmt formatCode="0.0"/>
        <c:majorTickMark val="none"/>
        <c:minorTickMark val="none"/>
        <c:spPr>
          <ns1:ln w="9525">
            <ns1:solidFill>
              <ns1:srgbClr val="D4D4D4"/>
            </ns1:solidFill>
            <ns1:prstDash val="solid"/>
          </ns1:ln>
        </c:spPr>
        <c:txPr>
          <ns1:bodyPr anchorCtr="1"/>
          <ns1:lstStyle/>
          <ns1:p>
            <ns1:pPr>
              <ns1:defRPr sz="975">
                <ns1:solidFill>
                  <ns1:srgbClr val="536775"/>
                </ns1:solidFill>
              </ns1:defRPr>
            </ns1:pPr>
          </ns1:p>
        </c:txPr>
        <c:crossAx val="48650112"/>
        <c:crossBetween val="between"/>
      </c:valAx>
    </c:plotArea>
    <c:legend>
      <c:legendPos val="b"/>
      <c:overlay val="0"/>
      <c:txPr>
        <ns1:bodyPr anchorCtr="1"/>
        <ns1:lstStyle/>
        <ns1:p>
          <ns1:pPr>
            <ns1:defRPr sz="975">
              <ns1:solidFill>
                <ns1:srgbClr val="536775"/>
              </ns1:solidFill>
            </ns1:defRPr>
          </ns1:pPr>
        </ns1:p>
      </c:txPr>
    </c:legend>
    <c:plotVisOnly val="1"/>
  </c:chart>
  <c:externalData r:id="rIdChartSnapshot1">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plotArea>
      <c:lineChart>
        <c:grouping val="standard"/>
        <c:varyColors val="0"/>
        <c:ser>
          <c:idx val="0"/>
          <c:order val="0"/>
          <c:tx>
            <c:v>Observed</c:v>
          </c:tx>
          <c:spPr>
            <ns1:ln w="19050">
              <ns1:solidFill>
                <ns1:srgbClr val="142D40"/>
              </ns1:solidFill>
            </ns1:ln>
          </c:spPr>
          <c:marker>
            <c:symbol val="none"/>
          </c:marker>
          <c:cat>
            <c:numRef>
              <c:f>'Chart Data'!$A$2:$A$62</c:f>
              <c:numCache>
                <c:formatCode>General</c:formatCode>
                <c:ptCount val="61"/>
                <c:pt idx="0">
                  <c:v>-30</c:v>
                </c:pt>
                <c:pt idx="1">
                  <c:v>-29</c:v>
                </c:pt>
                <c:pt idx="2">
                  <c:v>-28</c:v>
                </c:pt>
                <c:pt idx="3">
                  <c:v>-27</c:v>
                </c:pt>
                <c:pt idx="4">
                  <c:v>-26</c:v>
                </c:pt>
                <c:pt idx="5">
                  <c:v>-25</c:v>
                </c:pt>
                <c:pt idx="6">
                  <c:v>-24</c:v>
                </c:pt>
                <c:pt idx="7">
                  <c:v>-23</c:v>
                </c:pt>
                <c:pt idx="8">
                  <c:v>-22</c:v>
                </c:pt>
                <c:pt idx="9">
                  <c:v>-21</c:v>
                </c:pt>
                <c:pt idx="10">
                  <c:v>-20</c:v>
                </c:pt>
                <c:pt idx="11">
                  <c:v>-19</c:v>
                </c:pt>
                <c:pt idx="12">
                  <c:v>-18</c:v>
                </c:pt>
                <c:pt idx="13">
                  <c:v>-17</c:v>
                </c:pt>
                <c:pt idx="14">
                  <c:v>-16</c:v>
                </c:pt>
                <c:pt idx="15">
                  <c:v>-15</c:v>
                </c:pt>
                <c:pt idx="16">
                  <c:v>-14</c:v>
                </c:pt>
                <c:pt idx="17">
                  <c:v>-13</c:v>
                </c:pt>
                <c:pt idx="18">
                  <c:v>-12</c:v>
                </c:pt>
                <c:pt idx="19">
                  <c:v>-11</c:v>
                </c:pt>
                <c:pt idx="20">
                  <c:v>-10</c:v>
                </c:pt>
                <c:pt idx="21">
                  <c:v>-9</c:v>
                </c:pt>
                <c:pt idx="22">
                  <c:v>-8</c:v>
                </c:pt>
                <c:pt idx="23">
                  <c:v>-7</c:v>
                </c:pt>
                <c:pt idx="24">
                  <c:v>-6</c:v>
                </c:pt>
                <c:pt idx="25">
                  <c:v>-5</c:v>
                </c:pt>
                <c:pt idx="26">
                  <c:v>-4</c:v>
                </c:pt>
                <c:pt idx="27">
                  <c:v>-3</c:v>
                </c:pt>
                <c:pt idx="28">
                  <c:v>-2</c:v>
                </c:pt>
                <c:pt idx="29">
                  <c:v>-1</c:v>
                </c:pt>
                <c:pt idx="30">
                  <c:v>0</c:v>
                </c:pt>
                <c:pt idx="31">
                  <c:v>1</c:v>
                </c:pt>
                <c:pt idx="32">
                  <c:v>2</c:v>
                </c:pt>
                <c:pt idx="33">
                  <c:v>3</c:v>
                </c:pt>
                <c:pt idx="34">
                  <c:v>4</c:v>
                </c:pt>
                <c:pt idx="35">
                  <c:v>5</c:v>
                </c:pt>
                <c:pt idx="36">
                  <c:v>6</c:v>
                </c:pt>
                <c:pt idx="37">
                  <c:v>7</c:v>
                </c:pt>
                <c:pt idx="38">
                  <c:v>8</c:v>
                </c:pt>
                <c:pt idx="39">
                  <c:v>9</c:v>
                </c:pt>
                <c:pt idx="40">
                  <c:v>10</c:v>
                </c:pt>
                <c:pt idx="41">
                  <c:v>11</c:v>
                </c:pt>
                <c:pt idx="42">
                  <c:v>12</c:v>
                </c:pt>
                <c:pt idx="43">
                  <c:v>13</c:v>
                </c:pt>
                <c:pt idx="44">
                  <c:v>14</c:v>
                </c:pt>
                <c:pt idx="45">
                  <c:v>15</c:v>
                </c:pt>
                <c:pt idx="46">
                  <c:v>16</c:v>
                </c:pt>
                <c:pt idx="47">
                  <c:v>17</c:v>
                </c:pt>
                <c:pt idx="48">
                  <c:v>18</c:v>
                </c:pt>
                <c:pt idx="49">
                  <c:v>19</c:v>
                </c:pt>
                <c:pt idx="50">
                  <c:v>20</c:v>
                </c:pt>
                <c:pt idx="51">
                  <c:v>21</c:v>
                </c:pt>
                <c:pt idx="52">
                  <c:v>22</c:v>
                </c:pt>
                <c:pt idx="53">
                  <c:v>23</c:v>
                </c:pt>
                <c:pt idx="54">
                  <c:v>24</c:v>
                </c:pt>
                <c:pt idx="55">
                  <c:v>25</c:v>
                </c:pt>
                <c:pt idx="56">
                  <c:v>26</c:v>
                </c:pt>
                <c:pt idx="57">
                  <c:v>27</c:v>
                </c:pt>
                <c:pt idx="58">
                  <c:v>28</c:v>
                </c:pt>
                <c:pt idx="59">
                  <c:v>29</c:v>
                </c:pt>
                <c:pt idx="60">
                  <c:v>30</c:v>
                </c:pt>
              </c:numCache>
            </c:numRef>
          </c:cat>
          <c:val>
            <c:numRef>
              <c:f>'Chart Data'!$B$2:$B$62</c:f>
              <c:numCache>
                <c:formatCode>0.0</c:formatCode>
                <c:ptCount val="61"/>
                <c:pt idx="0">
                  <c:v>59.910092</c:v>
                </c:pt>
                <c:pt idx="1">
                  <c:v>60.32414667</c:v>
                </c:pt>
                <c:pt idx="2">
                  <c:v>61.24486641</c:v>
                </c:pt>
                <c:pt idx="3">
                  <c:v>59.66938197</c:v>
                </c:pt>
                <c:pt idx="4">
                  <c:v>61.12053222</c:v>
                </c:pt>
                <c:pt idx="5">
                  <c:v>61.88004071</c:v>
                </c:pt>
                <c:pt idx="6">
                  <c:v>60.49012871</c:v>
                </c:pt>
                <c:pt idx="7">
                  <c:v>61.00233827</c:v>
                </c:pt>
                <c:pt idx="8">
                  <c:v>61.7659068</c:v>
                </c:pt>
                <c:pt idx="9">
                  <c:v>60.26541206</c:v>
                </c:pt>
                <c:pt idx="10">
                  <c:v>60.71115886</c:v>
                </c:pt>
                <c:pt idx="11">
                  <c:v>60.52159375</c:v>
                </c:pt>
                <c:pt idx="12">
                  <c:v>61.72193037</c:v>
                </c:pt>
                <c:pt idx="13">
                  <c:v>60.84591691</c:v>
                </c:pt>
                <c:pt idx="14">
                  <c:v>60.77650542</c:v>
                </c:pt>
                <c:pt idx="15">
                  <c:v>60.2969507</c:v>
                </c:pt>
                <c:pt idx="16">
                  <c:v>60.50295653</c:v>
                </c:pt>
                <c:pt idx="17">
                  <c:v>60.86537483</c:v>
                </c:pt>
                <c:pt idx="18">
                  <c:v>60.31204125</c:v>
                </c:pt>
                <c:pt idx="19">
                  <c:v>59.84361371</c:v>
                </c:pt>
                <c:pt idx="20">
                  <c:v>60.93695396</c:v>
                </c:pt>
                <c:pt idx="21">
                  <c:v>61.29175138</c:v>
                </c:pt>
                <c:pt idx="22">
                  <c:v>61.35624139</c:v>
                </c:pt>
                <c:pt idx="23">
                  <c:v>62.51476508</c:v>
                </c:pt>
                <c:pt idx="24">
                  <c:v>62.43283694</c:v>
                </c:pt>
                <c:pt idx="25">
                  <c:v>64.91681271</c:v>
                </c:pt>
                <c:pt idx="26">
                  <c:v>65.39698618</c:v>
                </c:pt>
                <c:pt idx="27">
                  <c:v>65.915587</c:v>
                </c:pt>
                <c:pt idx="28">
                  <c:v>67.29050932</c:v>
                </c:pt>
                <c:pt idx="29">
                  <c:v>68.45738752</c:v>
                </c:pt>
                <c:pt idx="30">
                  <c:v>70.07377229</c:v>
                </c:pt>
                <c:pt idx="31">
                  <c:v>69.70332453</c:v>
                </c:pt>
                <c:pt idx="32">
                  <c:v>69.7202728</c:v>
                </c:pt>
                <c:pt idx="33">
                  <c:v>69.40144364</c:v>
                </c:pt>
                <c:pt idx="34">
                  <c:v>68.60855551</c:v>
                </c:pt>
                <c:pt idx="35">
                  <c:v>68.59433384</c:v>
                </c:pt>
                <c:pt idx="36">
                  <c:v>67.36680577</c:v>
                </c:pt>
                <c:pt idx="37">
                  <c:v>67.03274551</c:v>
                </c:pt>
                <c:pt idx="38">
                  <c:v>67.24095409</c:v>
                </c:pt>
                <c:pt idx="39">
                  <c:v>65.7964252</c:v>
                </c:pt>
                <c:pt idx="40">
                  <c:v>64.99226274</c:v>
                </c:pt>
                <c:pt idx="41">
                  <c:v>64.49559793</c:v>
                </c:pt>
                <c:pt idx="42">
                  <c:v>65.11700189</c:v>
                </c:pt>
                <c:pt idx="43">
                  <c:v>64.3213603</c:v>
                </c:pt>
                <c:pt idx="44">
                  <c:v>63.60761024</c:v>
                </c:pt>
                <c:pt idx="45">
                  <c:v>64.31240029</c:v>
                </c:pt>
                <c:pt idx="46">
                  <c:v>63.6046907</c:v>
                </c:pt>
                <c:pt idx="47">
                  <c:v>64.44609818</c:v>
                </c:pt>
                <c:pt idx="48">
                  <c:v>65.51557705</c:v>
                </c:pt>
                <c:pt idx="49">
                  <c:v>66.98431814</c:v>
                </c:pt>
                <c:pt idx="50">
                  <c:v>67.61193771</c:v>
                </c:pt>
                <c:pt idx="51">
                  <c:v>69.98132266</c:v>
                </c:pt>
                <c:pt idx="52">
                  <c:v>70.67558021</c:v>
                </c:pt>
                <c:pt idx="53">
                  <c:v>69.62883752</c:v>
                </c:pt>
                <c:pt idx="54">
                  <c:v>69.69713146</c:v>
                </c:pt>
                <c:pt idx="55">
                  <c:v>69.91198782</c:v>
                </c:pt>
                <c:pt idx="56">
                  <c:v>70.55887454</c:v>
                </c:pt>
                <c:pt idx="57">
                  <c:v>70.51507392</c:v>
                </c:pt>
                <c:pt idx="58">
                  <c:v>69.61686927</c:v>
                </c:pt>
                <c:pt idx="59">
                  <c:v>69.95093901</c:v>
                </c:pt>
                <c:pt idx="60">
                  <c:v>68.91740485</c:v>
                </c:pt>
              </c:numCache>
            </c:numRef>
          </c:val>
        </c:ser>
        <c:ser>
          <c:idx val="1"/>
          <c:order val="1"/>
          <c:tx>
            <c:v>Expected</c:v>
          </c:tx>
          <c:spPr>
            <ns1:ln w="19050">
              <ns1:solidFill>
                <ns1:srgbClr val="067C75"/>
              </ns1:solidFill>
            </ns1:ln>
          </c:spPr>
          <c:marker>
            <c:symbol val="none"/>
          </c:marker>
          <c:cat>
            <c:numRef>
              <c:f>'Chart Data'!$C$2:$C$62</c:f>
              <c:numCache>
                <c:formatCode>General</c:formatCode>
                <c:ptCount val="61"/>
                <c:pt idx="0">
                  <c:v>-30</c:v>
                </c:pt>
                <c:pt idx="1">
                  <c:v>-29</c:v>
                </c:pt>
                <c:pt idx="2">
                  <c:v>-28</c:v>
                </c:pt>
                <c:pt idx="3">
                  <c:v>-27</c:v>
                </c:pt>
                <c:pt idx="4">
                  <c:v>-26</c:v>
                </c:pt>
                <c:pt idx="5">
                  <c:v>-25</c:v>
                </c:pt>
                <c:pt idx="6">
                  <c:v>-24</c:v>
                </c:pt>
                <c:pt idx="7">
                  <c:v>-23</c:v>
                </c:pt>
                <c:pt idx="8">
                  <c:v>-22</c:v>
                </c:pt>
                <c:pt idx="9">
                  <c:v>-21</c:v>
                </c:pt>
                <c:pt idx="10">
                  <c:v>-20</c:v>
                </c:pt>
                <c:pt idx="11">
                  <c:v>-19</c:v>
                </c:pt>
                <c:pt idx="12">
                  <c:v>-18</c:v>
                </c:pt>
                <c:pt idx="13">
                  <c:v>-17</c:v>
                </c:pt>
                <c:pt idx="14">
                  <c:v>-16</c:v>
                </c:pt>
                <c:pt idx="15">
                  <c:v>-15</c:v>
                </c:pt>
                <c:pt idx="16">
                  <c:v>-14</c:v>
                </c:pt>
                <c:pt idx="17">
                  <c:v>-13</c:v>
                </c:pt>
                <c:pt idx="18">
                  <c:v>-12</c:v>
                </c:pt>
                <c:pt idx="19">
                  <c:v>-11</c:v>
                </c:pt>
                <c:pt idx="20">
                  <c:v>-10</c:v>
                </c:pt>
                <c:pt idx="21">
                  <c:v>-9</c:v>
                </c:pt>
                <c:pt idx="22">
                  <c:v>-8</c:v>
                </c:pt>
                <c:pt idx="23">
                  <c:v>-7</c:v>
                </c:pt>
                <c:pt idx="24">
                  <c:v>-6</c:v>
                </c:pt>
                <c:pt idx="25">
                  <c:v>-5</c:v>
                </c:pt>
                <c:pt idx="26">
                  <c:v>-4</c:v>
                </c:pt>
                <c:pt idx="27">
                  <c:v>-3</c:v>
                </c:pt>
                <c:pt idx="28">
                  <c:v>-2</c:v>
                </c:pt>
                <c:pt idx="29">
                  <c:v>-1</c:v>
                </c:pt>
                <c:pt idx="30">
                  <c:v>0</c:v>
                </c:pt>
                <c:pt idx="31">
                  <c:v>1</c:v>
                </c:pt>
                <c:pt idx="32">
                  <c:v>2</c:v>
                </c:pt>
                <c:pt idx="33">
                  <c:v>3</c:v>
                </c:pt>
                <c:pt idx="34">
                  <c:v>4</c:v>
                </c:pt>
                <c:pt idx="35">
                  <c:v>5</c:v>
                </c:pt>
                <c:pt idx="36">
                  <c:v>6</c:v>
                </c:pt>
                <c:pt idx="37">
                  <c:v>7</c:v>
                </c:pt>
                <c:pt idx="38">
                  <c:v>8</c:v>
                </c:pt>
                <c:pt idx="39">
                  <c:v>9</c:v>
                </c:pt>
                <c:pt idx="40">
                  <c:v>10</c:v>
                </c:pt>
                <c:pt idx="41">
                  <c:v>11</c:v>
                </c:pt>
                <c:pt idx="42">
                  <c:v>12</c:v>
                </c:pt>
                <c:pt idx="43">
                  <c:v>13</c:v>
                </c:pt>
                <c:pt idx="44">
                  <c:v>14</c:v>
                </c:pt>
                <c:pt idx="45">
                  <c:v>15</c:v>
                </c:pt>
                <c:pt idx="46">
                  <c:v>16</c:v>
                </c:pt>
                <c:pt idx="47">
                  <c:v>17</c:v>
                </c:pt>
                <c:pt idx="48">
                  <c:v>18</c:v>
                </c:pt>
                <c:pt idx="49">
                  <c:v>19</c:v>
                </c:pt>
                <c:pt idx="50">
                  <c:v>20</c:v>
                </c:pt>
                <c:pt idx="51">
                  <c:v>21</c:v>
                </c:pt>
                <c:pt idx="52">
                  <c:v>22</c:v>
                </c:pt>
                <c:pt idx="53">
                  <c:v>23</c:v>
                </c:pt>
                <c:pt idx="54">
                  <c:v>24</c:v>
                </c:pt>
                <c:pt idx="55">
                  <c:v>25</c:v>
                </c:pt>
                <c:pt idx="56">
                  <c:v>26</c:v>
                </c:pt>
                <c:pt idx="57">
                  <c:v>27</c:v>
                </c:pt>
                <c:pt idx="58">
                  <c:v>28</c:v>
                </c:pt>
                <c:pt idx="59">
                  <c:v>29</c:v>
                </c:pt>
                <c:pt idx="60">
                  <c:v>30</c:v>
                </c:pt>
              </c:numCache>
            </c:numRef>
          </c:cat>
          <c:val>
            <c:numRef>
              <c:f>'Chart Data'!$D$2:$D$62</c:f>
              <c:numCache>
                <c:formatCode>0.0</c:formatCode>
                <c:ptCount val="61"/>
                <c:pt idx="0">
                  <c:v>63.565077058186</c:v>
                </c:pt>
                <c:pt idx="1">
                  <c:v>62.508930476943</c:v>
                </c:pt>
                <c:pt idx="2">
                  <c:v>62.562346243252</c:v>
                </c:pt>
                <c:pt idx="3">
                  <c:v>62.385456799076</c:v>
                </c:pt>
                <c:pt idx="4">
                  <c:v>62.44204069487</c:v>
                </c:pt>
                <c:pt idx="5">
                  <c:v>62.797305837767</c:v>
                </c:pt>
                <c:pt idx="6">
                  <c:v>62.778511560528</c:v>
                </c:pt>
                <c:pt idx="7">
                  <c:v>62.883487019249</c:v>
                </c:pt>
                <c:pt idx="8">
                  <c:v>62.459693304794</c:v>
                </c:pt>
                <c:pt idx="9">
                  <c:v>62.823565378262</c:v>
                </c:pt>
                <c:pt idx="10">
                  <c:v>63.517131535574</c:v>
                </c:pt>
                <c:pt idx="11">
                  <c:v>62.791971010055</c:v>
                </c:pt>
                <c:pt idx="12">
                  <c:v>62.87422257435</c:v>
                </c:pt>
                <c:pt idx="13">
                  <c:v>63.474526678342</c:v>
                </c:pt>
                <c:pt idx="14">
                  <c:v>62.672683946634</c:v>
                </c:pt>
                <c:pt idx="15">
                  <c:v>62.333080628747</c:v>
                </c:pt>
                <c:pt idx="16">
                  <c:v>62.143766870788</c:v>
                </c:pt>
                <c:pt idx="17">
                  <c:v>61.17545006985</c:v>
                </c:pt>
                <c:pt idx="18">
                  <c:v>60.873489258783</c:v>
                </c:pt>
                <c:pt idx="19">
                  <c:v>60.479335418271</c:v>
                </c:pt>
                <c:pt idx="20">
                  <c:v>60.926533103805</c:v>
                </c:pt>
                <c:pt idx="21">
                  <c:v>60.628814240408</c:v>
                </c:pt>
                <c:pt idx="22">
                  <c:v>60.622374098894</c:v>
                </c:pt>
                <c:pt idx="23">
                  <c:v>60.499402213463</c:v>
                </c:pt>
                <c:pt idx="24">
                  <c:v>60.664593869491</c:v>
                </c:pt>
                <c:pt idx="25">
                  <c:v>60.700356020689</c:v>
                </c:pt>
                <c:pt idx="26">
                  <c:v>61.020176227158</c:v>
                </c:pt>
                <c:pt idx="27">
                  <c:v>60.933151098331</c:v>
                </c:pt>
                <c:pt idx="28">
                  <c:v>61.351316276351</c:v>
                </c:pt>
                <c:pt idx="29">
                  <c:v>62.237927099212</c:v>
                </c:pt>
                <c:pt idx="30">
                  <c:v>62.709976515707</c:v>
                </c:pt>
                <c:pt idx="31">
                  <c:v>63.429050416778</c:v>
                </c:pt>
                <c:pt idx="32">
                  <c:v>63.631729481432</c:v>
                </c:pt>
                <c:pt idx="33">
                  <c:v>64.777440058248</c:v>
                </c:pt>
                <c:pt idx="34">
                  <c:v>65.622930758019</c:v>
                </c:pt>
                <c:pt idx="35">
                  <c:v>65.686914851933</c:v>
                </c:pt>
                <c:pt idx="36">
                  <c:v>66.285304745343</c:v>
                </c:pt>
                <c:pt idx="37">
                  <c:v>67.125896850122</c:v>
                </c:pt>
                <c:pt idx="38">
                  <c:v>67.873270930217</c:v>
                </c:pt>
                <c:pt idx="39">
                  <c:v>67.73860216158</c:v>
                </c:pt>
                <c:pt idx="40">
                  <c:v>67.617568947345</c:v>
                </c:pt>
                <c:pt idx="41">
                  <c:v>66.879959381612</c:v>
                </c:pt>
                <c:pt idx="42">
                  <c:v>65.996073024166</c:v>
                </c:pt>
                <c:pt idx="43">
                  <c:v>65.475072378007</c:v>
                </c:pt>
                <c:pt idx="44">
                  <c:v>65.204300651399</c:v>
                </c:pt>
                <c:pt idx="45">
                  <c:v>65.260866663504</c:v>
                </c:pt>
                <c:pt idx="46">
                  <c:v>65.839018283899</c:v>
                </c:pt>
                <c:pt idx="47">
                  <c:v>65.94318185065</c:v>
                </c:pt>
                <c:pt idx="48">
                  <c:v>66.106422761467</c:v>
                </c:pt>
                <c:pt idx="49">
                  <c:v>66.686221455721</c:v>
                </c:pt>
                <c:pt idx="50">
                  <c:v>67.886449891174</c:v>
                </c:pt>
                <c:pt idx="51">
                  <c:v>68.273454826328</c:v>
                </c:pt>
                <c:pt idx="52">
                  <c:v>68.455150098738</c:v>
                </c:pt>
                <c:pt idx="53">
                  <c:v>69.094647527905</c:v>
                </c:pt>
                <c:pt idx="54">
                  <c:v>68.964634332184</c:v>
                </c:pt>
                <c:pt idx="55">
                  <c:v>69.205203801266</c:v>
                </c:pt>
                <c:pt idx="56">
                  <c:v>69.3258721402</c:v>
                </c:pt>
                <c:pt idx="57">
                  <c:v>70.093038952255</c:v>
                </c:pt>
                <c:pt idx="58">
                  <c:v>70.081005754801</c:v>
                </c:pt>
                <c:pt idx="59">
                  <c:v>70.46978110496</c:v>
                </c:pt>
                <c:pt idx="60">
                  <c:v>70.432196759107</c:v>
                </c:pt>
              </c:numCache>
            </c:numRef>
          </c:val>
        </c:ser>
        <c:axId val="48650112"/>
        <c:axId val="48672768"/>
      </c:lineChart>
      <c:catAx>
        <c:axId val="48650112"/>
        <c:scaling>
          <c:orientation val="minMax"/>
        </c:scaling>
        <c:delete val="0"/>
        <c:axPos val="b"/>
        <c:title>
          <c:tx>
            <c:rich>
              <ns1:bodyPr/>
              <ns1:lstStyle/>
              <ns1:p>
                <ns1:r>
                  <ns1:t>Readings relative to alert</ns1:t>
                </ns1:r>
              </ns1:p>
            </c:rich>
          </c:tx>
          <c:overlay val="0"/>
        </c:title>
        <c:numFmt formatCode="General"/>
        <c:majorTickMark val="none"/>
        <c:minorTickMark val="none"/>
        <c:tickLblSkip val="15"/>
        <c:spPr>
          <ns1:ln w="9525">
            <ns1:solidFill>
              <ns1:srgbClr val="D4D4D4"/>
            </ns1:solidFill>
            <ns1:prstDash val="solid"/>
          </ns1:ln>
        </c:spPr>
        <c:txPr>
          <ns1:bodyPr anchorCtr="1"/>
          <ns1:lstStyle/>
          <ns1:p>
            <ns1:pPr>
              <ns1:defRPr sz="900">
                <ns1:solidFill>
                  <ns1:srgbClr val="536775"/>
                </ns1:solidFill>
              </ns1:defRPr>
            </ns1:pPr>
          </ns1:p>
        </c:txPr>
        <c:crossAx val="48672768"/>
      </c:catAx>
      <c:valAx>
        <c:axId val="48672768"/>
        <c:scaling>
          <c:orientation val="minMax"/>
        </c:scaling>
        <c:delete val="0"/>
        <c:axPos val="l"/>
        <c:majorGridlines>
          <c:spPr>
            <ns1:ln w="9525">
              <ns1:solidFill>
                <ns1:srgbClr val="D7E2E7"/>
              </ns1:solidFill>
            </ns1:ln>
          </c:spPr>
        </c:majorGridlines>
        <c:numFmt formatCode="0.0"/>
        <c:majorTickMark val="none"/>
        <c:minorTickMark val="none"/>
        <c:spPr>
          <ns1:ln w="9525">
            <ns1:solidFill>
              <ns1:srgbClr val="D4D4D4"/>
            </ns1:solidFill>
            <ns1:prstDash val="solid"/>
          </ns1:ln>
        </c:spPr>
        <c:txPr>
          <ns1:bodyPr anchorCtr="1"/>
          <ns1:lstStyle/>
          <ns1:p>
            <ns1:pPr>
              <ns1:defRPr sz="975">
                <ns1:solidFill>
                  <ns1:srgbClr val="536775"/>
                </ns1:solidFill>
              </ns1:defRPr>
            </ns1:pPr>
          </ns1:p>
        </c:txPr>
        <c:crossAx val="48650112"/>
        <c:crossBetween val="between"/>
      </c:valAx>
    </c:plotArea>
    <c:legend>
      <c:legendPos val="b"/>
      <c:overlay val="0"/>
      <c:txPr>
        <ns1:bodyPr anchorCtr="1"/>
        <ns1:lstStyle/>
        <ns1:p>
          <ns1:pPr>
            <ns1:defRPr sz="975">
              <ns1:solidFill>
                <ns1:srgbClr val="536775"/>
              </ns1:solidFill>
            </ns1:defRPr>
          </ns1:pPr>
        </ns1: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1">
            <a:extLst xmlns:a="http://schemas.openxmlformats.org/drawingml/2006/main">
              <a:ext uri="{FF2B5EF4-FFF2-40B4-BE49-F238E27FC236}">
                <a16:creationId xmlns:a16="http://schemas.microsoft.com/office/drawing/2014/main" id="{4880345C-27D4-48DB-81D3-E8DCD22E64E7}"/>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Sentinel</a:t>
            </a:r>
          </a:p>
        </p:txBody>
      </p:sp>
      <p:sp>
        <p:nvSpPr>
          <p:cNvPr id="3" name="shape-2">
            <a:extLst xmlns:a="http://schemas.openxmlformats.org/drawingml/2006/main">
              <a:ext uri="{FF2B5EF4-FFF2-40B4-BE49-F238E27FC236}">
                <a16:creationId xmlns:a16="http://schemas.microsoft.com/office/drawing/2014/main" id="{8A267B65-9EF7-4213-A87F-5FCFD8C26A4F}"/>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4" name="shape-3">
            <a:extLst xmlns:a="http://schemas.openxmlformats.org/drawingml/2006/main">
              <a:ext uri="{FF2B5EF4-FFF2-40B4-BE49-F238E27FC236}">
                <a16:creationId xmlns:a16="http://schemas.microsoft.com/office/drawing/2014/main" id="{31B62082-EEDF-40C3-AA82-8060E6BED843}"/>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5" name="shape-4">
            <a:extLst xmlns:a="http://schemas.openxmlformats.org/drawingml/2006/main">
              <a:ext uri="{FF2B5EF4-FFF2-40B4-BE49-F238E27FC236}">
                <a16:creationId xmlns:a16="http://schemas.microsoft.com/office/drawing/2014/main" id="{B4B2E2FC-BDF2-4E32-BBDA-D73851950E80}"/>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01 / 10</a:t>
            </a:r>
          </a:p>
        </p:txBody>
      </p:sp>
      <p:sp>
        <p:nvSpPr>
          <p:cNvPr id="6" name="shape-5">
            <a:extLst xmlns:a="http://schemas.openxmlformats.org/drawingml/2006/main">
              <a:ext uri="{FF2B5EF4-FFF2-40B4-BE49-F238E27FC236}">
                <a16:creationId xmlns:a16="http://schemas.microsoft.com/office/drawing/2014/main" id="{E833AE1F-E045-46CA-8B54-2634A170F4B3}"/>
              </a:ext>
            </a:extLst>
          </p:cNvPr>
          <p:cNvSpPr>
            <a:spLocks xmlns:a="http://schemas.openxmlformats.org/drawingml/2006/main" noGrp="1"/>
          </p:cNvSpPr>
          <p:nvPr/>
        </p:nvSpPr>
        <p:spPr>
          <a:xfrm xmlns:a="http://schemas.openxmlformats.org/drawingml/2006/main">
            <a:off x="609600" y="1476375"/>
            <a:ext cx="10191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142D40"/>
                </a:solidFill>
                <a:latin typeface="Arial"/>
                <a:ea typeface="Arial"/>
                <a:cs typeface="Arial"/>
              </a:defRPr>
            </a:defPPr>
            <a:lvl1pPr algn="l">
              <a:defRPr sz="3225" b="1">
                <a:solidFill>
                  <a:srgbClr val="142D40"/>
                </a:solidFill>
                <a:latin typeface="Arial"/>
                <a:ea typeface="Arial"/>
                <a:cs typeface="Arial"/>
              </a:defRPr>
            </a:lvl1pPr>
            <a:lvl2pPr algn="l">
              <a:defRPr sz="3225" b="1">
                <a:solidFill>
                  <a:srgbClr val="142D40"/>
                </a:solidFill>
                <a:latin typeface="Arial"/>
                <a:ea typeface="Arial"/>
                <a:cs typeface="Arial"/>
              </a:defRPr>
            </a:lvl2pPr>
            <a:lvl3pPr algn="l">
              <a:defRPr sz="3225" b="1">
                <a:solidFill>
                  <a:srgbClr val="142D40"/>
                </a:solidFill>
                <a:latin typeface="Arial"/>
                <a:ea typeface="Arial"/>
                <a:cs typeface="Arial"/>
              </a:defRPr>
            </a:lvl3pPr>
            <a:lvl4pPr algn="l">
              <a:defRPr sz="3225" b="1">
                <a:solidFill>
                  <a:srgbClr val="142D40"/>
                </a:solidFill>
                <a:latin typeface="Arial"/>
                <a:ea typeface="Arial"/>
                <a:cs typeface="Arial"/>
              </a:defRPr>
            </a:lvl4pPr>
            <a:lvl5pPr algn="l">
              <a:defRPr sz="3225" b="1">
                <a:solidFill>
                  <a:srgbClr val="142D40"/>
                </a:solidFill>
                <a:latin typeface="Arial"/>
                <a:ea typeface="Arial"/>
                <a:cs typeface="Arial"/>
              </a:defRPr>
            </a:lvl5pPr>
            <a:lvl6pPr algn="l">
              <a:defRPr sz="3225" b="1">
                <a:solidFill>
                  <a:srgbClr val="142D40"/>
                </a:solidFill>
                <a:latin typeface="Arial"/>
                <a:ea typeface="Arial"/>
                <a:cs typeface="Arial"/>
              </a:defRPr>
            </a:lvl6pPr>
            <a:lvl7pPr algn="l">
              <a:defRPr sz="3225" b="1">
                <a:solidFill>
                  <a:srgbClr val="142D40"/>
                </a:solidFill>
                <a:latin typeface="Arial"/>
                <a:ea typeface="Arial"/>
                <a:cs typeface="Arial"/>
              </a:defRPr>
            </a:lvl7pPr>
            <a:lvl8pPr algn="l">
              <a:defRPr sz="3225" b="1">
                <a:solidFill>
                  <a:srgbClr val="142D40"/>
                </a:solidFill>
                <a:latin typeface="Arial"/>
                <a:ea typeface="Arial"/>
                <a:cs typeface="Arial"/>
              </a:defRPr>
            </a:lvl8pPr>
            <a:lvl9pPr algn="l">
              <a:defRPr sz="3225" b="1">
                <a:solidFill>
                  <a:srgbClr val="142D40"/>
                </a:solidFill>
                <a:latin typeface="Arial"/>
                <a:ea typeface="Arial"/>
                <a:cs typeface="Arial"/>
              </a:defRPr>
            </a:lvl9pPr>
          </a:lstStyle>
          <a:p xmlns:a="http://schemas.openxmlformats.org/drawingml/2006/main">
            <a:pPr algn="l">
              <a:defRPr sz="3225" b="1">
                <a:solidFill>
                  <a:srgbClr val="142D40"/>
                </a:solidFill>
                <a:latin typeface="Arial"/>
                <a:ea typeface="Arial"/>
                <a:cs typeface="Arial"/>
              </a:defRPr>
            </a:pPr>
            <a:r>
              <a:rPr sz="3225" b="1">
                <a:solidFill>
                  <a:srgbClr val="142D40"/>
                </a:solidFill>
                <a:latin typeface="Arial"/>
                <a:ea typeface="Arial"/>
                <a:cs typeface="Arial"/>
              </a:rPr>
              <a:t>Adaptive time-series anomaly detection</a:t>
            </a:r>
          </a:p>
        </p:txBody>
      </p:sp>
      <p:sp>
        <p:nvSpPr>
          <p:cNvPr id="7" name="shape-6">
            <a:extLst xmlns:a="http://schemas.openxmlformats.org/drawingml/2006/main">
              <a:ext uri="{FF2B5EF4-FFF2-40B4-BE49-F238E27FC236}">
                <a16:creationId xmlns:a16="http://schemas.microsoft.com/office/drawing/2014/main" id="{3EE2289F-DD6C-4B86-B9EE-D61E35D3E9C6}"/>
              </a:ext>
            </a:extLst>
          </p:cNvPr>
          <p:cNvSpPr>
            <a:spLocks xmlns:a="http://schemas.openxmlformats.org/drawingml/2006/main" noGrp="1"/>
          </p:cNvSpPr>
          <p:nvPr/>
        </p:nvSpPr>
        <p:spPr>
          <a:xfrm xmlns:a="http://schemas.openxmlformats.org/drawingml/2006/main">
            <a:off x="609600" y="2524125"/>
            <a:ext cx="895350" cy="57150"/>
          </a:xfrm>
          <a:prstGeom xmlns:a="http://schemas.openxmlformats.org/drawingml/2006/main" prst="rect">
            <a:avLst/>
          </a:prstGeom>
          <a:solidFill xmlns:a="http://schemas.openxmlformats.org/drawingml/2006/main">
            <a:srgbClr val="067C75"/>
          </a:solidFill>
          <a:ln xmlns:a="http://schemas.openxmlformats.org/drawingml/2006/main" w="0">
            <a:noFill/>
            <a:prstDash val="solid"/>
          </a:ln>
        </p:spPr>
      </p:sp>
      <p:sp>
        <p:nvSpPr>
          <p:cNvPr id="8" name="shape-7">
            <a:extLst xmlns:a="http://schemas.openxmlformats.org/drawingml/2006/main">
              <a:ext uri="{FF2B5EF4-FFF2-40B4-BE49-F238E27FC236}">
                <a16:creationId xmlns:a16="http://schemas.microsoft.com/office/drawing/2014/main" id="{7AFC3255-5430-454F-B21B-EC0EDFB75D6B}"/>
              </a:ext>
            </a:extLst>
          </p:cNvPr>
          <p:cNvSpPr>
            <a:spLocks xmlns:a="http://schemas.openxmlformats.org/drawingml/2006/main" noGrp="1"/>
          </p:cNvSpPr>
          <p:nvPr/>
        </p:nvSpPr>
        <p:spPr>
          <a:xfrm xmlns:a="http://schemas.openxmlformats.org/drawingml/2006/main">
            <a:off x="609600" y="2905125"/>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0">
                <a:solidFill>
                  <a:srgbClr val="536775"/>
                </a:solidFill>
                <a:latin typeface="Arial"/>
                <a:ea typeface="Arial"/>
                <a:cs typeface="Arial"/>
              </a:defRPr>
            </a:defPPr>
            <a:lvl1pPr algn="l">
              <a:defRPr sz="2175" b="0">
                <a:solidFill>
                  <a:srgbClr val="536775"/>
                </a:solidFill>
                <a:latin typeface="Arial"/>
                <a:ea typeface="Arial"/>
                <a:cs typeface="Arial"/>
              </a:defRPr>
            </a:lvl1pPr>
            <a:lvl2pPr algn="l">
              <a:defRPr sz="2175" b="0">
                <a:solidFill>
                  <a:srgbClr val="536775"/>
                </a:solidFill>
                <a:latin typeface="Arial"/>
                <a:ea typeface="Arial"/>
                <a:cs typeface="Arial"/>
              </a:defRPr>
            </a:lvl2pPr>
            <a:lvl3pPr algn="l">
              <a:defRPr sz="2175" b="0">
                <a:solidFill>
                  <a:srgbClr val="536775"/>
                </a:solidFill>
                <a:latin typeface="Arial"/>
                <a:ea typeface="Arial"/>
                <a:cs typeface="Arial"/>
              </a:defRPr>
            </a:lvl3pPr>
            <a:lvl4pPr algn="l">
              <a:defRPr sz="2175" b="0">
                <a:solidFill>
                  <a:srgbClr val="536775"/>
                </a:solidFill>
                <a:latin typeface="Arial"/>
                <a:ea typeface="Arial"/>
                <a:cs typeface="Arial"/>
              </a:defRPr>
            </a:lvl4pPr>
            <a:lvl5pPr algn="l">
              <a:defRPr sz="2175" b="0">
                <a:solidFill>
                  <a:srgbClr val="536775"/>
                </a:solidFill>
                <a:latin typeface="Arial"/>
                <a:ea typeface="Arial"/>
                <a:cs typeface="Arial"/>
              </a:defRPr>
            </a:lvl5pPr>
            <a:lvl6pPr algn="l">
              <a:defRPr sz="2175" b="0">
                <a:solidFill>
                  <a:srgbClr val="536775"/>
                </a:solidFill>
                <a:latin typeface="Arial"/>
                <a:ea typeface="Arial"/>
                <a:cs typeface="Arial"/>
              </a:defRPr>
            </a:lvl6pPr>
            <a:lvl7pPr algn="l">
              <a:defRPr sz="2175" b="0">
                <a:solidFill>
                  <a:srgbClr val="536775"/>
                </a:solidFill>
                <a:latin typeface="Arial"/>
                <a:ea typeface="Arial"/>
                <a:cs typeface="Arial"/>
              </a:defRPr>
            </a:lvl7pPr>
            <a:lvl8pPr algn="l">
              <a:defRPr sz="2175" b="0">
                <a:solidFill>
                  <a:srgbClr val="536775"/>
                </a:solidFill>
                <a:latin typeface="Arial"/>
                <a:ea typeface="Arial"/>
                <a:cs typeface="Arial"/>
              </a:defRPr>
            </a:lvl8pPr>
            <a:lvl9pPr algn="l">
              <a:defRPr sz="2175" b="0">
                <a:solidFill>
                  <a:srgbClr val="536775"/>
                </a:solidFill>
                <a:latin typeface="Arial"/>
                <a:ea typeface="Arial"/>
                <a:cs typeface="Arial"/>
              </a:defRPr>
            </a:lvl9pPr>
          </a:lstStyle>
          <a:p xmlns:a="http://schemas.openxmlformats.org/drawingml/2006/main">
            <a:pPr algn="l">
              <a:defRPr sz="2175" b="0">
                <a:solidFill>
                  <a:srgbClr val="536775"/>
                </a:solidFill>
                <a:latin typeface="Arial"/>
                <a:ea typeface="Arial"/>
                <a:cs typeface="Arial"/>
              </a:defRPr>
            </a:pPr>
            <a:r>
              <a:rPr sz="2175" b="0">
                <a:solidFill>
                  <a:srgbClr val="536775"/>
                </a:solidFill>
                <a:latin typeface="Arial"/>
                <a:ea typeface="Arial"/>
                <a:cs typeface="Arial"/>
              </a:rPr>
              <a:t>Learn baseline behavior. Flag deviations. Explain every alert.</a:t>
            </a:r>
          </a:p>
        </p:txBody>
      </p:sp>
      <p:sp>
        <p:nvSpPr>
          <p:cNvPr id="9" name="shape-8">
            <a:extLst xmlns:a="http://schemas.openxmlformats.org/drawingml/2006/main">
              <a:ext uri="{FF2B5EF4-FFF2-40B4-BE49-F238E27FC236}">
                <a16:creationId xmlns:a16="http://schemas.microsoft.com/office/drawing/2014/main" id="{2A1D1B34-48DD-4FD3-80CB-5D83B4BA915F}"/>
              </a:ext>
            </a:extLst>
          </p:cNvPr>
          <p:cNvSpPr>
            <a:spLocks xmlns:a="http://schemas.openxmlformats.org/drawingml/2006/main" noGrp="1"/>
          </p:cNvSpPr>
          <p:nvPr/>
        </p:nvSpPr>
        <p:spPr>
          <a:xfrm xmlns:a="http://schemas.openxmlformats.org/drawingml/2006/main">
            <a:off x="609600" y="4524375"/>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67C75"/>
                </a:solidFill>
                <a:latin typeface="Arial"/>
                <a:ea typeface="Arial"/>
                <a:cs typeface="Arial"/>
              </a:defRPr>
            </a:defPPr>
            <a:lvl1pPr algn="l">
              <a:defRPr sz="2550" b="1">
                <a:solidFill>
                  <a:srgbClr val="067C75"/>
                </a:solidFill>
                <a:latin typeface="Arial"/>
                <a:ea typeface="Arial"/>
                <a:cs typeface="Arial"/>
              </a:defRPr>
            </a:lvl1pPr>
            <a:lvl2pPr algn="l">
              <a:defRPr sz="2550" b="1">
                <a:solidFill>
                  <a:srgbClr val="067C75"/>
                </a:solidFill>
                <a:latin typeface="Arial"/>
                <a:ea typeface="Arial"/>
                <a:cs typeface="Arial"/>
              </a:defRPr>
            </a:lvl2pPr>
            <a:lvl3pPr algn="l">
              <a:defRPr sz="2550" b="1">
                <a:solidFill>
                  <a:srgbClr val="067C75"/>
                </a:solidFill>
                <a:latin typeface="Arial"/>
                <a:ea typeface="Arial"/>
                <a:cs typeface="Arial"/>
              </a:defRPr>
            </a:lvl3pPr>
            <a:lvl4pPr algn="l">
              <a:defRPr sz="2550" b="1">
                <a:solidFill>
                  <a:srgbClr val="067C75"/>
                </a:solidFill>
                <a:latin typeface="Arial"/>
                <a:ea typeface="Arial"/>
                <a:cs typeface="Arial"/>
              </a:defRPr>
            </a:lvl4pPr>
            <a:lvl5pPr algn="l">
              <a:defRPr sz="2550" b="1">
                <a:solidFill>
                  <a:srgbClr val="067C75"/>
                </a:solidFill>
                <a:latin typeface="Arial"/>
                <a:ea typeface="Arial"/>
                <a:cs typeface="Arial"/>
              </a:defRPr>
            </a:lvl5pPr>
            <a:lvl6pPr algn="l">
              <a:defRPr sz="2550" b="1">
                <a:solidFill>
                  <a:srgbClr val="067C75"/>
                </a:solidFill>
                <a:latin typeface="Arial"/>
                <a:ea typeface="Arial"/>
                <a:cs typeface="Arial"/>
              </a:defRPr>
            </a:lvl6pPr>
            <a:lvl7pPr algn="l">
              <a:defRPr sz="2550" b="1">
                <a:solidFill>
                  <a:srgbClr val="067C75"/>
                </a:solidFill>
                <a:latin typeface="Arial"/>
                <a:ea typeface="Arial"/>
                <a:cs typeface="Arial"/>
              </a:defRPr>
            </a:lvl7pPr>
            <a:lvl8pPr algn="l">
              <a:defRPr sz="2550" b="1">
                <a:solidFill>
                  <a:srgbClr val="067C75"/>
                </a:solidFill>
                <a:latin typeface="Arial"/>
                <a:ea typeface="Arial"/>
                <a:cs typeface="Arial"/>
              </a:defRPr>
            </a:lvl8pPr>
            <a:lvl9pPr algn="l">
              <a:defRPr sz="2550" b="1">
                <a:solidFill>
                  <a:srgbClr val="067C75"/>
                </a:solidFill>
                <a:latin typeface="Arial"/>
                <a:ea typeface="Arial"/>
                <a:cs typeface="Arial"/>
              </a:defRPr>
            </a:lvl9pPr>
          </a:lstStyle>
          <a:p xmlns:a="http://schemas.openxmlformats.org/drawingml/2006/main">
            <a:pPr algn="l">
              <a:defRPr sz="2550" b="1">
                <a:solidFill>
                  <a:srgbClr val="067C75"/>
                </a:solidFill>
                <a:latin typeface="Arial"/>
                <a:ea typeface="Arial"/>
                <a:cs typeface="Arial"/>
              </a:defRPr>
            </a:pPr>
            <a:r>
              <a:rPr sz="2550" b="1">
                <a:solidFill>
                  <a:srgbClr val="067C75"/>
                </a:solidFill>
                <a:latin typeface="Arial"/>
                <a:ea typeface="Arial"/>
                <a:cs typeface="Arial"/>
              </a:rPr>
              <a:t>Unbreakabale Loop</a:t>
            </a:r>
          </a:p>
        </p:txBody>
      </p:sp>
      <p:sp>
        <p:nvSpPr>
          <p:cNvPr id="10" name="shape-9">
            <a:extLst xmlns:a="http://schemas.openxmlformats.org/drawingml/2006/main">
              <a:ext uri="{FF2B5EF4-FFF2-40B4-BE49-F238E27FC236}">
                <a16:creationId xmlns:a16="http://schemas.microsoft.com/office/drawing/2014/main" id="{B3BC55E0-8782-4DFF-9E69-4C42BE8C56CC}"/>
              </a:ext>
            </a:extLst>
          </p:cNvPr>
          <p:cNvSpPr>
            <a:spLocks xmlns:a="http://schemas.openxmlformats.org/drawingml/2006/main" noGrp="1"/>
          </p:cNvSpPr>
          <p:nvPr/>
        </p:nvSpPr>
        <p:spPr>
          <a:xfrm xmlns:a="http://schemas.openxmlformats.org/drawingml/2006/main">
            <a:off x="609600" y="509587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536775"/>
                </a:solidFill>
                <a:latin typeface="Arial"/>
                <a:ea typeface="Arial"/>
                <a:cs typeface="Arial"/>
              </a:defRPr>
            </a:defPPr>
            <a:lvl1pPr algn="l">
              <a:defRPr sz="1800" b="0">
                <a:solidFill>
                  <a:srgbClr val="536775"/>
                </a:solidFill>
                <a:latin typeface="Arial"/>
                <a:ea typeface="Arial"/>
                <a:cs typeface="Arial"/>
              </a:defRPr>
            </a:lvl1pPr>
            <a:lvl2pPr algn="l">
              <a:defRPr sz="1800" b="0">
                <a:solidFill>
                  <a:srgbClr val="536775"/>
                </a:solidFill>
                <a:latin typeface="Arial"/>
                <a:ea typeface="Arial"/>
                <a:cs typeface="Arial"/>
              </a:defRPr>
            </a:lvl2pPr>
            <a:lvl3pPr algn="l">
              <a:defRPr sz="1800" b="0">
                <a:solidFill>
                  <a:srgbClr val="536775"/>
                </a:solidFill>
                <a:latin typeface="Arial"/>
                <a:ea typeface="Arial"/>
                <a:cs typeface="Arial"/>
              </a:defRPr>
            </a:lvl3pPr>
            <a:lvl4pPr algn="l">
              <a:defRPr sz="1800" b="0">
                <a:solidFill>
                  <a:srgbClr val="536775"/>
                </a:solidFill>
                <a:latin typeface="Arial"/>
                <a:ea typeface="Arial"/>
                <a:cs typeface="Arial"/>
              </a:defRPr>
            </a:lvl4pPr>
            <a:lvl5pPr algn="l">
              <a:defRPr sz="1800" b="0">
                <a:solidFill>
                  <a:srgbClr val="536775"/>
                </a:solidFill>
                <a:latin typeface="Arial"/>
                <a:ea typeface="Arial"/>
                <a:cs typeface="Arial"/>
              </a:defRPr>
            </a:lvl5pPr>
            <a:lvl6pPr algn="l">
              <a:defRPr sz="1800" b="0">
                <a:solidFill>
                  <a:srgbClr val="536775"/>
                </a:solidFill>
                <a:latin typeface="Arial"/>
                <a:ea typeface="Arial"/>
                <a:cs typeface="Arial"/>
              </a:defRPr>
            </a:lvl6pPr>
            <a:lvl7pPr algn="l">
              <a:defRPr sz="1800" b="0">
                <a:solidFill>
                  <a:srgbClr val="536775"/>
                </a:solidFill>
                <a:latin typeface="Arial"/>
                <a:ea typeface="Arial"/>
                <a:cs typeface="Arial"/>
              </a:defRPr>
            </a:lvl7pPr>
            <a:lvl8pPr algn="l">
              <a:defRPr sz="1800" b="0">
                <a:solidFill>
                  <a:srgbClr val="536775"/>
                </a:solidFill>
                <a:latin typeface="Arial"/>
                <a:ea typeface="Arial"/>
                <a:cs typeface="Arial"/>
              </a:defRPr>
            </a:lvl8pPr>
            <a:lvl9pPr algn="l">
              <a:defRPr sz="1800" b="0">
                <a:solidFill>
                  <a:srgbClr val="536775"/>
                </a:solidFill>
                <a:latin typeface="Arial"/>
                <a:ea typeface="Arial"/>
                <a:cs typeface="Arial"/>
              </a:defRPr>
            </a:lvl9pPr>
          </a:lstStyle>
          <a:p xmlns:a="http://schemas.openxmlformats.org/drawingml/2006/main">
            <a:pPr algn="l">
              <a:defRPr sz="1800" b="0">
                <a:solidFill>
                  <a:srgbClr val="536775"/>
                </a:solidFill>
                <a:latin typeface="Arial"/>
                <a:ea typeface="Arial"/>
                <a:cs typeface="Arial"/>
              </a:defRPr>
            </a:pPr>
            <a:r>
              <a:rPr sz="1800" b="0">
                <a:solidFill>
                  <a:srgbClr val="536775"/>
                </a:solidFill>
                <a:latin typeface="Arial"/>
                <a:ea typeface="Arial"/>
                <a:cs typeface="Arial"/>
              </a:rPr>
              <a:t>Team members: add names before submission</a:t>
            </a:r>
          </a:p>
        </p:txBody>
      </p:sp>
      <p:sp>
        <p:nvSpPr>
          <p:cNvPr id="11" name="shape-10">
            <a:extLst xmlns:a="http://schemas.openxmlformats.org/drawingml/2006/main">
              <a:ext uri="{FF2B5EF4-FFF2-40B4-BE49-F238E27FC236}">
                <a16:creationId xmlns:a16="http://schemas.microsoft.com/office/drawing/2014/main" id="{4206C3E5-7CDA-4F96-9613-E4B71FA8C356}"/>
              </a:ext>
            </a:extLst>
          </p:cNvPr>
          <p:cNvSpPr>
            <a:spLocks xmlns:a="http://schemas.openxmlformats.org/drawingml/2006/main" noGrp="1"/>
          </p:cNvSpPr>
          <p:nvPr/>
        </p:nvSpPr>
        <p:spPr>
          <a:xfrm xmlns:a="http://schemas.openxmlformats.org/drawingml/2006/main">
            <a:off x="609600" y="5667375"/>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42D40"/>
                </a:solidFill>
                <a:latin typeface="Arial"/>
                <a:ea typeface="Arial"/>
                <a:cs typeface="Arial"/>
              </a:defRPr>
            </a:defPPr>
            <a:lvl1pPr algn="l">
              <a:defRPr sz="1725" b="0">
                <a:solidFill>
                  <a:srgbClr val="142D40"/>
                </a:solidFill>
                <a:latin typeface="Arial"/>
                <a:ea typeface="Arial"/>
                <a:cs typeface="Arial"/>
              </a:defRPr>
            </a:lvl1pPr>
            <a:lvl2pPr algn="l">
              <a:defRPr sz="1725" b="0">
                <a:solidFill>
                  <a:srgbClr val="142D40"/>
                </a:solidFill>
                <a:latin typeface="Arial"/>
                <a:ea typeface="Arial"/>
                <a:cs typeface="Arial"/>
              </a:defRPr>
            </a:lvl2pPr>
            <a:lvl3pPr algn="l">
              <a:defRPr sz="1725" b="0">
                <a:solidFill>
                  <a:srgbClr val="142D40"/>
                </a:solidFill>
                <a:latin typeface="Arial"/>
                <a:ea typeface="Arial"/>
                <a:cs typeface="Arial"/>
              </a:defRPr>
            </a:lvl3pPr>
            <a:lvl4pPr algn="l">
              <a:defRPr sz="1725" b="0">
                <a:solidFill>
                  <a:srgbClr val="142D40"/>
                </a:solidFill>
                <a:latin typeface="Arial"/>
                <a:ea typeface="Arial"/>
                <a:cs typeface="Arial"/>
              </a:defRPr>
            </a:lvl4pPr>
            <a:lvl5pPr algn="l">
              <a:defRPr sz="1725" b="0">
                <a:solidFill>
                  <a:srgbClr val="142D40"/>
                </a:solidFill>
                <a:latin typeface="Arial"/>
                <a:ea typeface="Arial"/>
                <a:cs typeface="Arial"/>
              </a:defRPr>
            </a:lvl5pPr>
            <a:lvl6pPr algn="l">
              <a:defRPr sz="1725" b="0">
                <a:solidFill>
                  <a:srgbClr val="142D40"/>
                </a:solidFill>
                <a:latin typeface="Arial"/>
                <a:ea typeface="Arial"/>
                <a:cs typeface="Arial"/>
              </a:defRPr>
            </a:lvl6pPr>
            <a:lvl7pPr algn="l">
              <a:defRPr sz="1725" b="0">
                <a:solidFill>
                  <a:srgbClr val="142D40"/>
                </a:solidFill>
                <a:latin typeface="Arial"/>
                <a:ea typeface="Arial"/>
                <a:cs typeface="Arial"/>
              </a:defRPr>
            </a:lvl7pPr>
            <a:lvl8pPr algn="l">
              <a:defRPr sz="1725" b="0">
                <a:solidFill>
                  <a:srgbClr val="142D40"/>
                </a:solidFill>
                <a:latin typeface="Arial"/>
                <a:ea typeface="Arial"/>
                <a:cs typeface="Arial"/>
              </a:defRPr>
            </a:lvl8pPr>
            <a:lvl9pPr algn="l">
              <a:defRPr sz="1725" b="0">
                <a:solidFill>
                  <a:srgbClr val="142D40"/>
                </a:solidFill>
                <a:latin typeface="Arial"/>
                <a:ea typeface="Arial"/>
                <a:cs typeface="Arial"/>
              </a:defRPr>
            </a:lvl9pPr>
          </a:lstStyle>
          <a:p xmlns:a="http://schemas.openxmlformats.org/drawingml/2006/main">
            <a:pPr algn="l">
              <a:defRPr sz="1725" b="0">
                <a:solidFill>
                  <a:srgbClr val="142D40"/>
                </a:solidFill>
                <a:latin typeface="Arial"/>
                <a:ea typeface="Arial"/>
                <a:cs typeface="Arial"/>
              </a:defRPr>
            </a:pPr>
            <a:r>
              <a:rPr sz="1725" b="0">
                <a:solidFill>
                  <a:srgbClr val="142D40"/>
                </a:solidFill>
                <a:latin typeface="Arial"/>
                <a:ea typeface="Arial"/>
                <a:cs typeface="Arial"/>
              </a:rPr>
              <a:t>Track: Challenge 2 — Sentinel</a:t>
            </a:r>
          </a:p>
        </p:txBody>
      </p:sp>
    </p:spTree>
    <p:extLst>
      <p:ext uri="{BB962C8B-B14F-4D97-AF65-F5344CB8AC3E}">
        <p14:creationId xmlns:p14="http://schemas.microsoft.com/office/powerpoint/2010/main" val="4139406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11">
            <a:extLst xmlns:a="http://schemas.openxmlformats.org/drawingml/2006/main">
              <a:ext uri="{FF2B5EF4-FFF2-40B4-BE49-F238E27FC236}">
                <a16:creationId xmlns:a16="http://schemas.microsoft.com/office/drawing/2014/main" id="{6D828B0D-7AA7-45A8-85F3-B9C0F89EADA9}"/>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Problem understanding</a:t>
            </a:r>
          </a:p>
        </p:txBody>
      </p:sp>
      <p:sp>
        <p:nvSpPr>
          <p:cNvPr id="3" name="shape-12">
            <a:extLst xmlns:a="http://schemas.openxmlformats.org/drawingml/2006/main">
              <a:ext uri="{FF2B5EF4-FFF2-40B4-BE49-F238E27FC236}">
                <a16:creationId xmlns:a16="http://schemas.microsoft.com/office/drawing/2014/main" id="{9B1425A0-564B-46F6-B8AA-CFA54B40F4D7}"/>
              </a:ext>
            </a:extLst>
          </p:cNvPr>
          <p:cNvSpPr>
            <a:spLocks xmlns:a="http://schemas.openxmlformats.org/drawingml/2006/main" noGrp="1"/>
          </p:cNvSpPr>
          <p:nvPr/>
        </p:nvSpPr>
        <p:spPr>
          <a:xfrm xmlns:a="http://schemas.openxmlformats.org/drawingml/2006/main">
            <a:off x="609600" y="11239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A useful alert must identify an unusual event and explain why it was raised.</a:t>
            </a:r>
          </a:p>
        </p:txBody>
      </p:sp>
      <p:sp>
        <p:nvSpPr>
          <p:cNvPr id="4" name="shape-13">
            <a:extLst xmlns:a="http://schemas.openxmlformats.org/drawingml/2006/main">
              <a:ext uri="{FF2B5EF4-FFF2-40B4-BE49-F238E27FC236}">
                <a16:creationId xmlns:a16="http://schemas.microsoft.com/office/drawing/2014/main" id="{98C7A923-9367-4BC8-A9C7-075B0522D483}"/>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5" name="shape-14">
            <a:extLst xmlns:a="http://schemas.openxmlformats.org/drawingml/2006/main">
              <a:ext uri="{FF2B5EF4-FFF2-40B4-BE49-F238E27FC236}">
                <a16:creationId xmlns:a16="http://schemas.microsoft.com/office/drawing/2014/main" id="{DED0E197-5EEA-4517-AFF8-06B18E484674}"/>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6" name="shape-15">
            <a:extLst xmlns:a="http://schemas.openxmlformats.org/drawingml/2006/main">
              <a:ext uri="{FF2B5EF4-FFF2-40B4-BE49-F238E27FC236}">
                <a16:creationId xmlns:a16="http://schemas.microsoft.com/office/drawing/2014/main" id="{C70DA9FC-FF57-4A58-A6AC-45EAE607D97E}"/>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02 / 10</a:t>
            </a:r>
          </a:p>
        </p:txBody>
      </p:sp>
      <p:sp>
        <p:nvSpPr>
          <p:cNvPr id="7" name="shape-16">
            <a:extLst xmlns:a="http://schemas.openxmlformats.org/drawingml/2006/main">
              <a:ext uri="{FF2B5EF4-FFF2-40B4-BE49-F238E27FC236}">
                <a16:creationId xmlns:a16="http://schemas.microsoft.com/office/drawing/2014/main" id="{535AFFA9-A9BF-404E-843E-588B53275C2C}"/>
              </a:ext>
            </a:extLst>
          </p:cNvPr>
          <p:cNvSpPr>
            <a:spLocks xmlns:a="http://schemas.openxmlformats.org/drawingml/2006/main" noGrp="1"/>
          </p:cNvSpPr>
          <p:nvPr/>
        </p:nvSpPr>
        <p:spPr>
          <a:xfrm xmlns:a="http://schemas.openxmlformats.org/drawingml/2006/main">
            <a:off x="609600" y="200025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067C75"/>
                </a:solidFill>
                <a:latin typeface="Arial"/>
                <a:ea typeface="Arial"/>
                <a:cs typeface="Arial"/>
              </a:defRPr>
            </a:defPPr>
            <a:lvl1pPr algn="l">
              <a:defRPr sz="1800" b="1">
                <a:solidFill>
                  <a:srgbClr val="067C75"/>
                </a:solidFill>
                <a:latin typeface="Arial"/>
                <a:ea typeface="Arial"/>
                <a:cs typeface="Arial"/>
              </a:defRPr>
            </a:lvl1pPr>
            <a:lvl2pPr algn="l">
              <a:defRPr sz="1800" b="1">
                <a:solidFill>
                  <a:srgbClr val="067C75"/>
                </a:solidFill>
                <a:latin typeface="Arial"/>
                <a:ea typeface="Arial"/>
                <a:cs typeface="Arial"/>
              </a:defRPr>
            </a:lvl2pPr>
            <a:lvl3pPr algn="l">
              <a:defRPr sz="1800" b="1">
                <a:solidFill>
                  <a:srgbClr val="067C75"/>
                </a:solidFill>
                <a:latin typeface="Arial"/>
                <a:ea typeface="Arial"/>
                <a:cs typeface="Arial"/>
              </a:defRPr>
            </a:lvl3pPr>
            <a:lvl4pPr algn="l">
              <a:defRPr sz="1800" b="1">
                <a:solidFill>
                  <a:srgbClr val="067C75"/>
                </a:solidFill>
                <a:latin typeface="Arial"/>
                <a:ea typeface="Arial"/>
                <a:cs typeface="Arial"/>
              </a:defRPr>
            </a:lvl4pPr>
            <a:lvl5pPr algn="l">
              <a:defRPr sz="1800" b="1">
                <a:solidFill>
                  <a:srgbClr val="067C75"/>
                </a:solidFill>
                <a:latin typeface="Arial"/>
                <a:ea typeface="Arial"/>
                <a:cs typeface="Arial"/>
              </a:defRPr>
            </a:lvl5pPr>
            <a:lvl6pPr algn="l">
              <a:defRPr sz="1800" b="1">
                <a:solidFill>
                  <a:srgbClr val="067C75"/>
                </a:solidFill>
                <a:latin typeface="Arial"/>
                <a:ea typeface="Arial"/>
                <a:cs typeface="Arial"/>
              </a:defRPr>
            </a:lvl6pPr>
            <a:lvl7pPr algn="l">
              <a:defRPr sz="1800" b="1">
                <a:solidFill>
                  <a:srgbClr val="067C75"/>
                </a:solidFill>
                <a:latin typeface="Arial"/>
                <a:ea typeface="Arial"/>
                <a:cs typeface="Arial"/>
              </a:defRPr>
            </a:lvl7pPr>
            <a:lvl8pPr algn="l">
              <a:defRPr sz="1800" b="1">
                <a:solidFill>
                  <a:srgbClr val="067C75"/>
                </a:solidFill>
                <a:latin typeface="Arial"/>
                <a:ea typeface="Arial"/>
                <a:cs typeface="Arial"/>
              </a:defRPr>
            </a:lvl8pPr>
            <a:lvl9pPr algn="l">
              <a:defRPr sz="1800" b="1">
                <a:solidFill>
                  <a:srgbClr val="067C75"/>
                </a:solidFill>
                <a:latin typeface="Arial"/>
                <a:ea typeface="Arial"/>
                <a:cs typeface="Arial"/>
              </a:defRPr>
            </a:lvl9pPr>
          </a:lstStyle>
          <a:p xmlns:a="http://schemas.openxmlformats.org/drawingml/2006/main">
            <a:pPr algn="l">
              <a:defRPr sz="1800" b="1">
                <a:solidFill>
                  <a:srgbClr val="067C75"/>
                </a:solidFill>
                <a:latin typeface="Arial"/>
                <a:ea typeface="Arial"/>
                <a:cs typeface="Arial"/>
              </a:defRPr>
            </a:pPr>
            <a:r>
              <a:rPr sz="1800" b="1">
                <a:solidFill>
                  <a:srgbClr val="067C75"/>
                </a:solidFill>
                <a:latin typeface="Arial"/>
                <a:ea typeface="Arial"/>
                <a:cs typeface="Arial"/>
              </a:rPr>
              <a:t>Operational signals</a:t>
            </a:r>
          </a:p>
        </p:txBody>
      </p:sp>
      <p:sp>
        <p:nvSpPr>
          <p:cNvPr id="8" name="shape-17">
            <a:extLst xmlns:a="http://schemas.openxmlformats.org/drawingml/2006/main">
              <a:ext uri="{FF2B5EF4-FFF2-40B4-BE49-F238E27FC236}">
                <a16:creationId xmlns:a16="http://schemas.microsoft.com/office/drawing/2014/main" id="{B087D33D-F93C-409D-89BF-10D7F3CFF171}"/>
              </a:ext>
            </a:extLst>
          </p:cNvPr>
          <p:cNvSpPr>
            <a:spLocks xmlns:a="http://schemas.openxmlformats.org/drawingml/2006/main" noGrp="1"/>
          </p:cNvSpPr>
          <p:nvPr/>
        </p:nvSpPr>
        <p:spPr>
          <a:xfrm xmlns:a="http://schemas.openxmlformats.org/drawingml/2006/main">
            <a:off x="609600" y="2447925"/>
            <a:ext cx="5095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42D40"/>
                </a:solidFill>
                <a:latin typeface="Arial"/>
                <a:ea typeface="Arial"/>
                <a:cs typeface="Arial"/>
              </a:defRPr>
            </a:defPPr>
            <a:lvl1pPr algn="l">
              <a:defRPr sz="1725" b="0">
                <a:solidFill>
                  <a:srgbClr val="142D40"/>
                </a:solidFill>
                <a:latin typeface="Arial"/>
                <a:ea typeface="Arial"/>
                <a:cs typeface="Arial"/>
              </a:defRPr>
            </a:lvl1pPr>
            <a:lvl2pPr algn="l">
              <a:defRPr sz="1725" b="0">
                <a:solidFill>
                  <a:srgbClr val="142D40"/>
                </a:solidFill>
                <a:latin typeface="Arial"/>
                <a:ea typeface="Arial"/>
                <a:cs typeface="Arial"/>
              </a:defRPr>
            </a:lvl2pPr>
            <a:lvl3pPr algn="l">
              <a:defRPr sz="1725" b="0">
                <a:solidFill>
                  <a:srgbClr val="142D40"/>
                </a:solidFill>
                <a:latin typeface="Arial"/>
                <a:ea typeface="Arial"/>
                <a:cs typeface="Arial"/>
              </a:defRPr>
            </a:lvl3pPr>
            <a:lvl4pPr algn="l">
              <a:defRPr sz="1725" b="0">
                <a:solidFill>
                  <a:srgbClr val="142D40"/>
                </a:solidFill>
                <a:latin typeface="Arial"/>
                <a:ea typeface="Arial"/>
                <a:cs typeface="Arial"/>
              </a:defRPr>
            </a:lvl4pPr>
            <a:lvl5pPr algn="l">
              <a:defRPr sz="1725" b="0">
                <a:solidFill>
                  <a:srgbClr val="142D40"/>
                </a:solidFill>
                <a:latin typeface="Arial"/>
                <a:ea typeface="Arial"/>
                <a:cs typeface="Arial"/>
              </a:defRPr>
            </a:lvl5pPr>
            <a:lvl6pPr algn="l">
              <a:defRPr sz="1725" b="0">
                <a:solidFill>
                  <a:srgbClr val="142D40"/>
                </a:solidFill>
                <a:latin typeface="Arial"/>
                <a:ea typeface="Arial"/>
                <a:cs typeface="Arial"/>
              </a:defRPr>
            </a:lvl6pPr>
            <a:lvl7pPr algn="l">
              <a:defRPr sz="1725" b="0">
                <a:solidFill>
                  <a:srgbClr val="142D40"/>
                </a:solidFill>
                <a:latin typeface="Arial"/>
                <a:ea typeface="Arial"/>
                <a:cs typeface="Arial"/>
              </a:defRPr>
            </a:lvl7pPr>
            <a:lvl8pPr algn="l">
              <a:defRPr sz="1725" b="0">
                <a:solidFill>
                  <a:srgbClr val="142D40"/>
                </a:solidFill>
                <a:latin typeface="Arial"/>
                <a:ea typeface="Arial"/>
                <a:cs typeface="Arial"/>
              </a:defRPr>
            </a:lvl8pPr>
            <a:lvl9pPr algn="l">
              <a:defRPr sz="1725" b="0">
                <a:solidFill>
                  <a:srgbClr val="142D40"/>
                </a:solidFill>
                <a:latin typeface="Arial"/>
                <a:ea typeface="Arial"/>
                <a:cs typeface="Arial"/>
              </a:defRPr>
            </a:lvl9pPr>
          </a:lstStyle>
          <a:p xmlns:a="http://schemas.openxmlformats.org/drawingml/2006/main">
            <a:pPr algn="l">
              <a:defRPr sz="1725" b="0">
                <a:solidFill>
                  <a:srgbClr val="142D40"/>
                </a:solidFill>
                <a:latin typeface="Arial"/>
                <a:ea typeface="Arial"/>
                <a:cs typeface="Arial"/>
              </a:defRPr>
            </a:pPr>
            <a:r>
              <a:rPr sz="1725" b="0">
                <a:solidFill>
                  <a:srgbClr val="142D40"/>
                </a:solidFill>
                <a:latin typeface="Arial"/>
                <a:ea typeface="Arial"/>
                <a:cs typeface="Arial"/>
              </a:rPr>
              <a:t>CPU load, request volume, traffic speed, ad activity and social counts change over time.</a:t>
            </a:r>
          </a:p>
        </p:txBody>
      </p:sp>
      <p:sp>
        <p:nvSpPr>
          <p:cNvPr id="9" name="shape-18">
            <a:extLst xmlns:a="http://schemas.openxmlformats.org/drawingml/2006/main">
              <a:ext uri="{FF2B5EF4-FFF2-40B4-BE49-F238E27FC236}">
                <a16:creationId xmlns:a16="http://schemas.microsoft.com/office/drawing/2014/main" id="{2C8C36DA-B3F3-4B96-8913-2C8A4F905736}"/>
              </a:ext>
            </a:extLst>
          </p:cNvPr>
          <p:cNvSpPr>
            <a:spLocks xmlns:a="http://schemas.openxmlformats.org/drawingml/2006/main" noGrp="1"/>
          </p:cNvSpPr>
          <p:nvPr/>
        </p:nvSpPr>
        <p:spPr>
          <a:xfrm xmlns:a="http://schemas.openxmlformats.org/drawingml/2006/main">
            <a:off x="6381750" y="200025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067C75"/>
                </a:solidFill>
                <a:latin typeface="Arial"/>
                <a:ea typeface="Arial"/>
                <a:cs typeface="Arial"/>
              </a:defRPr>
            </a:defPPr>
            <a:lvl1pPr algn="l">
              <a:defRPr sz="1800" b="1">
                <a:solidFill>
                  <a:srgbClr val="067C75"/>
                </a:solidFill>
                <a:latin typeface="Arial"/>
                <a:ea typeface="Arial"/>
                <a:cs typeface="Arial"/>
              </a:defRPr>
            </a:lvl1pPr>
            <a:lvl2pPr algn="l">
              <a:defRPr sz="1800" b="1">
                <a:solidFill>
                  <a:srgbClr val="067C75"/>
                </a:solidFill>
                <a:latin typeface="Arial"/>
                <a:ea typeface="Arial"/>
                <a:cs typeface="Arial"/>
              </a:defRPr>
            </a:lvl2pPr>
            <a:lvl3pPr algn="l">
              <a:defRPr sz="1800" b="1">
                <a:solidFill>
                  <a:srgbClr val="067C75"/>
                </a:solidFill>
                <a:latin typeface="Arial"/>
                <a:ea typeface="Arial"/>
                <a:cs typeface="Arial"/>
              </a:defRPr>
            </a:lvl3pPr>
            <a:lvl4pPr algn="l">
              <a:defRPr sz="1800" b="1">
                <a:solidFill>
                  <a:srgbClr val="067C75"/>
                </a:solidFill>
                <a:latin typeface="Arial"/>
                <a:ea typeface="Arial"/>
                <a:cs typeface="Arial"/>
              </a:defRPr>
            </a:lvl4pPr>
            <a:lvl5pPr algn="l">
              <a:defRPr sz="1800" b="1">
                <a:solidFill>
                  <a:srgbClr val="067C75"/>
                </a:solidFill>
                <a:latin typeface="Arial"/>
                <a:ea typeface="Arial"/>
                <a:cs typeface="Arial"/>
              </a:defRPr>
            </a:lvl5pPr>
            <a:lvl6pPr algn="l">
              <a:defRPr sz="1800" b="1">
                <a:solidFill>
                  <a:srgbClr val="067C75"/>
                </a:solidFill>
                <a:latin typeface="Arial"/>
                <a:ea typeface="Arial"/>
                <a:cs typeface="Arial"/>
              </a:defRPr>
            </a:lvl6pPr>
            <a:lvl7pPr algn="l">
              <a:defRPr sz="1800" b="1">
                <a:solidFill>
                  <a:srgbClr val="067C75"/>
                </a:solidFill>
                <a:latin typeface="Arial"/>
                <a:ea typeface="Arial"/>
                <a:cs typeface="Arial"/>
              </a:defRPr>
            </a:lvl7pPr>
            <a:lvl8pPr algn="l">
              <a:defRPr sz="1800" b="1">
                <a:solidFill>
                  <a:srgbClr val="067C75"/>
                </a:solidFill>
                <a:latin typeface="Arial"/>
                <a:ea typeface="Arial"/>
                <a:cs typeface="Arial"/>
              </a:defRPr>
            </a:lvl8pPr>
            <a:lvl9pPr algn="l">
              <a:defRPr sz="1800" b="1">
                <a:solidFill>
                  <a:srgbClr val="067C75"/>
                </a:solidFill>
                <a:latin typeface="Arial"/>
                <a:ea typeface="Arial"/>
                <a:cs typeface="Arial"/>
              </a:defRPr>
            </a:lvl9pPr>
          </a:lstStyle>
          <a:p xmlns:a="http://schemas.openxmlformats.org/drawingml/2006/main">
            <a:pPr algn="l">
              <a:defRPr sz="1800" b="1">
                <a:solidFill>
                  <a:srgbClr val="067C75"/>
                </a:solidFill>
                <a:latin typeface="Arial"/>
                <a:ea typeface="Arial"/>
                <a:cs typeface="Arial"/>
              </a:defRPr>
            </a:pPr>
            <a:r>
              <a:rPr sz="1800" b="1">
                <a:solidFill>
                  <a:srgbClr val="067C75"/>
                </a:solidFill>
                <a:latin typeface="Arial"/>
                <a:ea typeface="Arial"/>
                <a:cs typeface="Arial"/>
              </a:rPr>
              <a:t>The alerting trade-off</a:t>
            </a:r>
          </a:p>
        </p:txBody>
      </p:sp>
      <p:sp>
        <p:nvSpPr>
          <p:cNvPr id="10" name="shape-19">
            <a:extLst xmlns:a="http://schemas.openxmlformats.org/drawingml/2006/main">
              <a:ext uri="{FF2B5EF4-FFF2-40B4-BE49-F238E27FC236}">
                <a16:creationId xmlns:a16="http://schemas.microsoft.com/office/drawing/2014/main" id="{A47D5C77-8865-4D5B-84F4-8D711ACED8B0}"/>
              </a:ext>
            </a:extLst>
          </p:cNvPr>
          <p:cNvSpPr>
            <a:spLocks xmlns:a="http://schemas.openxmlformats.org/drawingml/2006/main" noGrp="1"/>
          </p:cNvSpPr>
          <p:nvPr/>
        </p:nvSpPr>
        <p:spPr>
          <a:xfrm xmlns:a="http://schemas.openxmlformats.org/drawingml/2006/main">
            <a:off x="6381750" y="2447925"/>
            <a:ext cx="5095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42D40"/>
                </a:solidFill>
                <a:latin typeface="Arial"/>
                <a:ea typeface="Arial"/>
                <a:cs typeface="Arial"/>
              </a:defRPr>
            </a:defPPr>
            <a:lvl1pPr algn="l">
              <a:defRPr sz="1725" b="0">
                <a:solidFill>
                  <a:srgbClr val="142D40"/>
                </a:solidFill>
                <a:latin typeface="Arial"/>
                <a:ea typeface="Arial"/>
                <a:cs typeface="Arial"/>
              </a:defRPr>
            </a:lvl1pPr>
            <a:lvl2pPr algn="l">
              <a:defRPr sz="1725" b="0">
                <a:solidFill>
                  <a:srgbClr val="142D40"/>
                </a:solidFill>
                <a:latin typeface="Arial"/>
                <a:ea typeface="Arial"/>
                <a:cs typeface="Arial"/>
              </a:defRPr>
            </a:lvl2pPr>
            <a:lvl3pPr algn="l">
              <a:defRPr sz="1725" b="0">
                <a:solidFill>
                  <a:srgbClr val="142D40"/>
                </a:solidFill>
                <a:latin typeface="Arial"/>
                <a:ea typeface="Arial"/>
                <a:cs typeface="Arial"/>
              </a:defRPr>
            </a:lvl3pPr>
            <a:lvl4pPr algn="l">
              <a:defRPr sz="1725" b="0">
                <a:solidFill>
                  <a:srgbClr val="142D40"/>
                </a:solidFill>
                <a:latin typeface="Arial"/>
                <a:ea typeface="Arial"/>
                <a:cs typeface="Arial"/>
              </a:defRPr>
            </a:lvl4pPr>
            <a:lvl5pPr algn="l">
              <a:defRPr sz="1725" b="0">
                <a:solidFill>
                  <a:srgbClr val="142D40"/>
                </a:solidFill>
                <a:latin typeface="Arial"/>
                <a:ea typeface="Arial"/>
                <a:cs typeface="Arial"/>
              </a:defRPr>
            </a:lvl5pPr>
            <a:lvl6pPr algn="l">
              <a:defRPr sz="1725" b="0">
                <a:solidFill>
                  <a:srgbClr val="142D40"/>
                </a:solidFill>
                <a:latin typeface="Arial"/>
                <a:ea typeface="Arial"/>
                <a:cs typeface="Arial"/>
              </a:defRPr>
            </a:lvl6pPr>
            <a:lvl7pPr algn="l">
              <a:defRPr sz="1725" b="0">
                <a:solidFill>
                  <a:srgbClr val="142D40"/>
                </a:solidFill>
                <a:latin typeface="Arial"/>
                <a:ea typeface="Arial"/>
                <a:cs typeface="Arial"/>
              </a:defRPr>
            </a:lvl7pPr>
            <a:lvl8pPr algn="l">
              <a:defRPr sz="1725" b="0">
                <a:solidFill>
                  <a:srgbClr val="142D40"/>
                </a:solidFill>
                <a:latin typeface="Arial"/>
                <a:ea typeface="Arial"/>
                <a:cs typeface="Arial"/>
              </a:defRPr>
            </a:lvl8pPr>
            <a:lvl9pPr algn="l">
              <a:defRPr sz="1725" b="0">
                <a:solidFill>
                  <a:srgbClr val="142D40"/>
                </a:solidFill>
                <a:latin typeface="Arial"/>
                <a:ea typeface="Arial"/>
                <a:cs typeface="Arial"/>
              </a:defRPr>
            </a:lvl9pPr>
          </a:lstStyle>
          <a:p xmlns:a="http://schemas.openxmlformats.org/drawingml/2006/main">
            <a:pPr algn="l">
              <a:defRPr sz="1725" b="0">
                <a:solidFill>
                  <a:srgbClr val="142D40"/>
                </a:solidFill>
                <a:latin typeface="Arial"/>
                <a:ea typeface="Arial"/>
                <a:cs typeface="Arial"/>
              </a:defRPr>
            </a:pPr>
            <a:r>
              <a:rPr sz="1725" b="0">
                <a:solidFill>
                  <a:srgbClr val="142D40"/>
                </a:solidFill>
                <a:latin typeface="Arial"/>
                <a:ea typeface="Arial"/>
                <a:cs typeface="Arial"/>
              </a:rPr>
              <a:t>A missed event delays a response. Excess alerts overwhelm the operator.</a:t>
            </a:r>
          </a:p>
        </p:txBody>
      </p:sp>
      <p:sp>
        <p:nvSpPr>
          <p:cNvPr id="11" name="shape-20">
            <a:extLst xmlns:a="http://schemas.openxmlformats.org/drawingml/2006/main">
              <a:ext uri="{FF2B5EF4-FFF2-40B4-BE49-F238E27FC236}">
                <a16:creationId xmlns:a16="http://schemas.microsoft.com/office/drawing/2014/main" id="{9DADA2E4-14DB-4378-8AB0-32570F45629C}"/>
              </a:ext>
            </a:extLst>
          </p:cNvPr>
          <p:cNvSpPr>
            <a:spLocks xmlns:a="http://schemas.openxmlformats.org/drawingml/2006/main" noGrp="1"/>
          </p:cNvSpPr>
          <p:nvPr/>
        </p:nvSpPr>
        <p:spPr>
          <a:xfrm xmlns:a="http://schemas.openxmlformats.org/drawingml/2006/main">
            <a:off x="609600" y="39528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42D40"/>
                </a:solidFill>
                <a:latin typeface="Arial"/>
                <a:ea typeface="Arial"/>
                <a:cs typeface="Arial"/>
              </a:defRPr>
            </a:defPPr>
            <a:lvl1pPr algn="l">
              <a:defRPr sz="2175" b="1">
                <a:solidFill>
                  <a:srgbClr val="142D40"/>
                </a:solidFill>
                <a:latin typeface="Arial"/>
                <a:ea typeface="Arial"/>
                <a:cs typeface="Arial"/>
              </a:defRPr>
            </a:lvl1pPr>
            <a:lvl2pPr algn="l">
              <a:defRPr sz="2175" b="1">
                <a:solidFill>
                  <a:srgbClr val="142D40"/>
                </a:solidFill>
                <a:latin typeface="Arial"/>
                <a:ea typeface="Arial"/>
                <a:cs typeface="Arial"/>
              </a:defRPr>
            </a:lvl2pPr>
            <a:lvl3pPr algn="l">
              <a:defRPr sz="2175" b="1">
                <a:solidFill>
                  <a:srgbClr val="142D40"/>
                </a:solidFill>
                <a:latin typeface="Arial"/>
                <a:ea typeface="Arial"/>
                <a:cs typeface="Arial"/>
              </a:defRPr>
            </a:lvl3pPr>
            <a:lvl4pPr algn="l">
              <a:defRPr sz="2175" b="1">
                <a:solidFill>
                  <a:srgbClr val="142D40"/>
                </a:solidFill>
                <a:latin typeface="Arial"/>
                <a:ea typeface="Arial"/>
                <a:cs typeface="Arial"/>
              </a:defRPr>
            </a:lvl4pPr>
            <a:lvl5pPr algn="l">
              <a:defRPr sz="2175" b="1">
                <a:solidFill>
                  <a:srgbClr val="142D40"/>
                </a:solidFill>
                <a:latin typeface="Arial"/>
                <a:ea typeface="Arial"/>
                <a:cs typeface="Arial"/>
              </a:defRPr>
            </a:lvl5pPr>
            <a:lvl6pPr algn="l">
              <a:defRPr sz="2175" b="1">
                <a:solidFill>
                  <a:srgbClr val="142D40"/>
                </a:solidFill>
                <a:latin typeface="Arial"/>
                <a:ea typeface="Arial"/>
                <a:cs typeface="Arial"/>
              </a:defRPr>
            </a:lvl6pPr>
            <a:lvl7pPr algn="l">
              <a:defRPr sz="2175" b="1">
                <a:solidFill>
                  <a:srgbClr val="142D40"/>
                </a:solidFill>
                <a:latin typeface="Arial"/>
                <a:ea typeface="Arial"/>
                <a:cs typeface="Arial"/>
              </a:defRPr>
            </a:lvl7pPr>
            <a:lvl8pPr algn="l">
              <a:defRPr sz="2175" b="1">
                <a:solidFill>
                  <a:srgbClr val="142D40"/>
                </a:solidFill>
                <a:latin typeface="Arial"/>
                <a:ea typeface="Arial"/>
                <a:cs typeface="Arial"/>
              </a:defRPr>
            </a:lvl8pPr>
            <a:lvl9pPr algn="l">
              <a:defRPr sz="2175" b="1">
                <a:solidFill>
                  <a:srgbClr val="142D40"/>
                </a:solidFill>
                <a:latin typeface="Arial"/>
                <a:ea typeface="Arial"/>
                <a:cs typeface="Arial"/>
              </a:defRPr>
            </a:lvl9pPr>
          </a:lstStyle>
          <a:p xmlns:a="http://schemas.openxmlformats.org/drawingml/2006/main">
            <a:pPr algn="l">
              <a:defRPr sz="2175" b="1">
                <a:solidFill>
                  <a:srgbClr val="142D40"/>
                </a:solidFill>
                <a:latin typeface="Arial"/>
                <a:ea typeface="Arial"/>
                <a:cs typeface="Arial"/>
              </a:defRPr>
            </a:pPr>
            <a:r>
              <a:rPr sz="2175" b="1">
                <a:solidFill>
                  <a:srgbClr val="142D40"/>
                </a:solidFill>
                <a:latin typeface="Arial"/>
                <a:ea typeface="Arial"/>
                <a:cs typeface="Arial"/>
              </a:rPr>
              <a:t>Required output for every flagged event</a:t>
            </a:r>
          </a:p>
        </p:txBody>
      </p:sp>
      <p:graphicFrame>
        <p:nvGraphicFramePr>
          <p:cNvPr id="12" name="">
            <a:extLst xmlns:a="http://schemas.openxmlformats.org/drawingml/2006/main">
              <a:ext uri="{FF2B5EF4-FFF2-40B4-BE49-F238E27FC236}">
                <a16:creationId xmlns:a16="http://schemas.microsoft.com/office/drawing/2014/main" id="{132560B2-03E2-43FE-B4A9-61E06BE51268}"/>
              </a:ext>
            </a:extLst>
          </p:cNvPr>
          <p:cNvGraphicFramePr/>
          <p:nvPr/>
        </p:nvGraphicFramePr>
        <p:xfrm>
          <a:off xmlns:a="http://schemas.openxmlformats.org/drawingml/2006/main" x="609600" y="4524375"/>
          <a:ext xmlns:a="http://schemas.openxmlformats.org/drawingml/2006/main" cx="10972800" cy="1143000"/>
        </p:xfrm>
        <a:graphic xmlns:a="http://schemas.openxmlformats.org/drawingml/2006/main">
          <a:graphicData uri="http://schemas.openxmlformats.org/drawingml/2006/table">
            <a:tbl>
              <a:tblPr/>
              <a:tblGrid>
                <a:gridCol w="2857500"/>
                <a:gridCol w="3048000"/>
                <a:gridCol w="5067300"/>
              </a:tblGrid>
              <a:tr h="571500">
                <a:tc>
                  <a:txBody>
                    <a:bodyPr lIns="95250" tIns="95250" rIns="95250" bIns="95250"/>
                    <a:lstStyle/>
                    <a:p>
                      <a:r>
                        <a:rPr sz="1575" b="1">
                          <a:solidFill>
                            <a:srgbClr val="FFFFFF"/>
                          </a:solidFill>
                          <a:latin typeface="Arial"/>
                          <a:ea typeface="Arial"/>
                          <a:cs typeface="Arial"/>
                        </a:rPr>
                        <a:t>Anomaly score</a:t>
                      </a:r>
                    </a:p>
                  </a:txBody>
                  <a:tcPr marL="91440" marR="91440" marT="45720" marB="45720" anchor="ctr">
                    <a:lnL w="9525">
                      <a:solidFill>
                        <a:srgbClr val="D7E2E7"/>
                      </a:solidFill>
                      <a:prstDash val="solid"/>
                    </a:lnL>
                    <a:lnR w="9525">
                      <a:solidFill>
                        <a:srgbClr val="D7E2E7"/>
                      </a:solidFill>
                      <a:prstDash val="solid"/>
                    </a:lnR>
                    <a:lnT w="9525">
                      <a:solidFill>
                        <a:srgbClr val="D7E2E7"/>
                      </a:solidFill>
                      <a:prstDash val="solid"/>
                    </a:lnT>
                    <a:lnB w="9525">
                      <a:solidFill>
                        <a:srgbClr val="D7E2E7"/>
                      </a:solidFill>
                      <a:prstDash val="solid"/>
                    </a:lnB>
                    <a:solidFill>
                      <a:srgbClr val="142D40"/>
                    </a:solidFill>
                  </a:tcPr>
                </a:tc>
                <a:tc>
                  <a:txBody>
                    <a:bodyPr lIns="95250" tIns="95250" rIns="95250" bIns="95250"/>
                    <a:lstStyle/>
                    <a:p>
                      <a:r>
                        <a:rPr sz="1575" b="1">
                          <a:solidFill>
                            <a:srgbClr val="FFFFFF"/>
                          </a:solidFill>
                          <a:latin typeface="Arial"/>
                          <a:ea typeface="Arial"/>
                          <a:cs typeface="Arial"/>
                        </a:rPr>
                        <a:t>Decision</a:t>
                      </a:r>
                    </a:p>
                  </a:txBody>
                  <a:tcPr marL="91440" marR="91440" marT="45720" marB="45720" anchor="ctr">
                    <a:lnR w="9525">
                      <a:solidFill>
                        <a:srgbClr val="D7E2E7"/>
                      </a:solidFill>
                      <a:prstDash val="solid"/>
                    </a:lnR>
                    <a:lnT w="9525">
                      <a:solidFill>
                        <a:srgbClr val="D7E2E7"/>
                      </a:solidFill>
                      <a:prstDash val="solid"/>
                    </a:lnT>
                    <a:lnB w="9525">
                      <a:solidFill>
                        <a:srgbClr val="D7E2E7"/>
                      </a:solidFill>
                      <a:prstDash val="solid"/>
                    </a:lnB>
                    <a:solidFill>
                      <a:srgbClr val="142D40"/>
                    </a:solidFill>
                  </a:tcPr>
                </a:tc>
                <a:tc>
                  <a:txBody>
                    <a:bodyPr lIns="95250" tIns="95250" rIns="95250" bIns="95250"/>
                    <a:lstStyle/>
                    <a:p>
                      <a:r>
                        <a:rPr sz="1575" b="1">
                          <a:solidFill>
                            <a:srgbClr val="FFFFFF"/>
                          </a:solidFill>
                          <a:latin typeface="Arial"/>
                          <a:ea typeface="Arial"/>
                          <a:cs typeface="Arial"/>
                        </a:rPr>
                        <a:t>Interpretable evidence</a:t>
                      </a:r>
                    </a:p>
                  </a:txBody>
                  <a:tcPr marL="91440" marR="91440" marT="45720" marB="45720" anchor="ctr">
                    <a:lnR w="9525">
                      <a:solidFill>
                        <a:srgbClr val="D7E2E7"/>
                      </a:solidFill>
                      <a:prstDash val="solid"/>
                    </a:lnR>
                    <a:lnT w="9525">
                      <a:solidFill>
                        <a:srgbClr val="D7E2E7"/>
                      </a:solidFill>
                      <a:prstDash val="solid"/>
                    </a:lnT>
                    <a:lnB w="9525">
                      <a:solidFill>
                        <a:srgbClr val="D7E2E7"/>
                      </a:solidFill>
                      <a:prstDash val="solid"/>
                    </a:lnB>
                    <a:solidFill>
                      <a:srgbClr val="142D40"/>
                    </a:solidFill>
                  </a:tcPr>
                </a:tc>
              </a:tr>
              <a:tr h="571500">
                <a:tc>
                  <a:txBody>
                    <a:bodyPr lIns="95250" tIns="95250" rIns="95250" bIns="95250"/>
                    <a:lstStyle/>
                    <a:p>
                      <a:r>
                        <a:rPr sz="1575" b="0">
                          <a:solidFill>
                            <a:srgbClr val="142D40"/>
                          </a:solidFill>
                          <a:latin typeface="Arial"/>
                          <a:ea typeface="Arial"/>
                          <a:cs typeface="Arial"/>
                        </a:rPr>
                        <a:t>Deviation magnitude</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NORMAL / ANOMALOUS</a:t>
                      </a:r>
                    </a:p>
                  </a:txBody>
                  <a:tcPr marL="91440" marR="91440" marT="45720" marB="45720" anchor="ctr">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Observed value, expected range and trigger</a:t>
                      </a:r>
                    </a:p>
                  </a:txBody>
                  <a:tcPr marL="91440" marR="91440" marT="45720" marB="45720" anchor="ctr">
                    <a:lnR w="9525">
                      <a:solidFill>
                        <a:srgbClr val="D7E2E7"/>
                      </a:solidFill>
                      <a:prstDash val="solid"/>
                    </a:lnR>
                    <a:lnB w="9525">
                      <a:solidFill>
                        <a:srgbClr val="D7E2E7"/>
                      </a:solidFill>
                      <a:prstDash val="solid"/>
                    </a:lnB>
                    <a:solidFill>
                      <a:srgbClr val="FFFFFF"/>
                    </a:solidFill>
                  </a:tcPr>
                </a:tc>
              </a:tr>
            </a:tbl>
          </a:graphicData>
        </a:graphic>
      </p:graphicFrame>
    </p:spTree>
    <p:extLst>
      <p:ext uri="{BB962C8B-B14F-4D97-AF65-F5344CB8AC3E}">
        <p14:creationId xmlns:p14="http://schemas.microsoft.com/office/powerpoint/2010/main" val="13310156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21">
            <a:extLst xmlns:a="http://schemas.openxmlformats.org/drawingml/2006/main">
              <a:ext uri="{FF2B5EF4-FFF2-40B4-BE49-F238E27FC236}">
                <a16:creationId xmlns:a16="http://schemas.microsoft.com/office/drawing/2014/main" id="{7694DCDB-C7D6-44C2-8492-FC3A23D03DDA}"/>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Dataset and preprocessing</a:t>
            </a:r>
          </a:p>
        </p:txBody>
      </p:sp>
      <p:sp>
        <p:nvSpPr>
          <p:cNvPr id="3" name="shape-22">
            <a:extLst xmlns:a="http://schemas.openxmlformats.org/drawingml/2006/main">
              <a:ext uri="{FF2B5EF4-FFF2-40B4-BE49-F238E27FC236}">
                <a16:creationId xmlns:a16="http://schemas.microsoft.com/office/drawing/2014/main" id="{DFAF5FD0-F110-4CE7-B9B7-57778AD62182}"/>
              </a:ext>
            </a:extLst>
          </p:cNvPr>
          <p:cNvSpPr>
            <a:spLocks xmlns:a="http://schemas.openxmlformats.org/drawingml/2006/main" noGrp="1"/>
          </p:cNvSpPr>
          <p:nvPr/>
        </p:nvSpPr>
        <p:spPr>
          <a:xfrm xmlns:a="http://schemas.openxmlformats.org/drawingml/2006/main">
            <a:off x="609600" y="11239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Numenta Anomaly Benchmark: univariate, timestamped signals from several domains.</a:t>
            </a:r>
          </a:p>
        </p:txBody>
      </p:sp>
      <p:sp>
        <p:nvSpPr>
          <p:cNvPr id="4" name="shape-23">
            <a:extLst xmlns:a="http://schemas.openxmlformats.org/drawingml/2006/main">
              <a:ext uri="{FF2B5EF4-FFF2-40B4-BE49-F238E27FC236}">
                <a16:creationId xmlns:a16="http://schemas.microsoft.com/office/drawing/2014/main" id="{38D49277-82F2-433E-A951-A027802E2F7E}"/>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5" name="shape-24">
            <a:extLst xmlns:a="http://schemas.openxmlformats.org/drawingml/2006/main">
              <a:ext uri="{FF2B5EF4-FFF2-40B4-BE49-F238E27FC236}">
                <a16:creationId xmlns:a16="http://schemas.microsoft.com/office/drawing/2014/main" id="{77FB3E19-D68C-4D00-BE1E-1BF20EE28854}"/>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6" name="shape-25">
            <a:extLst xmlns:a="http://schemas.openxmlformats.org/drawingml/2006/main">
              <a:ext uri="{FF2B5EF4-FFF2-40B4-BE49-F238E27FC236}">
                <a16:creationId xmlns:a16="http://schemas.microsoft.com/office/drawing/2014/main" id="{EA85CBDF-ACF9-46A0-B2E4-9BA6757A8887}"/>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03 / 10</a:t>
            </a:r>
          </a:p>
        </p:txBody>
      </p:sp>
      <p:sp>
        <p:nvSpPr>
          <p:cNvPr id="7" name="shape-26">
            <a:extLst xmlns:a="http://schemas.openxmlformats.org/drawingml/2006/main">
              <a:ext uri="{FF2B5EF4-FFF2-40B4-BE49-F238E27FC236}">
                <a16:creationId xmlns:a16="http://schemas.microsoft.com/office/drawing/2014/main" id="{459C092D-453E-40BD-9711-68EDD790CB4D}"/>
              </a:ext>
            </a:extLst>
          </p:cNvPr>
          <p:cNvSpPr>
            <a:spLocks xmlns:a="http://schemas.openxmlformats.org/drawingml/2006/main" noGrp="1"/>
          </p:cNvSpPr>
          <p:nvPr/>
        </p:nvSpPr>
        <p:spPr>
          <a:xfrm xmlns:a="http://schemas.openxmlformats.org/drawingml/2006/main">
            <a:off x="609600" y="1838325"/>
            <a:ext cx="276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4800" b="1">
                <a:solidFill>
                  <a:srgbClr val="067C75"/>
                </a:solidFill>
                <a:latin typeface="Arial"/>
                <a:ea typeface="Arial"/>
                <a:cs typeface="Arial"/>
              </a:defRPr>
            </a:defPPr>
            <a:lvl1pPr algn="l">
              <a:defRPr sz="4800" b="1">
                <a:solidFill>
                  <a:srgbClr val="067C75"/>
                </a:solidFill>
                <a:latin typeface="Arial"/>
                <a:ea typeface="Arial"/>
                <a:cs typeface="Arial"/>
              </a:defRPr>
            </a:lvl1pPr>
            <a:lvl2pPr algn="l">
              <a:defRPr sz="4800" b="1">
                <a:solidFill>
                  <a:srgbClr val="067C75"/>
                </a:solidFill>
                <a:latin typeface="Arial"/>
                <a:ea typeface="Arial"/>
                <a:cs typeface="Arial"/>
              </a:defRPr>
            </a:lvl2pPr>
            <a:lvl3pPr algn="l">
              <a:defRPr sz="4800" b="1">
                <a:solidFill>
                  <a:srgbClr val="067C75"/>
                </a:solidFill>
                <a:latin typeface="Arial"/>
                <a:ea typeface="Arial"/>
                <a:cs typeface="Arial"/>
              </a:defRPr>
            </a:lvl3pPr>
            <a:lvl4pPr algn="l">
              <a:defRPr sz="4800" b="1">
                <a:solidFill>
                  <a:srgbClr val="067C75"/>
                </a:solidFill>
                <a:latin typeface="Arial"/>
                <a:ea typeface="Arial"/>
                <a:cs typeface="Arial"/>
              </a:defRPr>
            </a:lvl4pPr>
            <a:lvl5pPr algn="l">
              <a:defRPr sz="4800" b="1">
                <a:solidFill>
                  <a:srgbClr val="067C75"/>
                </a:solidFill>
                <a:latin typeface="Arial"/>
                <a:ea typeface="Arial"/>
                <a:cs typeface="Arial"/>
              </a:defRPr>
            </a:lvl5pPr>
            <a:lvl6pPr algn="l">
              <a:defRPr sz="4800" b="1">
                <a:solidFill>
                  <a:srgbClr val="067C75"/>
                </a:solidFill>
                <a:latin typeface="Arial"/>
                <a:ea typeface="Arial"/>
                <a:cs typeface="Arial"/>
              </a:defRPr>
            </a:lvl6pPr>
            <a:lvl7pPr algn="l">
              <a:defRPr sz="4800" b="1">
                <a:solidFill>
                  <a:srgbClr val="067C75"/>
                </a:solidFill>
                <a:latin typeface="Arial"/>
                <a:ea typeface="Arial"/>
                <a:cs typeface="Arial"/>
              </a:defRPr>
            </a:lvl7pPr>
            <a:lvl8pPr algn="l">
              <a:defRPr sz="4800" b="1">
                <a:solidFill>
                  <a:srgbClr val="067C75"/>
                </a:solidFill>
                <a:latin typeface="Arial"/>
                <a:ea typeface="Arial"/>
                <a:cs typeface="Arial"/>
              </a:defRPr>
            </a:lvl8pPr>
            <a:lvl9pPr algn="l">
              <a:defRPr sz="4800" b="1">
                <a:solidFill>
                  <a:srgbClr val="067C75"/>
                </a:solidFill>
                <a:latin typeface="Arial"/>
                <a:ea typeface="Arial"/>
                <a:cs typeface="Arial"/>
              </a:defRPr>
            </a:lvl9pPr>
          </a:lstStyle>
          <a:p xmlns:a="http://schemas.openxmlformats.org/drawingml/2006/main">
            <a:pPr algn="l">
              <a:defRPr sz="4800" b="1">
                <a:solidFill>
                  <a:srgbClr val="067C75"/>
                </a:solidFill>
                <a:latin typeface="Arial"/>
                <a:ea typeface="Arial"/>
                <a:cs typeface="Arial"/>
              </a:defRPr>
            </a:pPr>
            <a:r>
              <a:rPr sz="4800" b="1">
                <a:solidFill>
                  <a:srgbClr val="067C75"/>
                </a:solidFill>
                <a:latin typeface="Arial"/>
                <a:ea typeface="Arial"/>
                <a:cs typeface="Arial"/>
              </a:rPr>
              <a:t>58</a:t>
            </a:r>
          </a:p>
        </p:txBody>
      </p:sp>
      <p:sp>
        <p:nvSpPr>
          <p:cNvPr id="8" name="shape-27">
            <a:extLst xmlns:a="http://schemas.openxmlformats.org/drawingml/2006/main">
              <a:ext uri="{FF2B5EF4-FFF2-40B4-BE49-F238E27FC236}">
                <a16:creationId xmlns:a16="http://schemas.microsoft.com/office/drawing/2014/main" id="{6EDC1FF0-BF91-4290-9E94-417E1D04F800}"/>
              </a:ext>
            </a:extLst>
          </p:cNvPr>
          <p:cNvSpPr>
            <a:spLocks xmlns:a="http://schemas.openxmlformats.org/drawingml/2006/main" noGrp="1"/>
          </p:cNvSpPr>
          <p:nvPr/>
        </p:nvSpPr>
        <p:spPr>
          <a:xfrm xmlns:a="http://schemas.openxmlformats.org/drawingml/2006/main">
            <a:off x="609600" y="2619375"/>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42D40"/>
                </a:solidFill>
                <a:latin typeface="Arial"/>
                <a:ea typeface="Arial"/>
                <a:cs typeface="Arial"/>
              </a:defRPr>
            </a:defPPr>
            <a:lvl1pPr algn="l">
              <a:defRPr sz="1800" b="0">
                <a:solidFill>
                  <a:srgbClr val="142D40"/>
                </a:solidFill>
                <a:latin typeface="Arial"/>
                <a:ea typeface="Arial"/>
                <a:cs typeface="Arial"/>
              </a:defRPr>
            </a:lvl1pPr>
            <a:lvl2pPr algn="l">
              <a:defRPr sz="1800" b="0">
                <a:solidFill>
                  <a:srgbClr val="142D40"/>
                </a:solidFill>
                <a:latin typeface="Arial"/>
                <a:ea typeface="Arial"/>
                <a:cs typeface="Arial"/>
              </a:defRPr>
            </a:lvl2pPr>
            <a:lvl3pPr algn="l">
              <a:defRPr sz="1800" b="0">
                <a:solidFill>
                  <a:srgbClr val="142D40"/>
                </a:solidFill>
                <a:latin typeface="Arial"/>
                <a:ea typeface="Arial"/>
                <a:cs typeface="Arial"/>
              </a:defRPr>
            </a:lvl3pPr>
            <a:lvl4pPr algn="l">
              <a:defRPr sz="1800" b="0">
                <a:solidFill>
                  <a:srgbClr val="142D40"/>
                </a:solidFill>
                <a:latin typeface="Arial"/>
                <a:ea typeface="Arial"/>
                <a:cs typeface="Arial"/>
              </a:defRPr>
            </a:lvl4pPr>
            <a:lvl5pPr algn="l">
              <a:defRPr sz="1800" b="0">
                <a:solidFill>
                  <a:srgbClr val="142D40"/>
                </a:solidFill>
                <a:latin typeface="Arial"/>
                <a:ea typeface="Arial"/>
                <a:cs typeface="Arial"/>
              </a:defRPr>
            </a:lvl5pPr>
            <a:lvl6pPr algn="l">
              <a:defRPr sz="1800" b="0">
                <a:solidFill>
                  <a:srgbClr val="142D40"/>
                </a:solidFill>
                <a:latin typeface="Arial"/>
                <a:ea typeface="Arial"/>
                <a:cs typeface="Arial"/>
              </a:defRPr>
            </a:lvl6pPr>
            <a:lvl7pPr algn="l">
              <a:defRPr sz="1800" b="0">
                <a:solidFill>
                  <a:srgbClr val="142D40"/>
                </a:solidFill>
                <a:latin typeface="Arial"/>
                <a:ea typeface="Arial"/>
                <a:cs typeface="Arial"/>
              </a:defRPr>
            </a:lvl7pPr>
            <a:lvl8pPr algn="l">
              <a:defRPr sz="1800" b="0">
                <a:solidFill>
                  <a:srgbClr val="142D40"/>
                </a:solidFill>
                <a:latin typeface="Arial"/>
                <a:ea typeface="Arial"/>
                <a:cs typeface="Arial"/>
              </a:defRPr>
            </a:lvl8pPr>
            <a:lvl9pPr algn="l">
              <a:defRPr sz="1800" b="0">
                <a:solidFill>
                  <a:srgbClr val="142D40"/>
                </a:solidFill>
                <a:latin typeface="Arial"/>
                <a:ea typeface="Arial"/>
                <a:cs typeface="Arial"/>
              </a:defRPr>
            </a:lvl9pPr>
          </a:lstStyle>
          <a:p xmlns:a="http://schemas.openxmlformats.org/drawingml/2006/main">
            <a:pPr algn="l">
              <a:defRPr sz="1800" b="0">
                <a:solidFill>
                  <a:srgbClr val="142D40"/>
                </a:solidFill>
                <a:latin typeface="Arial"/>
                <a:ea typeface="Arial"/>
                <a:cs typeface="Arial"/>
              </a:defRPr>
            </a:pPr>
            <a:r>
              <a:rPr sz="1800" b="0">
                <a:solidFill>
                  <a:srgbClr val="142D40"/>
                </a:solidFill>
                <a:latin typeface="Arial"/>
                <a:ea typeface="Arial"/>
                <a:cs typeface="Arial"/>
              </a:rPr>
              <a:t>streams</a:t>
            </a:r>
          </a:p>
        </p:txBody>
      </p:sp>
      <p:sp>
        <p:nvSpPr>
          <p:cNvPr id="9" name="shape-28">
            <a:extLst xmlns:a="http://schemas.openxmlformats.org/drawingml/2006/main">
              <a:ext uri="{FF2B5EF4-FFF2-40B4-BE49-F238E27FC236}">
                <a16:creationId xmlns:a16="http://schemas.microsoft.com/office/drawing/2014/main" id="{2DC672DD-5CFC-44DB-8309-A96381E6FBB6}"/>
              </a:ext>
            </a:extLst>
          </p:cNvPr>
          <p:cNvSpPr>
            <a:spLocks xmlns:a="http://schemas.openxmlformats.org/drawingml/2006/main" noGrp="1"/>
          </p:cNvSpPr>
          <p:nvPr/>
        </p:nvSpPr>
        <p:spPr>
          <a:xfrm xmlns:a="http://schemas.openxmlformats.org/drawingml/2006/main">
            <a:off x="4286250" y="1838325"/>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4800" b="1">
                <a:solidFill>
                  <a:srgbClr val="067C75"/>
                </a:solidFill>
                <a:latin typeface="Arial"/>
                <a:ea typeface="Arial"/>
                <a:cs typeface="Arial"/>
              </a:defRPr>
            </a:defPPr>
            <a:lvl1pPr algn="l">
              <a:defRPr sz="4800" b="1">
                <a:solidFill>
                  <a:srgbClr val="067C75"/>
                </a:solidFill>
                <a:latin typeface="Arial"/>
                <a:ea typeface="Arial"/>
                <a:cs typeface="Arial"/>
              </a:defRPr>
            </a:lvl1pPr>
            <a:lvl2pPr algn="l">
              <a:defRPr sz="4800" b="1">
                <a:solidFill>
                  <a:srgbClr val="067C75"/>
                </a:solidFill>
                <a:latin typeface="Arial"/>
                <a:ea typeface="Arial"/>
                <a:cs typeface="Arial"/>
              </a:defRPr>
            </a:lvl2pPr>
            <a:lvl3pPr algn="l">
              <a:defRPr sz="4800" b="1">
                <a:solidFill>
                  <a:srgbClr val="067C75"/>
                </a:solidFill>
                <a:latin typeface="Arial"/>
                <a:ea typeface="Arial"/>
                <a:cs typeface="Arial"/>
              </a:defRPr>
            </a:lvl3pPr>
            <a:lvl4pPr algn="l">
              <a:defRPr sz="4800" b="1">
                <a:solidFill>
                  <a:srgbClr val="067C75"/>
                </a:solidFill>
                <a:latin typeface="Arial"/>
                <a:ea typeface="Arial"/>
                <a:cs typeface="Arial"/>
              </a:defRPr>
            </a:lvl4pPr>
            <a:lvl5pPr algn="l">
              <a:defRPr sz="4800" b="1">
                <a:solidFill>
                  <a:srgbClr val="067C75"/>
                </a:solidFill>
                <a:latin typeface="Arial"/>
                <a:ea typeface="Arial"/>
                <a:cs typeface="Arial"/>
              </a:defRPr>
            </a:lvl5pPr>
            <a:lvl6pPr algn="l">
              <a:defRPr sz="4800" b="1">
                <a:solidFill>
                  <a:srgbClr val="067C75"/>
                </a:solidFill>
                <a:latin typeface="Arial"/>
                <a:ea typeface="Arial"/>
                <a:cs typeface="Arial"/>
              </a:defRPr>
            </a:lvl6pPr>
            <a:lvl7pPr algn="l">
              <a:defRPr sz="4800" b="1">
                <a:solidFill>
                  <a:srgbClr val="067C75"/>
                </a:solidFill>
                <a:latin typeface="Arial"/>
                <a:ea typeface="Arial"/>
                <a:cs typeface="Arial"/>
              </a:defRPr>
            </a:lvl7pPr>
            <a:lvl8pPr algn="l">
              <a:defRPr sz="4800" b="1">
                <a:solidFill>
                  <a:srgbClr val="067C75"/>
                </a:solidFill>
                <a:latin typeface="Arial"/>
                <a:ea typeface="Arial"/>
                <a:cs typeface="Arial"/>
              </a:defRPr>
            </a:lvl8pPr>
            <a:lvl9pPr algn="l">
              <a:defRPr sz="4800" b="1">
                <a:solidFill>
                  <a:srgbClr val="067C75"/>
                </a:solidFill>
                <a:latin typeface="Arial"/>
                <a:ea typeface="Arial"/>
                <a:cs typeface="Arial"/>
              </a:defRPr>
            </a:lvl9pPr>
          </a:lstStyle>
          <a:p xmlns:a="http://schemas.openxmlformats.org/drawingml/2006/main">
            <a:pPr algn="l">
              <a:defRPr sz="4800" b="1">
                <a:solidFill>
                  <a:srgbClr val="067C75"/>
                </a:solidFill>
                <a:latin typeface="Arial"/>
                <a:ea typeface="Arial"/>
                <a:cs typeface="Arial"/>
              </a:defRPr>
            </a:pPr>
            <a:r>
              <a:rPr sz="4800" b="1">
                <a:solidFill>
                  <a:srgbClr val="067C75"/>
                </a:solidFill>
                <a:latin typeface="Arial"/>
                <a:ea typeface="Arial"/>
                <a:cs typeface="Arial"/>
              </a:rPr>
              <a:t>365,509</a:t>
            </a:r>
          </a:p>
        </p:txBody>
      </p:sp>
      <p:sp>
        <p:nvSpPr>
          <p:cNvPr id="10" name="shape-29">
            <a:extLst xmlns:a="http://schemas.openxmlformats.org/drawingml/2006/main">
              <a:ext uri="{FF2B5EF4-FFF2-40B4-BE49-F238E27FC236}">
                <a16:creationId xmlns:a16="http://schemas.microsoft.com/office/drawing/2014/main" id="{96A51BB9-3ED5-43C3-A9E4-3F831C102D39}"/>
              </a:ext>
            </a:extLst>
          </p:cNvPr>
          <p:cNvSpPr>
            <a:spLocks xmlns:a="http://schemas.openxmlformats.org/drawingml/2006/main" noGrp="1"/>
          </p:cNvSpPr>
          <p:nvPr/>
        </p:nvSpPr>
        <p:spPr>
          <a:xfrm xmlns:a="http://schemas.openxmlformats.org/drawingml/2006/main">
            <a:off x="4286250" y="2619375"/>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42D40"/>
                </a:solidFill>
                <a:latin typeface="Arial"/>
                <a:ea typeface="Arial"/>
                <a:cs typeface="Arial"/>
              </a:defRPr>
            </a:defPPr>
            <a:lvl1pPr algn="l">
              <a:defRPr sz="1800" b="0">
                <a:solidFill>
                  <a:srgbClr val="142D40"/>
                </a:solidFill>
                <a:latin typeface="Arial"/>
                <a:ea typeface="Arial"/>
                <a:cs typeface="Arial"/>
              </a:defRPr>
            </a:lvl1pPr>
            <a:lvl2pPr algn="l">
              <a:defRPr sz="1800" b="0">
                <a:solidFill>
                  <a:srgbClr val="142D40"/>
                </a:solidFill>
                <a:latin typeface="Arial"/>
                <a:ea typeface="Arial"/>
                <a:cs typeface="Arial"/>
              </a:defRPr>
            </a:lvl2pPr>
            <a:lvl3pPr algn="l">
              <a:defRPr sz="1800" b="0">
                <a:solidFill>
                  <a:srgbClr val="142D40"/>
                </a:solidFill>
                <a:latin typeface="Arial"/>
                <a:ea typeface="Arial"/>
                <a:cs typeface="Arial"/>
              </a:defRPr>
            </a:lvl3pPr>
            <a:lvl4pPr algn="l">
              <a:defRPr sz="1800" b="0">
                <a:solidFill>
                  <a:srgbClr val="142D40"/>
                </a:solidFill>
                <a:latin typeface="Arial"/>
                <a:ea typeface="Arial"/>
                <a:cs typeface="Arial"/>
              </a:defRPr>
            </a:lvl4pPr>
            <a:lvl5pPr algn="l">
              <a:defRPr sz="1800" b="0">
                <a:solidFill>
                  <a:srgbClr val="142D40"/>
                </a:solidFill>
                <a:latin typeface="Arial"/>
                <a:ea typeface="Arial"/>
                <a:cs typeface="Arial"/>
              </a:defRPr>
            </a:lvl5pPr>
            <a:lvl6pPr algn="l">
              <a:defRPr sz="1800" b="0">
                <a:solidFill>
                  <a:srgbClr val="142D40"/>
                </a:solidFill>
                <a:latin typeface="Arial"/>
                <a:ea typeface="Arial"/>
                <a:cs typeface="Arial"/>
              </a:defRPr>
            </a:lvl6pPr>
            <a:lvl7pPr algn="l">
              <a:defRPr sz="1800" b="0">
                <a:solidFill>
                  <a:srgbClr val="142D40"/>
                </a:solidFill>
                <a:latin typeface="Arial"/>
                <a:ea typeface="Arial"/>
                <a:cs typeface="Arial"/>
              </a:defRPr>
            </a:lvl7pPr>
            <a:lvl8pPr algn="l">
              <a:defRPr sz="1800" b="0">
                <a:solidFill>
                  <a:srgbClr val="142D40"/>
                </a:solidFill>
                <a:latin typeface="Arial"/>
                <a:ea typeface="Arial"/>
                <a:cs typeface="Arial"/>
              </a:defRPr>
            </a:lvl8pPr>
            <a:lvl9pPr algn="l">
              <a:defRPr sz="1800" b="0">
                <a:solidFill>
                  <a:srgbClr val="142D40"/>
                </a:solidFill>
                <a:latin typeface="Arial"/>
                <a:ea typeface="Arial"/>
                <a:cs typeface="Arial"/>
              </a:defRPr>
            </a:lvl9pPr>
          </a:lstStyle>
          <a:p xmlns:a="http://schemas.openxmlformats.org/drawingml/2006/main">
            <a:pPr algn="l">
              <a:defRPr sz="1800" b="0">
                <a:solidFill>
                  <a:srgbClr val="142D40"/>
                </a:solidFill>
                <a:latin typeface="Arial"/>
                <a:ea typeface="Arial"/>
                <a:cs typeface="Arial"/>
              </a:defRPr>
            </a:pPr>
            <a:r>
              <a:rPr sz="1800" b="0">
                <a:solidFill>
                  <a:srgbClr val="142D40"/>
                </a:solidFill>
                <a:latin typeface="Arial"/>
                <a:ea typeface="Arial"/>
                <a:cs typeface="Arial"/>
              </a:rPr>
              <a:t>normalized readings</a:t>
            </a:r>
          </a:p>
        </p:txBody>
      </p:sp>
      <p:sp>
        <p:nvSpPr>
          <p:cNvPr id="11" name="shape-30">
            <a:extLst xmlns:a="http://schemas.openxmlformats.org/drawingml/2006/main">
              <a:ext uri="{FF2B5EF4-FFF2-40B4-BE49-F238E27FC236}">
                <a16:creationId xmlns:a16="http://schemas.microsoft.com/office/drawing/2014/main" id="{DCE6EA99-3F1D-40F6-BA22-B3B331455B7F}"/>
              </a:ext>
            </a:extLst>
          </p:cNvPr>
          <p:cNvSpPr>
            <a:spLocks xmlns:a="http://schemas.openxmlformats.org/drawingml/2006/main" noGrp="1"/>
          </p:cNvSpPr>
          <p:nvPr/>
        </p:nvSpPr>
        <p:spPr>
          <a:xfrm xmlns:a="http://schemas.openxmlformats.org/drawingml/2006/main">
            <a:off x="8858250" y="1838325"/>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4800" b="1">
                <a:solidFill>
                  <a:srgbClr val="067C75"/>
                </a:solidFill>
                <a:latin typeface="Arial"/>
                <a:ea typeface="Arial"/>
                <a:cs typeface="Arial"/>
              </a:defRPr>
            </a:defPPr>
            <a:lvl1pPr algn="l">
              <a:defRPr sz="4800" b="1">
                <a:solidFill>
                  <a:srgbClr val="067C75"/>
                </a:solidFill>
                <a:latin typeface="Arial"/>
                <a:ea typeface="Arial"/>
                <a:cs typeface="Arial"/>
              </a:defRPr>
            </a:lvl1pPr>
            <a:lvl2pPr algn="l">
              <a:defRPr sz="4800" b="1">
                <a:solidFill>
                  <a:srgbClr val="067C75"/>
                </a:solidFill>
                <a:latin typeface="Arial"/>
                <a:ea typeface="Arial"/>
                <a:cs typeface="Arial"/>
              </a:defRPr>
            </a:lvl2pPr>
            <a:lvl3pPr algn="l">
              <a:defRPr sz="4800" b="1">
                <a:solidFill>
                  <a:srgbClr val="067C75"/>
                </a:solidFill>
                <a:latin typeface="Arial"/>
                <a:ea typeface="Arial"/>
                <a:cs typeface="Arial"/>
              </a:defRPr>
            </a:lvl3pPr>
            <a:lvl4pPr algn="l">
              <a:defRPr sz="4800" b="1">
                <a:solidFill>
                  <a:srgbClr val="067C75"/>
                </a:solidFill>
                <a:latin typeface="Arial"/>
                <a:ea typeface="Arial"/>
                <a:cs typeface="Arial"/>
              </a:defRPr>
            </a:lvl4pPr>
            <a:lvl5pPr algn="l">
              <a:defRPr sz="4800" b="1">
                <a:solidFill>
                  <a:srgbClr val="067C75"/>
                </a:solidFill>
                <a:latin typeface="Arial"/>
                <a:ea typeface="Arial"/>
                <a:cs typeface="Arial"/>
              </a:defRPr>
            </a:lvl5pPr>
            <a:lvl6pPr algn="l">
              <a:defRPr sz="4800" b="1">
                <a:solidFill>
                  <a:srgbClr val="067C75"/>
                </a:solidFill>
                <a:latin typeface="Arial"/>
                <a:ea typeface="Arial"/>
                <a:cs typeface="Arial"/>
              </a:defRPr>
            </a:lvl6pPr>
            <a:lvl7pPr algn="l">
              <a:defRPr sz="4800" b="1">
                <a:solidFill>
                  <a:srgbClr val="067C75"/>
                </a:solidFill>
                <a:latin typeface="Arial"/>
                <a:ea typeface="Arial"/>
                <a:cs typeface="Arial"/>
              </a:defRPr>
            </a:lvl7pPr>
            <a:lvl8pPr algn="l">
              <a:defRPr sz="4800" b="1">
                <a:solidFill>
                  <a:srgbClr val="067C75"/>
                </a:solidFill>
                <a:latin typeface="Arial"/>
                <a:ea typeface="Arial"/>
                <a:cs typeface="Arial"/>
              </a:defRPr>
            </a:lvl8pPr>
            <a:lvl9pPr algn="l">
              <a:defRPr sz="4800" b="1">
                <a:solidFill>
                  <a:srgbClr val="067C75"/>
                </a:solidFill>
                <a:latin typeface="Arial"/>
                <a:ea typeface="Arial"/>
                <a:cs typeface="Arial"/>
              </a:defRPr>
            </a:lvl9pPr>
          </a:lstStyle>
          <a:p xmlns:a="http://schemas.openxmlformats.org/drawingml/2006/main">
            <a:pPr algn="l">
              <a:defRPr sz="4800" b="1">
                <a:solidFill>
                  <a:srgbClr val="067C75"/>
                </a:solidFill>
                <a:latin typeface="Arial"/>
                <a:ea typeface="Arial"/>
                <a:cs typeface="Arial"/>
              </a:defRPr>
            </a:pPr>
            <a:r>
              <a:rPr sz="4800" b="1">
                <a:solidFill>
                  <a:srgbClr val="067C75"/>
                </a:solidFill>
                <a:latin typeface="Arial"/>
                <a:ea typeface="Arial"/>
                <a:cs typeface="Arial"/>
              </a:rPr>
              <a:t>49</a:t>
            </a:r>
          </a:p>
        </p:txBody>
      </p:sp>
      <p:sp>
        <p:nvSpPr>
          <p:cNvPr id="12" name="shape-31">
            <a:extLst xmlns:a="http://schemas.openxmlformats.org/drawingml/2006/main">
              <a:ext uri="{FF2B5EF4-FFF2-40B4-BE49-F238E27FC236}">
                <a16:creationId xmlns:a16="http://schemas.microsoft.com/office/drawing/2014/main" id="{CC0DAEA8-FD0C-4BF9-8487-1A39EBCC68B0}"/>
              </a:ext>
            </a:extLst>
          </p:cNvPr>
          <p:cNvSpPr>
            <a:spLocks xmlns:a="http://schemas.openxmlformats.org/drawingml/2006/main" noGrp="1"/>
          </p:cNvSpPr>
          <p:nvPr/>
        </p:nvSpPr>
        <p:spPr>
          <a:xfrm xmlns:a="http://schemas.openxmlformats.org/drawingml/2006/main">
            <a:off x="8858250" y="261937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42D40"/>
                </a:solidFill>
                <a:latin typeface="Arial"/>
                <a:ea typeface="Arial"/>
                <a:cs typeface="Arial"/>
              </a:defRPr>
            </a:defPPr>
            <a:lvl1pPr algn="l">
              <a:defRPr sz="1800" b="0">
                <a:solidFill>
                  <a:srgbClr val="142D40"/>
                </a:solidFill>
                <a:latin typeface="Arial"/>
                <a:ea typeface="Arial"/>
                <a:cs typeface="Arial"/>
              </a:defRPr>
            </a:lvl1pPr>
            <a:lvl2pPr algn="l">
              <a:defRPr sz="1800" b="0">
                <a:solidFill>
                  <a:srgbClr val="142D40"/>
                </a:solidFill>
                <a:latin typeface="Arial"/>
                <a:ea typeface="Arial"/>
                <a:cs typeface="Arial"/>
              </a:defRPr>
            </a:lvl2pPr>
            <a:lvl3pPr algn="l">
              <a:defRPr sz="1800" b="0">
                <a:solidFill>
                  <a:srgbClr val="142D40"/>
                </a:solidFill>
                <a:latin typeface="Arial"/>
                <a:ea typeface="Arial"/>
                <a:cs typeface="Arial"/>
              </a:defRPr>
            </a:lvl3pPr>
            <a:lvl4pPr algn="l">
              <a:defRPr sz="1800" b="0">
                <a:solidFill>
                  <a:srgbClr val="142D40"/>
                </a:solidFill>
                <a:latin typeface="Arial"/>
                <a:ea typeface="Arial"/>
                <a:cs typeface="Arial"/>
              </a:defRPr>
            </a:lvl4pPr>
            <a:lvl5pPr algn="l">
              <a:defRPr sz="1800" b="0">
                <a:solidFill>
                  <a:srgbClr val="142D40"/>
                </a:solidFill>
                <a:latin typeface="Arial"/>
                <a:ea typeface="Arial"/>
                <a:cs typeface="Arial"/>
              </a:defRPr>
            </a:lvl5pPr>
            <a:lvl6pPr algn="l">
              <a:defRPr sz="1800" b="0">
                <a:solidFill>
                  <a:srgbClr val="142D40"/>
                </a:solidFill>
                <a:latin typeface="Arial"/>
                <a:ea typeface="Arial"/>
                <a:cs typeface="Arial"/>
              </a:defRPr>
            </a:lvl6pPr>
            <a:lvl7pPr algn="l">
              <a:defRPr sz="1800" b="0">
                <a:solidFill>
                  <a:srgbClr val="142D40"/>
                </a:solidFill>
                <a:latin typeface="Arial"/>
                <a:ea typeface="Arial"/>
                <a:cs typeface="Arial"/>
              </a:defRPr>
            </a:lvl7pPr>
            <a:lvl8pPr algn="l">
              <a:defRPr sz="1800" b="0">
                <a:solidFill>
                  <a:srgbClr val="142D40"/>
                </a:solidFill>
                <a:latin typeface="Arial"/>
                <a:ea typeface="Arial"/>
                <a:cs typeface="Arial"/>
              </a:defRPr>
            </a:lvl8pPr>
            <a:lvl9pPr algn="l">
              <a:defRPr sz="1800" b="0">
                <a:solidFill>
                  <a:srgbClr val="142D40"/>
                </a:solidFill>
                <a:latin typeface="Arial"/>
                <a:ea typeface="Arial"/>
                <a:cs typeface="Arial"/>
              </a:defRPr>
            </a:lvl9pPr>
          </a:lstStyle>
          <a:p xmlns:a="http://schemas.openxmlformats.org/drawingml/2006/main">
            <a:pPr algn="l">
              <a:defRPr sz="1800" b="0">
                <a:solidFill>
                  <a:srgbClr val="142D40"/>
                </a:solidFill>
                <a:latin typeface="Arial"/>
                <a:ea typeface="Arial"/>
                <a:cs typeface="Arial"/>
              </a:defRPr>
            </a:pPr>
            <a:r>
              <a:rPr sz="1800" b="0">
                <a:solidFill>
                  <a:srgbClr val="142D40"/>
                </a:solidFill>
                <a:latin typeface="Arial"/>
                <a:ea typeface="Arial"/>
                <a:cs typeface="Arial"/>
              </a:rPr>
              <a:t>duplicate rows removed</a:t>
            </a:r>
          </a:p>
        </p:txBody>
      </p:sp>
      <p:sp>
        <p:nvSpPr>
          <p:cNvPr id="13" name="shape-32">
            <a:extLst xmlns:a="http://schemas.openxmlformats.org/drawingml/2006/main">
              <a:ext uri="{FF2B5EF4-FFF2-40B4-BE49-F238E27FC236}">
                <a16:creationId xmlns:a16="http://schemas.microsoft.com/office/drawing/2014/main" id="{2D6540F6-8917-4534-9094-DE184F2ACE97}"/>
              </a:ext>
            </a:extLst>
          </p:cNvPr>
          <p:cNvSpPr>
            <a:spLocks xmlns:a="http://schemas.openxmlformats.org/drawingml/2006/main" noGrp="1"/>
          </p:cNvSpPr>
          <p:nvPr/>
        </p:nvSpPr>
        <p:spPr>
          <a:xfrm xmlns:a="http://schemas.openxmlformats.org/drawingml/2006/main">
            <a:off x="609600" y="347662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142D40"/>
                </a:solidFill>
                <a:latin typeface="Arial"/>
                <a:ea typeface="Arial"/>
                <a:cs typeface="Arial"/>
              </a:defRPr>
            </a:defPPr>
            <a:lvl1pPr algn="l">
              <a:defRPr sz="2100" b="1">
                <a:solidFill>
                  <a:srgbClr val="142D40"/>
                </a:solidFill>
                <a:latin typeface="Arial"/>
                <a:ea typeface="Arial"/>
                <a:cs typeface="Arial"/>
              </a:defRPr>
            </a:lvl1pPr>
            <a:lvl2pPr algn="l">
              <a:defRPr sz="2100" b="1">
                <a:solidFill>
                  <a:srgbClr val="142D40"/>
                </a:solidFill>
                <a:latin typeface="Arial"/>
                <a:ea typeface="Arial"/>
                <a:cs typeface="Arial"/>
              </a:defRPr>
            </a:lvl2pPr>
            <a:lvl3pPr algn="l">
              <a:defRPr sz="2100" b="1">
                <a:solidFill>
                  <a:srgbClr val="142D40"/>
                </a:solidFill>
                <a:latin typeface="Arial"/>
                <a:ea typeface="Arial"/>
                <a:cs typeface="Arial"/>
              </a:defRPr>
            </a:lvl3pPr>
            <a:lvl4pPr algn="l">
              <a:defRPr sz="2100" b="1">
                <a:solidFill>
                  <a:srgbClr val="142D40"/>
                </a:solidFill>
                <a:latin typeface="Arial"/>
                <a:ea typeface="Arial"/>
                <a:cs typeface="Arial"/>
              </a:defRPr>
            </a:lvl4pPr>
            <a:lvl5pPr algn="l">
              <a:defRPr sz="2100" b="1">
                <a:solidFill>
                  <a:srgbClr val="142D40"/>
                </a:solidFill>
                <a:latin typeface="Arial"/>
                <a:ea typeface="Arial"/>
                <a:cs typeface="Arial"/>
              </a:defRPr>
            </a:lvl5pPr>
            <a:lvl6pPr algn="l">
              <a:defRPr sz="2100" b="1">
                <a:solidFill>
                  <a:srgbClr val="142D40"/>
                </a:solidFill>
                <a:latin typeface="Arial"/>
                <a:ea typeface="Arial"/>
                <a:cs typeface="Arial"/>
              </a:defRPr>
            </a:lvl6pPr>
            <a:lvl7pPr algn="l">
              <a:defRPr sz="2100" b="1">
                <a:solidFill>
                  <a:srgbClr val="142D40"/>
                </a:solidFill>
                <a:latin typeface="Arial"/>
                <a:ea typeface="Arial"/>
                <a:cs typeface="Arial"/>
              </a:defRPr>
            </a:lvl7pPr>
            <a:lvl8pPr algn="l">
              <a:defRPr sz="2100" b="1">
                <a:solidFill>
                  <a:srgbClr val="142D40"/>
                </a:solidFill>
                <a:latin typeface="Arial"/>
                <a:ea typeface="Arial"/>
                <a:cs typeface="Arial"/>
              </a:defRPr>
            </a:lvl8pPr>
            <a:lvl9pPr algn="l">
              <a:defRPr sz="2100" b="1">
                <a:solidFill>
                  <a:srgbClr val="142D40"/>
                </a:solidFill>
                <a:latin typeface="Arial"/>
                <a:ea typeface="Arial"/>
                <a:cs typeface="Arial"/>
              </a:defRPr>
            </a:lvl9pPr>
          </a:lstStyle>
          <a:p xmlns:a="http://schemas.openxmlformats.org/drawingml/2006/main">
            <a:pPr algn="l">
              <a:defRPr sz="2100" b="1">
                <a:solidFill>
                  <a:srgbClr val="142D40"/>
                </a:solidFill>
                <a:latin typeface="Arial"/>
                <a:ea typeface="Arial"/>
                <a:cs typeface="Arial"/>
              </a:defRPr>
            </a:pPr>
            <a:r>
              <a:rPr sz="2100" b="1">
                <a:solidFill>
                  <a:srgbClr val="142D40"/>
                </a:solidFill>
                <a:latin typeface="Arial"/>
                <a:ea typeface="Arial"/>
                <a:cs typeface="Arial"/>
              </a:rPr>
              <a:t>Preprocessing</a:t>
            </a:r>
          </a:p>
        </p:txBody>
      </p:sp>
      <p:sp>
        <p:nvSpPr>
          <p:cNvPr id="14" name="shape-33">
            <a:extLst xmlns:a="http://schemas.openxmlformats.org/drawingml/2006/main">
              <a:ext uri="{FF2B5EF4-FFF2-40B4-BE49-F238E27FC236}">
                <a16:creationId xmlns:a16="http://schemas.microsoft.com/office/drawing/2014/main" id="{CDA55CA6-95DF-495C-BDD4-BF7FBA0DCCE1}"/>
              </a:ext>
            </a:extLst>
          </p:cNvPr>
          <p:cNvSpPr>
            <a:spLocks xmlns:a="http://schemas.openxmlformats.org/drawingml/2006/main" noGrp="1"/>
          </p:cNvSpPr>
          <p:nvPr/>
        </p:nvSpPr>
        <p:spPr>
          <a:xfrm xmlns:a="http://schemas.openxmlformats.org/drawingml/2006/main">
            <a:off x="609600" y="4019550"/>
            <a:ext cx="5238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Parse timestamps → stable sort → keep first duplicate.</a:t>
            </a:r>
          </a:p>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Retain timestamp/value alignment and anomaly windows.</a:t>
            </a:r>
          </a:p>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Streaming: forward-fill context; exclude missing targets.</a:t>
            </a:r>
          </a:p>
        </p:txBody>
      </p:sp>
      <p:sp>
        <p:nvSpPr>
          <p:cNvPr id="15" name="shape-34">
            <a:extLst xmlns:a="http://schemas.openxmlformats.org/drawingml/2006/main">
              <a:ext uri="{FF2B5EF4-FFF2-40B4-BE49-F238E27FC236}">
                <a16:creationId xmlns:a16="http://schemas.microsoft.com/office/drawing/2014/main" id="{706740CF-9B5C-40A5-8A6D-BFF153397110}"/>
              </a:ext>
            </a:extLst>
          </p:cNvPr>
          <p:cNvSpPr>
            <a:spLocks xmlns:a="http://schemas.openxmlformats.org/drawingml/2006/main" noGrp="1"/>
          </p:cNvSpPr>
          <p:nvPr/>
        </p:nvSpPr>
        <p:spPr>
          <a:xfrm xmlns:a="http://schemas.openxmlformats.org/drawingml/2006/main">
            <a:off x="6477000" y="347662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142D40"/>
                </a:solidFill>
                <a:latin typeface="Arial"/>
                <a:ea typeface="Arial"/>
                <a:cs typeface="Arial"/>
              </a:defRPr>
            </a:defPPr>
            <a:lvl1pPr algn="l">
              <a:defRPr sz="2100" b="1">
                <a:solidFill>
                  <a:srgbClr val="142D40"/>
                </a:solidFill>
                <a:latin typeface="Arial"/>
                <a:ea typeface="Arial"/>
                <a:cs typeface="Arial"/>
              </a:defRPr>
            </a:lvl1pPr>
            <a:lvl2pPr algn="l">
              <a:defRPr sz="2100" b="1">
                <a:solidFill>
                  <a:srgbClr val="142D40"/>
                </a:solidFill>
                <a:latin typeface="Arial"/>
                <a:ea typeface="Arial"/>
                <a:cs typeface="Arial"/>
              </a:defRPr>
            </a:lvl2pPr>
            <a:lvl3pPr algn="l">
              <a:defRPr sz="2100" b="1">
                <a:solidFill>
                  <a:srgbClr val="142D40"/>
                </a:solidFill>
                <a:latin typeface="Arial"/>
                <a:ea typeface="Arial"/>
                <a:cs typeface="Arial"/>
              </a:defRPr>
            </a:lvl3pPr>
            <a:lvl4pPr algn="l">
              <a:defRPr sz="2100" b="1">
                <a:solidFill>
                  <a:srgbClr val="142D40"/>
                </a:solidFill>
                <a:latin typeface="Arial"/>
                <a:ea typeface="Arial"/>
                <a:cs typeface="Arial"/>
              </a:defRPr>
            </a:lvl4pPr>
            <a:lvl5pPr algn="l">
              <a:defRPr sz="2100" b="1">
                <a:solidFill>
                  <a:srgbClr val="142D40"/>
                </a:solidFill>
                <a:latin typeface="Arial"/>
                <a:ea typeface="Arial"/>
                <a:cs typeface="Arial"/>
              </a:defRPr>
            </a:lvl5pPr>
            <a:lvl6pPr algn="l">
              <a:defRPr sz="2100" b="1">
                <a:solidFill>
                  <a:srgbClr val="142D40"/>
                </a:solidFill>
                <a:latin typeface="Arial"/>
                <a:ea typeface="Arial"/>
                <a:cs typeface="Arial"/>
              </a:defRPr>
            </a:lvl6pPr>
            <a:lvl7pPr algn="l">
              <a:defRPr sz="2100" b="1">
                <a:solidFill>
                  <a:srgbClr val="142D40"/>
                </a:solidFill>
                <a:latin typeface="Arial"/>
                <a:ea typeface="Arial"/>
                <a:cs typeface="Arial"/>
              </a:defRPr>
            </a:lvl7pPr>
            <a:lvl8pPr algn="l">
              <a:defRPr sz="2100" b="1">
                <a:solidFill>
                  <a:srgbClr val="142D40"/>
                </a:solidFill>
                <a:latin typeface="Arial"/>
                <a:ea typeface="Arial"/>
                <a:cs typeface="Arial"/>
              </a:defRPr>
            </a:lvl8pPr>
            <a:lvl9pPr algn="l">
              <a:defRPr sz="2100" b="1">
                <a:solidFill>
                  <a:srgbClr val="142D40"/>
                </a:solidFill>
                <a:latin typeface="Arial"/>
                <a:ea typeface="Arial"/>
                <a:cs typeface="Arial"/>
              </a:defRPr>
            </a:lvl9pPr>
          </a:lstStyle>
          <a:p xmlns:a="http://schemas.openxmlformats.org/drawingml/2006/main">
            <a:pPr algn="l">
              <a:defRPr sz="2100" b="1">
                <a:solidFill>
                  <a:srgbClr val="142D40"/>
                </a:solidFill>
                <a:latin typeface="Arial"/>
                <a:ea typeface="Arial"/>
                <a:cs typeface="Arial"/>
              </a:defRPr>
            </a:pPr>
            <a:r>
              <a:rPr sz="2100" b="1">
                <a:solidFill>
                  <a:srgbClr val="142D40"/>
                </a:solidFill>
                <a:latin typeface="Arial"/>
                <a:ea typeface="Arial"/>
                <a:cs typeface="Arial"/>
              </a:rPr>
              <a:t>Evaluation coverage</a:t>
            </a:r>
          </a:p>
        </p:txBody>
      </p:sp>
      <p:sp>
        <p:nvSpPr>
          <p:cNvPr id="16" name="shape-35">
            <a:extLst xmlns:a="http://schemas.openxmlformats.org/drawingml/2006/main">
              <a:ext uri="{FF2B5EF4-FFF2-40B4-BE49-F238E27FC236}">
                <a16:creationId xmlns:a16="http://schemas.microsoft.com/office/drawing/2014/main" id="{F4056B8A-18B9-48DB-9D37-651482616819}"/>
              </a:ext>
            </a:extLst>
          </p:cNvPr>
          <p:cNvSpPr>
            <a:spLocks xmlns:a="http://schemas.openxmlformats.org/drawingml/2006/main" noGrp="1"/>
          </p:cNvSpPr>
          <p:nvPr/>
        </p:nvSpPr>
        <p:spPr>
          <a:xfrm xmlns:a="http://schemas.openxmlformats.org/drawingml/2006/main">
            <a:off x="6477000" y="4019550"/>
            <a:ext cx="509587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52 streams support two-class offline metrics.</a:t>
            </a:r>
          </a:p>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6 all-normal streams have undefined benchmark F1.</a:t>
            </a:r>
          </a:p>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Source groups: AWS, traffic, tweets, ads, known causes and synthetic signals.</a:t>
            </a:r>
          </a:p>
        </p:txBody>
      </p:sp>
    </p:spTree>
    <p:extLst>
      <p:ext uri="{BB962C8B-B14F-4D97-AF65-F5344CB8AC3E}">
        <p14:creationId xmlns:p14="http://schemas.microsoft.com/office/powerpoint/2010/main" val="16813182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36">
            <a:extLst xmlns:a="http://schemas.openxmlformats.org/drawingml/2006/main">
              <a:ext uri="{FF2B5EF4-FFF2-40B4-BE49-F238E27FC236}">
                <a16:creationId xmlns:a16="http://schemas.microsoft.com/office/drawing/2014/main" id="{B1DE9CB6-2B87-4C8A-B6EE-B5DFA59EA4F9}"/>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System design</a:t>
            </a:r>
          </a:p>
        </p:txBody>
      </p:sp>
      <p:sp>
        <p:nvSpPr>
          <p:cNvPr id="3" name="shape-37">
            <a:extLst xmlns:a="http://schemas.openxmlformats.org/drawingml/2006/main">
              <a:ext uri="{FF2B5EF4-FFF2-40B4-BE49-F238E27FC236}">
                <a16:creationId xmlns:a16="http://schemas.microsoft.com/office/drawing/2014/main" id="{12ED3D16-825F-4A80-BDC1-32C303E04796}"/>
              </a:ext>
            </a:extLst>
          </p:cNvPr>
          <p:cNvSpPr>
            <a:spLocks xmlns:a="http://schemas.openxmlformats.org/drawingml/2006/main" noGrp="1"/>
          </p:cNvSpPr>
          <p:nvPr/>
        </p:nvSpPr>
        <p:spPr>
          <a:xfrm xmlns:a="http://schemas.openxmlformats.org/drawingml/2006/main">
            <a:off x="609600" y="11239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The operational pipeline and offline comparison answer different evaluation questions.</a:t>
            </a:r>
          </a:p>
        </p:txBody>
      </p:sp>
      <p:sp>
        <p:nvSpPr>
          <p:cNvPr id="4" name="shape-38">
            <a:extLst xmlns:a="http://schemas.openxmlformats.org/drawingml/2006/main">
              <a:ext uri="{FF2B5EF4-FFF2-40B4-BE49-F238E27FC236}">
                <a16:creationId xmlns:a16="http://schemas.microsoft.com/office/drawing/2014/main" id="{079B115D-DA82-4400-A6F6-9A58DBB1E1E1}"/>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5" name="shape-39">
            <a:extLst xmlns:a="http://schemas.openxmlformats.org/drawingml/2006/main">
              <a:ext uri="{FF2B5EF4-FFF2-40B4-BE49-F238E27FC236}">
                <a16:creationId xmlns:a16="http://schemas.microsoft.com/office/drawing/2014/main" id="{BF7DE6B4-5BE7-4C3B-9EFD-005687966031}"/>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6" name="shape-40">
            <a:extLst xmlns:a="http://schemas.openxmlformats.org/drawingml/2006/main">
              <a:ext uri="{FF2B5EF4-FFF2-40B4-BE49-F238E27FC236}">
                <a16:creationId xmlns:a16="http://schemas.microsoft.com/office/drawing/2014/main" id="{C862C1D6-A9EF-48BA-8735-CCCDE65223EF}"/>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04 / 10</a:t>
            </a:r>
          </a:p>
        </p:txBody>
      </p:sp>
      <p:sp>
        <p:nvSpPr>
          <p:cNvPr id="7" name="shape-41">
            <a:extLst xmlns:a="http://schemas.openxmlformats.org/drawingml/2006/main">
              <a:ext uri="{FF2B5EF4-FFF2-40B4-BE49-F238E27FC236}">
                <a16:creationId xmlns:a16="http://schemas.microsoft.com/office/drawing/2014/main" id="{9D2D8B4C-5523-4F10-AC6F-5581C40A4138}"/>
              </a:ext>
            </a:extLst>
          </p:cNvPr>
          <p:cNvSpPr>
            <a:spLocks xmlns:a="http://schemas.openxmlformats.org/drawingml/2006/main" noGrp="1"/>
          </p:cNvSpPr>
          <p:nvPr/>
        </p:nvSpPr>
        <p:spPr>
          <a:xfrm xmlns:a="http://schemas.openxmlformats.org/drawingml/2006/main">
            <a:off x="609600" y="2143125"/>
            <a:ext cx="2476500" cy="1190625"/>
          </a:xfrm>
          <a:prstGeom xmlns:a="http://schemas.openxmlformats.org/drawingml/2006/main" prst="rect">
            <a:avLst/>
          </a:prstGeom>
          <a:solidFill xmlns:a="http://schemas.openxmlformats.org/drawingml/2006/main">
            <a:srgbClr val="F2F6F7"/>
          </a:solidFill>
          <a:ln xmlns:a="http://schemas.openxmlformats.org/drawingml/2006/main" w="9525">
            <a:solidFill>
              <a:srgbClr val="D7E2E7"/>
            </a:solidFill>
            <a:prstDash val="solid"/>
          </a:ln>
        </p:spPr>
      </p:sp>
      <p:sp>
        <p:nvSpPr>
          <p:cNvPr id="8" name="shape-42">
            <a:extLst xmlns:a="http://schemas.openxmlformats.org/drawingml/2006/main">
              <a:ext uri="{FF2B5EF4-FFF2-40B4-BE49-F238E27FC236}">
                <a16:creationId xmlns:a16="http://schemas.microsoft.com/office/drawing/2014/main" id="{BE94EA2C-E768-4B2B-AF6A-FC9F8975C9B2}"/>
              </a:ext>
            </a:extLst>
          </p:cNvPr>
          <p:cNvSpPr>
            <a:spLocks xmlns:a="http://schemas.openxmlformats.org/drawingml/2006/main" noGrp="1"/>
          </p:cNvSpPr>
          <p:nvPr/>
        </p:nvSpPr>
        <p:spPr>
          <a:xfrm xmlns:a="http://schemas.openxmlformats.org/drawingml/2006/main">
            <a:off x="762000" y="2333625"/>
            <a:ext cx="2171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067C75"/>
                </a:solidFill>
                <a:latin typeface="Arial"/>
                <a:ea typeface="Arial"/>
                <a:cs typeface="Arial"/>
              </a:defRPr>
            </a:defPPr>
            <a:lvl1pPr algn="l">
              <a:defRPr sz="1950" b="1">
                <a:solidFill>
                  <a:srgbClr val="067C75"/>
                </a:solidFill>
                <a:latin typeface="Arial"/>
                <a:ea typeface="Arial"/>
                <a:cs typeface="Arial"/>
              </a:defRPr>
            </a:lvl1pPr>
            <a:lvl2pPr algn="l">
              <a:defRPr sz="1950" b="1">
                <a:solidFill>
                  <a:srgbClr val="067C75"/>
                </a:solidFill>
                <a:latin typeface="Arial"/>
                <a:ea typeface="Arial"/>
                <a:cs typeface="Arial"/>
              </a:defRPr>
            </a:lvl2pPr>
            <a:lvl3pPr algn="l">
              <a:defRPr sz="1950" b="1">
                <a:solidFill>
                  <a:srgbClr val="067C75"/>
                </a:solidFill>
                <a:latin typeface="Arial"/>
                <a:ea typeface="Arial"/>
                <a:cs typeface="Arial"/>
              </a:defRPr>
            </a:lvl3pPr>
            <a:lvl4pPr algn="l">
              <a:defRPr sz="1950" b="1">
                <a:solidFill>
                  <a:srgbClr val="067C75"/>
                </a:solidFill>
                <a:latin typeface="Arial"/>
                <a:ea typeface="Arial"/>
                <a:cs typeface="Arial"/>
              </a:defRPr>
            </a:lvl4pPr>
            <a:lvl5pPr algn="l">
              <a:defRPr sz="1950" b="1">
                <a:solidFill>
                  <a:srgbClr val="067C75"/>
                </a:solidFill>
                <a:latin typeface="Arial"/>
                <a:ea typeface="Arial"/>
                <a:cs typeface="Arial"/>
              </a:defRPr>
            </a:lvl5pPr>
            <a:lvl6pPr algn="l">
              <a:defRPr sz="1950" b="1">
                <a:solidFill>
                  <a:srgbClr val="067C75"/>
                </a:solidFill>
                <a:latin typeface="Arial"/>
                <a:ea typeface="Arial"/>
                <a:cs typeface="Arial"/>
              </a:defRPr>
            </a:lvl6pPr>
            <a:lvl7pPr algn="l">
              <a:defRPr sz="1950" b="1">
                <a:solidFill>
                  <a:srgbClr val="067C75"/>
                </a:solidFill>
                <a:latin typeface="Arial"/>
                <a:ea typeface="Arial"/>
                <a:cs typeface="Arial"/>
              </a:defRPr>
            </a:lvl7pPr>
            <a:lvl8pPr algn="l">
              <a:defRPr sz="1950" b="1">
                <a:solidFill>
                  <a:srgbClr val="067C75"/>
                </a:solidFill>
                <a:latin typeface="Arial"/>
                <a:ea typeface="Arial"/>
                <a:cs typeface="Arial"/>
              </a:defRPr>
            </a:lvl8pPr>
            <a:lvl9pPr algn="l">
              <a:defRPr sz="1950" b="1">
                <a:solidFill>
                  <a:srgbClr val="067C75"/>
                </a:solidFill>
                <a:latin typeface="Arial"/>
                <a:ea typeface="Arial"/>
                <a:cs typeface="Arial"/>
              </a:defRPr>
            </a:lvl9pPr>
          </a:lstStyle>
          <a:p xmlns:a="http://schemas.openxmlformats.org/drawingml/2006/main">
            <a:pPr algn="l">
              <a:defRPr sz="1950" b="1">
                <a:solidFill>
                  <a:srgbClr val="067C75"/>
                </a:solidFill>
                <a:latin typeface="Arial"/>
                <a:ea typeface="Arial"/>
                <a:cs typeface="Arial"/>
              </a:defRPr>
            </a:pPr>
            <a:r>
              <a:rPr sz="1950" b="1">
                <a:solidFill>
                  <a:srgbClr val="067C75"/>
                </a:solidFill>
                <a:latin typeface="Arial"/>
                <a:ea typeface="Arial"/>
                <a:cs typeface="Arial"/>
              </a:rPr>
              <a:t>Ingest</a:t>
            </a:r>
          </a:p>
        </p:txBody>
      </p:sp>
      <p:sp>
        <p:nvSpPr>
          <p:cNvPr id="9" name="shape-43">
            <a:extLst xmlns:a="http://schemas.openxmlformats.org/drawingml/2006/main">
              <a:ext uri="{FF2B5EF4-FFF2-40B4-BE49-F238E27FC236}">
                <a16:creationId xmlns:a16="http://schemas.microsoft.com/office/drawing/2014/main" id="{192E519E-B99E-4877-8935-41139B72E974}"/>
              </a:ext>
            </a:extLst>
          </p:cNvPr>
          <p:cNvSpPr>
            <a:spLocks xmlns:a="http://schemas.openxmlformats.org/drawingml/2006/main" noGrp="1"/>
          </p:cNvSpPr>
          <p:nvPr/>
        </p:nvSpPr>
        <p:spPr>
          <a:xfrm xmlns:a="http://schemas.openxmlformats.org/drawingml/2006/main">
            <a:off x="762000" y="2771775"/>
            <a:ext cx="217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42D40"/>
                </a:solidFill>
                <a:latin typeface="Arial"/>
                <a:ea typeface="Arial"/>
                <a:cs typeface="Arial"/>
              </a:defRPr>
            </a:defPPr>
            <a:lvl1pPr algn="l">
              <a:defRPr sz="1575" b="0">
                <a:solidFill>
                  <a:srgbClr val="142D40"/>
                </a:solidFill>
                <a:latin typeface="Arial"/>
                <a:ea typeface="Arial"/>
                <a:cs typeface="Arial"/>
              </a:defRPr>
            </a:lvl1pPr>
            <a:lvl2pPr algn="l">
              <a:defRPr sz="1575" b="0">
                <a:solidFill>
                  <a:srgbClr val="142D40"/>
                </a:solidFill>
                <a:latin typeface="Arial"/>
                <a:ea typeface="Arial"/>
                <a:cs typeface="Arial"/>
              </a:defRPr>
            </a:lvl2pPr>
            <a:lvl3pPr algn="l">
              <a:defRPr sz="1575" b="0">
                <a:solidFill>
                  <a:srgbClr val="142D40"/>
                </a:solidFill>
                <a:latin typeface="Arial"/>
                <a:ea typeface="Arial"/>
                <a:cs typeface="Arial"/>
              </a:defRPr>
            </a:lvl3pPr>
            <a:lvl4pPr algn="l">
              <a:defRPr sz="1575" b="0">
                <a:solidFill>
                  <a:srgbClr val="142D40"/>
                </a:solidFill>
                <a:latin typeface="Arial"/>
                <a:ea typeface="Arial"/>
                <a:cs typeface="Arial"/>
              </a:defRPr>
            </a:lvl4pPr>
            <a:lvl5pPr algn="l">
              <a:defRPr sz="1575" b="0">
                <a:solidFill>
                  <a:srgbClr val="142D40"/>
                </a:solidFill>
                <a:latin typeface="Arial"/>
                <a:ea typeface="Arial"/>
                <a:cs typeface="Arial"/>
              </a:defRPr>
            </a:lvl5pPr>
            <a:lvl6pPr algn="l">
              <a:defRPr sz="1575" b="0">
                <a:solidFill>
                  <a:srgbClr val="142D40"/>
                </a:solidFill>
                <a:latin typeface="Arial"/>
                <a:ea typeface="Arial"/>
                <a:cs typeface="Arial"/>
              </a:defRPr>
            </a:lvl6pPr>
            <a:lvl7pPr algn="l">
              <a:defRPr sz="1575" b="0">
                <a:solidFill>
                  <a:srgbClr val="142D40"/>
                </a:solidFill>
                <a:latin typeface="Arial"/>
                <a:ea typeface="Arial"/>
                <a:cs typeface="Arial"/>
              </a:defRPr>
            </a:lvl7pPr>
            <a:lvl8pPr algn="l">
              <a:defRPr sz="1575" b="0">
                <a:solidFill>
                  <a:srgbClr val="142D40"/>
                </a:solidFill>
                <a:latin typeface="Arial"/>
                <a:ea typeface="Arial"/>
                <a:cs typeface="Arial"/>
              </a:defRPr>
            </a:lvl8pPr>
            <a:lvl9pPr algn="l">
              <a:defRPr sz="1575" b="0">
                <a:solidFill>
                  <a:srgbClr val="142D40"/>
                </a:solidFill>
                <a:latin typeface="Arial"/>
                <a:ea typeface="Arial"/>
                <a:cs typeface="Arial"/>
              </a:defRPr>
            </a:lvl9pPr>
          </a:lstStyle>
          <a:p xmlns:a="http://schemas.openxmlformats.org/drawingml/2006/main">
            <a:pPr algn="l">
              <a:defRPr sz="1575" b="0">
                <a:solidFill>
                  <a:srgbClr val="142D40"/>
                </a:solidFill>
                <a:latin typeface="Arial"/>
                <a:ea typeface="Arial"/>
                <a:cs typeface="Arial"/>
              </a:defRPr>
            </a:pPr>
            <a:r>
              <a:rPr sz="1575" b="0">
                <a:solidFill>
                  <a:srgbClr val="142D40"/>
                </a:solidFill>
                <a:latin typeface="Arial"/>
                <a:ea typeface="Arial"/>
                <a:cs typeface="Arial"/>
              </a:rPr>
              <a:t>Timestamp + value</a:t>
            </a:r>
          </a:p>
        </p:txBody>
      </p:sp>
      <p:sp>
        <p:nvSpPr>
          <p:cNvPr id="10" name="shape-44">
            <a:extLst xmlns:a="http://schemas.openxmlformats.org/drawingml/2006/main">
              <a:ext uri="{FF2B5EF4-FFF2-40B4-BE49-F238E27FC236}">
                <a16:creationId xmlns:a16="http://schemas.microsoft.com/office/drawing/2014/main" id="{08D48577-3DB6-437A-AD8F-46F4854B7E65}"/>
              </a:ext>
            </a:extLst>
          </p:cNvPr>
          <p:cNvSpPr>
            <a:spLocks xmlns:a="http://schemas.openxmlformats.org/drawingml/2006/main" noGrp="1"/>
          </p:cNvSpPr>
          <p:nvPr/>
        </p:nvSpPr>
        <p:spPr>
          <a:xfrm xmlns:a="http://schemas.openxmlformats.org/drawingml/2006/main">
            <a:off x="3181350" y="2581275"/>
            <a:ext cx="171450" cy="238125"/>
          </a:xfrm>
          <a:prstGeom xmlns:a="http://schemas.openxmlformats.org/drawingml/2006/main" prst="rightArrow">
            <a:avLst/>
          </a:prstGeom>
          <a:solidFill xmlns:a="http://schemas.openxmlformats.org/drawingml/2006/main">
            <a:srgbClr val="067C75"/>
          </a:solidFill>
          <a:ln xmlns:a="http://schemas.openxmlformats.org/drawingml/2006/main" w="0">
            <a:noFill/>
            <a:prstDash val="solid"/>
          </a:ln>
        </p:spPr>
      </p:sp>
      <p:sp>
        <p:nvSpPr>
          <p:cNvPr id="11" name="shape-45">
            <a:extLst xmlns:a="http://schemas.openxmlformats.org/drawingml/2006/main">
              <a:ext uri="{FF2B5EF4-FFF2-40B4-BE49-F238E27FC236}">
                <a16:creationId xmlns:a16="http://schemas.microsoft.com/office/drawing/2014/main" id="{3980CFB5-13DB-4AC5-BC3D-7ED61E89E49F}"/>
              </a:ext>
            </a:extLst>
          </p:cNvPr>
          <p:cNvSpPr>
            <a:spLocks xmlns:a="http://schemas.openxmlformats.org/drawingml/2006/main" noGrp="1"/>
          </p:cNvSpPr>
          <p:nvPr/>
        </p:nvSpPr>
        <p:spPr>
          <a:xfrm xmlns:a="http://schemas.openxmlformats.org/drawingml/2006/main">
            <a:off x="3448050" y="2143125"/>
            <a:ext cx="2476500" cy="1190625"/>
          </a:xfrm>
          <a:prstGeom xmlns:a="http://schemas.openxmlformats.org/drawingml/2006/main" prst="rect">
            <a:avLst/>
          </a:prstGeom>
          <a:solidFill xmlns:a="http://schemas.openxmlformats.org/drawingml/2006/main">
            <a:srgbClr val="F2F6F7"/>
          </a:solidFill>
          <a:ln xmlns:a="http://schemas.openxmlformats.org/drawingml/2006/main" w="9525">
            <a:solidFill>
              <a:srgbClr val="D7E2E7"/>
            </a:solidFill>
            <a:prstDash val="solid"/>
          </a:ln>
        </p:spPr>
      </p:sp>
      <p:sp>
        <p:nvSpPr>
          <p:cNvPr id="12" name="shape-46">
            <a:extLst xmlns:a="http://schemas.openxmlformats.org/drawingml/2006/main">
              <a:ext uri="{FF2B5EF4-FFF2-40B4-BE49-F238E27FC236}">
                <a16:creationId xmlns:a16="http://schemas.microsoft.com/office/drawing/2014/main" id="{A9B6761B-81E9-4EDF-B9B7-1DE8840C4FE0}"/>
              </a:ext>
            </a:extLst>
          </p:cNvPr>
          <p:cNvSpPr>
            <a:spLocks xmlns:a="http://schemas.openxmlformats.org/drawingml/2006/main" noGrp="1"/>
          </p:cNvSpPr>
          <p:nvPr/>
        </p:nvSpPr>
        <p:spPr>
          <a:xfrm xmlns:a="http://schemas.openxmlformats.org/drawingml/2006/main">
            <a:off x="3600450" y="2333625"/>
            <a:ext cx="2171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067C75"/>
                </a:solidFill>
                <a:latin typeface="Arial"/>
                <a:ea typeface="Arial"/>
                <a:cs typeface="Arial"/>
              </a:defRPr>
            </a:defPPr>
            <a:lvl1pPr algn="l">
              <a:defRPr sz="1950" b="1">
                <a:solidFill>
                  <a:srgbClr val="067C75"/>
                </a:solidFill>
                <a:latin typeface="Arial"/>
                <a:ea typeface="Arial"/>
                <a:cs typeface="Arial"/>
              </a:defRPr>
            </a:lvl1pPr>
            <a:lvl2pPr algn="l">
              <a:defRPr sz="1950" b="1">
                <a:solidFill>
                  <a:srgbClr val="067C75"/>
                </a:solidFill>
                <a:latin typeface="Arial"/>
                <a:ea typeface="Arial"/>
                <a:cs typeface="Arial"/>
              </a:defRPr>
            </a:lvl2pPr>
            <a:lvl3pPr algn="l">
              <a:defRPr sz="1950" b="1">
                <a:solidFill>
                  <a:srgbClr val="067C75"/>
                </a:solidFill>
                <a:latin typeface="Arial"/>
                <a:ea typeface="Arial"/>
                <a:cs typeface="Arial"/>
              </a:defRPr>
            </a:lvl3pPr>
            <a:lvl4pPr algn="l">
              <a:defRPr sz="1950" b="1">
                <a:solidFill>
                  <a:srgbClr val="067C75"/>
                </a:solidFill>
                <a:latin typeface="Arial"/>
                <a:ea typeface="Arial"/>
                <a:cs typeface="Arial"/>
              </a:defRPr>
            </a:lvl4pPr>
            <a:lvl5pPr algn="l">
              <a:defRPr sz="1950" b="1">
                <a:solidFill>
                  <a:srgbClr val="067C75"/>
                </a:solidFill>
                <a:latin typeface="Arial"/>
                <a:ea typeface="Arial"/>
                <a:cs typeface="Arial"/>
              </a:defRPr>
            </a:lvl5pPr>
            <a:lvl6pPr algn="l">
              <a:defRPr sz="1950" b="1">
                <a:solidFill>
                  <a:srgbClr val="067C75"/>
                </a:solidFill>
                <a:latin typeface="Arial"/>
                <a:ea typeface="Arial"/>
                <a:cs typeface="Arial"/>
              </a:defRPr>
            </a:lvl6pPr>
            <a:lvl7pPr algn="l">
              <a:defRPr sz="1950" b="1">
                <a:solidFill>
                  <a:srgbClr val="067C75"/>
                </a:solidFill>
                <a:latin typeface="Arial"/>
                <a:ea typeface="Arial"/>
                <a:cs typeface="Arial"/>
              </a:defRPr>
            </a:lvl7pPr>
            <a:lvl8pPr algn="l">
              <a:defRPr sz="1950" b="1">
                <a:solidFill>
                  <a:srgbClr val="067C75"/>
                </a:solidFill>
                <a:latin typeface="Arial"/>
                <a:ea typeface="Arial"/>
                <a:cs typeface="Arial"/>
              </a:defRPr>
            </a:lvl8pPr>
            <a:lvl9pPr algn="l">
              <a:defRPr sz="1950" b="1">
                <a:solidFill>
                  <a:srgbClr val="067C75"/>
                </a:solidFill>
                <a:latin typeface="Arial"/>
                <a:ea typeface="Arial"/>
                <a:cs typeface="Arial"/>
              </a:defRPr>
            </a:lvl9pPr>
          </a:lstStyle>
          <a:p xmlns:a="http://schemas.openxmlformats.org/drawingml/2006/main">
            <a:pPr algn="l">
              <a:defRPr sz="1950" b="1">
                <a:solidFill>
                  <a:srgbClr val="067C75"/>
                </a:solidFill>
                <a:latin typeface="Arial"/>
                <a:ea typeface="Arial"/>
                <a:cs typeface="Arial"/>
              </a:defRPr>
            </a:pPr>
            <a:r>
              <a:rPr sz="1950" b="1">
                <a:solidFill>
                  <a:srgbClr val="067C75"/>
                </a:solidFill>
                <a:latin typeface="Arial"/>
                <a:ea typeface="Arial"/>
                <a:cs typeface="Arial"/>
              </a:rPr>
              <a:t>Represent</a:t>
            </a:r>
          </a:p>
        </p:txBody>
      </p:sp>
      <p:sp>
        <p:nvSpPr>
          <p:cNvPr id="13" name="shape-47">
            <a:extLst xmlns:a="http://schemas.openxmlformats.org/drawingml/2006/main">
              <a:ext uri="{FF2B5EF4-FFF2-40B4-BE49-F238E27FC236}">
                <a16:creationId xmlns:a16="http://schemas.microsoft.com/office/drawing/2014/main" id="{7AD6DF29-93BB-4679-8F1F-CFFFD0512649}"/>
              </a:ext>
            </a:extLst>
          </p:cNvPr>
          <p:cNvSpPr>
            <a:spLocks xmlns:a="http://schemas.openxmlformats.org/drawingml/2006/main" noGrp="1"/>
          </p:cNvSpPr>
          <p:nvPr/>
        </p:nvSpPr>
        <p:spPr>
          <a:xfrm xmlns:a="http://schemas.openxmlformats.org/drawingml/2006/main">
            <a:off x="3600450" y="2771775"/>
            <a:ext cx="217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42D40"/>
                </a:solidFill>
                <a:latin typeface="Arial"/>
                <a:ea typeface="Arial"/>
                <a:cs typeface="Arial"/>
              </a:defRPr>
            </a:defPPr>
            <a:lvl1pPr algn="l">
              <a:defRPr sz="1575" b="0">
                <a:solidFill>
                  <a:srgbClr val="142D40"/>
                </a:solidFill>
                <a:latin typeface="Arial"/>
                <a:ea typeface="Arial"/>
                <a:cs typeface="Arial"/>
              </a:defRPr>
            </a:lvl1pPr>
            <a:lvl2pPr algn="l">
              <a:defRPr sz="1575" b="0">
                <a:solidFill>
                  <a:srgbClr val="142D40"/>
                </a:solidFill>
                <a:latin typeface="Arial"/>
                <a:ea typeface="Arial"/>
                <a:cs typeface="Arial"/>
              </a:defRPr>
            </a:lvl2pPr>
            <a:lvl3pPr algn="l">
              <a:defRPr sz="1575" b="0">
                <a:solidFill>
                  <a:srgbClr val="142D40"/>
                </a:solidFill>
                <a:latin typeface="Arial"/>
                <a:ea typeface="Arial"/>
                <a:cs typeface="Arial"/>
              </a:defRPr>
            </a:lvl3pPr>
            <a:lvl4pPr algn="l">
              <a:defRPr sz="1575" b="0">
                <a:solidFill>
                  <a:srgbClr val="142D40"/>
                </a:solidFill>
                <a:latin typeface="Arial"/>
                <a:ea typeface="Arial"/>
                <a:cs typeface="Arial"/>
              </a:defRPr>
            </a:lvl4pPr>
            <a:lvl5pPr algn="l">
              <a:defRPr sz="1575" b="0">
                <a:solidFill>
                  <a:srgbClr val="142D40"/>
                </a:solidFill>
                <a:latin typeface="Arial"/>
                <a:ea typeface="Arial"/>
                <a:cs typeface="Arial"/>
              </a:defRPr>
            </a:lvl5pPr>
            <a:lvl6pPr algn="l">
              <a:defRPr sz="1575" b="0">
                <a:solidFill>
                  <a:srgbClr val="142D40"/>
                </a:solidFill>
                <a:latin typeface="Arial"/>
                <a:ea typeface="Arial"/>
                <a:cs typeface="Arial"/>
              </a:defRPr>
            </a:lvl6pPr>
            <a:lvl7pPr algn="l">
              <a:defRPr sz="1575" b="0">
                <a:solidFill>
                  <a:srgbClr val="142D40"/>
                </a:solidFill>
                <a:latin typeface="Arial"/>
                <a:ea typeface="Arial"/>
                <a:cs typeface="Arial"/>
              </a:defRPr>
            </a:lvl7pPr>
            <a:lvl8pPr algn="l">
              <a:defRPr sz="1575" b="0">
                <a:solidFill>
                  <a:srgbClr val="142D40"/>
                </a:solidFill>
                <a:latin typeface="Arial"/>
                <a:ea typeface="Arial"/>
                <a:cs typeface="Arial"/>
              </a:defRPr>
            </a:lvl8pPr>
            <a:lvl9pPr algn="l">
              <a:defRPr sz="1575" b="0">
                <a:solidFill>
                  <a:srgbClr val="142D40"/>
                </a:solidFill>
                <a:latin typeface="Arial"/>
                <a:ea typeface="Arial"/>
                <a:cs typeface="Arial"/>
              </a:defRPr>
            </a:lvl9pPr>
          </a:lstStyle>
          <a:p xmlns:a="http://schemas.openxmlformats.org/drawingml/2006/main">
            <a:pPr algn="l">
              <a:defRPr sz="1575" b="0">
                <a:solidFill>
                  <a:srgbClr val="142D40"/>
                </a:solidFill>
                <a:latin typeface="Arial"/>
                <a:ea typeface="Arial"/>
                <a:cs typeface="Arial"/>
              </a:defRPr>
            </a:pPr>
            <a:r>
              <a:rPr sz="1575" b="0">
                <a:solidFill>
                  <a:srgbClr val="142D40"/>
                </a:solidFill>
                <a:latin typeface="Arial"/>
                <a:ea typeface="Arial"/>
                <a:cs typeface="Arial"/>
              </a:rPr>
              <a:t>Past windows + lags</a:t>
            </a:r>
          </a:p>
        </p:txBody>
      </p:sp>
      <p:sp>
        <p:nvSpPr>
          <p:cNvPr id="14" name="shape-48">
            <a:extLst xmlns:a="http://schemas.openxmlformats.org/drawingml/2006/main">
              <a:ext uri="{FF2B5EF4-FFF2-40B4-BE49-F238E27FC236}">
                <a16:creationId xmlns:a16="http://schemas.microsoft.com/office/drawing/2014/main" id="{7EC452C4-750C-4BB3-8DBB-59D24FFF6D81}"/>
              </a:ext>
            </a:extLst>
          </p:cNvPr>
          <p:cNvSpPr>
            <a:spLocks xmlns:a="http://schemas.openxmlformats.org/drawingml/2006/main" noGrp="1"/>
          </p:cNvSpPr>
          <p:nvPr/>
        </p:nvSpPr>
        <p:spPr>
          <a:xfrm xmlns:a="http://schemas.openxmlformats.org/drawingml/2006/main">
            <a:off x="6019800" y="2581275"/>
            <a:ext cx="171450" cy="238125"/>
          </a:xfrm>
          <a:prstGeom xmlns:a="http://schemas.openxmlformats.org/drawingml/2006/main" prst="rightArrow">
            <a:avLst/>
          </a:prstGeom>
          <a:solidFill xmlns:a="http://schemas.openxmlformats.org/drawingml/2006/main">
            <a:srgbClr val="067C75"/>
          </a:solidFill>
          <a:ln xmlns:a="http://schemas.openxmlformats.org/drawingml/2006/main" w="0">
            <a:noFill/>
            <a:prstDash val="solid"/>
          </a:ln>
        </p:spPr>
      </p:sp>
      <p:sp>
        <p:nvSpPr>
          <p:cNvPr id="15" name="shape-49">
            <a:extLst xmlns:a="http://schemas.openxmlformats.org/drawingml/2006/main">
              <a:ext uri="{FF2B5EF4-FFF2-40B4-BE49-F238E27FC236}">
                <a16:creationId xmlns:a16="http://schemas.microsoft.com/office/drawing/2014/main" id="{E1EC1B65-1A88-4BB9-A358-609F2203F319}"/>
              </a:ext>
            </a:extLst>
          </p:cNvPr>
          <p:cNvSpPr>
            <a:spLocks xmlns:a="http://schemas.openxmlformats.org/drawingml/2006/main" noGrp="1"/>
          </p:cNvSpPr>
          <p:nvPr/>
        </p:nvSpPr>
        <p:spPr>
          <a:xfrm xmlns:a="http://schemas.openxmlformats.org/drawingml/2006/main">
            <a:off x="6286500" y="2143125"/>
            <a:ext cx="2476500" cy="1190625"/>
          </a:xfrm>
          <a:prstGeom xmlns:a="http://schemas.openxmlformats.org/drawingml/2006/main" prst="rect">
            <a:avLst/>
          </a:prstGeom>
          <a:solidFill xmlns:a="http://schemas.openxmlformats.org/drawingml/2006/main">
            <a:srgbClr val="F2F6F7"/>
          </a:solidFill>
          <a:ln xmlns:a="http://schemas.openxmlformats.org/drawingml/2006/main" w="9525">
            <a:solidFill>
              <a:srgbClr val="D7E2E7"/>
            </a:solidFill>
            <a:prstDash val="solid"/>
          </a:ln>
        </p:spPr>
      </p:sp>
      <p:sp>
        <p:nvSpPr>
          <p:cNvPr id="16" name="shape-50">
            <a:extLst xmlns:a="http://schemas.openxmlformats.org/drawingml/2006/main">
              <a:ext uri="{FF2B5EF4-FFF2-40B4-BE49-F238E27FC236}">
                <a16:creationId xmlns:a16="http://schemas.microsoft.com/office/drawing/2014/main" id="{25543FE9-979D-47A1-889A-1FDB3E87471F}"/>
              </a:ext>
            </a:extLst>
          </p:cNvPr>
          <p:cNvSpPr>
            <a:spLocks xmlns:a="http://schemas.openxmlformats.org/drawingml/2006/main" noGrp="1"/>
          </p:cNvSpPr>
          <p:nvPr/>
        </p:nvSpPr>
        <p:spPr>
          <a:xfrm xmlns:a="http://schemas.openxmlformats.org/drawingml/2006/main">
            <a:off x="6438900" y="2333625"/>
            <a:ext cx="2171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067C75"/>
                </a:solidFill>
                <a:latin typeface="Arial"/>
                <a:ea typeface="Arial"/>
                <a:cs typeface="Arial"/>
              </a:defRPr>
            </a:defPPr>
            <a:lvl1pPr algn="l">
              <a:defRPr sz="1950" b="1">
                <a:solidFill>
                  <a:srgbClr val="067C75"/>
                </a:solidFill>
                <a:latin typeface="Arial"/>
                <a:ea typeface="Arial"/>
                <a:cs typeface="Arial"/>
              </a:defRPr>
            </a:lvl1pPr>
            <a:lvl2pPr algn="l">
              <a:defRPr sz="1950" b="1">
                <a:solidFill>
                  <a:srgbClr val="067C75"/>
                </a:solidFill>
                <a:latin typeface="Arial"/>
                <a:ea typeface="Arial"/>
                <a:cs typeface="Arial"/>
              </a:defRPr>
            </a:lvl2pPr>
            <a:lvl3pPr algn="l">
              <a:defRPr sz="1950" b="1">
                <a:solidFill>
                  <a:srgbClr val="067C75"/>
                </a:solidFill>
                <a:latin typeface="Arial"/>
                <a:ea typeface="Arial"/>
                <a:cs typeface="Arial"/>
              </a:defRPr>
            </a:lvl3pPr>
            <a:lvl4pPr algn="l">
              <a:defRPr sz="1950" b="1">
                <a:solidFill>
                  <a:srgbClr val="067C75"/>
                </a:solidFill>
                <a:latin typeface="Arial"/>
                <a:ea typeface="Arial"/>
                <a:cs typeface="Arial"/>
              </a:defRPr>
            </a:lvl4pPr>
            <a:lvl5pPr algn="l">
              <a:defRPr sz="1950" b="1">
                <a:solidFill>
                  <a:srgbClr val="067C75"/>
                </a:solidFill>
                <a:latin typeface="Arial"/>
                <a:ea typeface="Arial"/>
                <a:cs typeface="Arial"/>
              </a:defRPr>
            </a:lvl5pPr>
            <a:lvl6pPr algn="l">
              <a:defRPr sz="1950" b="1">
                <a:solidFill>
                  <a:srgbClr val="067C75"/>
                </a:solidFill>
                <a:latin typeface="Arial"/>
                <a:ea typeface="Arial"/>
                <a:cs typeface="Arial"/>
              </a:defRPr>
            </a:lvl6pPr>
            <a:lvl7pPr algn="l">
              <a:defRPr sz="1950" b="1">
                <a:solidFill>
                  <a:srgbClr val="067C75"/>
                </a:solidFill>
                <a:latin typeface="Arial"/>
                <a:ea typeface="Arial"/>
                <a:cs typeface="Arial"/>
              </a:defRPr>
            </a:lvl7pPr>
            <a:lvl8pPr algn="l">
              <a:defRPr sz="1950" b="1">
                <a:solidFill>
                  <a:srgbClr val="067C75"/>
                </a:solidFill>
                <a:latin typeface="Arial"/>
                <a:ea typeface="Arial"/>
                <a:cs typeface="Arial"/>
              </a:defRPr>
            </a:lvl8pPr>
            <a:lvl9pPr algn="l">
              <a:defRPr sz="1950" b="1">
                <a:solidFill>
                  <a:srgbClr val="067C75"/>
                </a:solidFill>
                <a:latin typeface="Arial"/>
                <a:ea typeface="Arial"/>
                <a:cs typeface="Arial"/>
              </a:defRPr>
            </a:lvl9pPr>
          </a:lstStyle>
          <a:p xmlns:a="http://schemas.openxmlformats.org/drawingml/2006/main">
            <a:pPr algn="l">
              <a:defRPr sz="1950" b="1">
                <a:solidFill>
                  <a:srgbClr val="067C75"/>
                </a:solidFill>
                <a:latin typeface="Arial"/>
                <a:ea typeface="Arial"/>
                <a:cs typeface="Arial"/>
              </a:defRPr>
            </a:pPr>
            <a:r>
              <a:rPr sz="1950" b="1">
                <a:solidFill>
                  <a:srgbClr val="067C75"/>
                </a:solidFill>
                <a:latin typeface="Arial"/>
                <a:ea typeface="Arial"/>
                <a:cs typeface="Arial"/>
              </a:rPr>
              <a:t>Score</a:t>
            </a:r>
          </a:p>
        </p:txBody>
      </p:sp>
      <p:sp>
        <p:nvSpPr>
          <p:cNvPr id="17" name="shape-51">
            <a:extLst xmlns:a="http://schemas.openxmlformats.org/drawingml/2006/main">
              <a:ext uri="{FF2B5EF4-FFF2-40B4-BE49-F238E27FC236}">
                <a16:creationId xmlns:a16="http://schemas.microsoft.com/office/drawing/2014/main" id="{99F10AF9-FE80-4C73-8ED9-F63AB56A4A76}"/>
              </a:ext>
            </a:extLst>
          </p:cNvPr>
          <p:cNvSpPr>
            <a:spLocks xmlns:a="http://schemas.openxmlformats.org/drawingml/2006/main" noGrp="1"/>
          </p:cNvSpPr>
          <p:nvPr/>
        </p:nvSpPr>
        <p:spPr>
          <a:xfrm xmlns:a="http://schemas.openxmlformats.org/drawingml/2006/main">
            <a:off x="6438900" y="2771775"/>
            <a:ext cx="217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42D40"/>
                </a:solidFill>
                <a:latin typeface="Arial"/>
                <a:ea typeface="Arial"/>
                <a:cs typeface="Arial"/>
              </a:defRPr>
            </a:defPPr>
            <a:lvl1pPr algn="l">
              <a:defRPr sz="1575" b="0">
                <a:solidFill>
                  <a:srgbClr val="142D40"/>
                </a:solidFill>
                <a:latin typeface="Arial"/>
                <a:ea typeface="Arial"/>
                <a:cs typeface="Arial"/>
              </a:defRPr>
            </a:lvl1pPr>
            <a:lvl2pPr algn="l">
              <a:defRPr sz="1575" b="0">
                <a:solidFill>
                  <a:srgbClr val="142D40"/>
                </a:solidFill>
                <a:latin typeface="Arial"/>
                <a:ea typeface="Arial"/>
                <a:cs typeface="Arial"/>
              </a:defRPr>
            </a:lvl2pPr>
            <a:lvl3pPr algn="l">
              <a:defRPr sz="1575" b="0">
                <a:solidFill>
                  <a:srgbClr val="142D40"/>
                </a:solidFill>
                <a:latin typeface="Arial"/>
                <a:ea typeface="Arial"/>
                <a:cs typeface="Arial"/>
              </a:defRPr>
            </a:lvl3pPr>
            <a:lvl4pPr algn="l">
              <a:defRPr sz="1575" b="0">
                <a:solidFill>
                  <a:srgbClr val="142D40"/>
                </a:solidFill>
                <a:latin typeface="Arial"/>
                <a:ea typeface="Arial"/>
                <a:cs typeface="Arial"/>
              </a:defRPr>
            </a:lvl4pPr>
            <a:lvl5pPr algn="l">
              <a:defRPr sz="1575" b="0">
                <a:solidFill>
                  <a:srgbClr val="142D40"/>
                </a:solidFill>
                <a:latin typeface="Arial"/>
                <a:ea typeface="Arial"/>
                <a:cs typeface="Arial"/>
              </a:defRPr>
            </a:lvl5pPr>
            <a:lvl6pPr algn="l">
              <a:defRPr sz="1575" b="0">
                <a:solidFill>
                  <a:srgbClr val="142D40"/>
                </a:solidFill>
                <a:latin typeface="Arial"/>
                <a:ea typeface="Arial"/>
                <a:cs typeface="Arial"/>
              </a:defRPr>
            </a:lvl6pPr>
            <a:lvl7pPr algn="l">
              <a:defRPr sz="1575" b="0">
                <a:solidFill>
                  <a:srgbClr val="142D40"/>
                </a:solidFill>
                <a:latin typeface="Arial"/>
                <a:ea typeface="Arial"/>
                <a:cs typeface="Arial"/>
              </a:defRPr>
            </a:lvl7pPr>
            <a:lvl8pPr algn="l">
              <a:defRPr sz="1575" b="0">
                <a:solidFill>
                  <a:srgbClr val="142D40"/>
                </a:solidFill>
                <a:latin typeface="Arial"/>
                <a:ea typeface="Arial"/>
                <a:cs typeface="Arial"/>
              </a:defRPr>
            </a:lvl8pPr>
            <a:lvl9pPr algn="l">
              <a:defRPr sz="1575" b="0">
                <a:solidFill>
                  <a:srgbClr val="142D40"/>
                </a:solidFill>
                <a:latin typeface="Arial"/>
                <a:ea typeface="Arial"/>
                <a:cs typeface="Arial"/>
              </a:defRPr>
            </a:lvl9pPr>
          </a:lstStyle>
          <a:p xmlns:a="http://schemas.openxmlformats.org/drawingml/2006/main">
            <a:pPr algn="l">
              <a:defRPr sz="1575" b="0">
                <a:solidFill>
                  <a:srgbClr val="142D40"/>
                </a:solidFill>
                <a:latin typeface="Arial"/>
                <a:ea typeface="Arial"/>
                <a:cs typeface="Arial"/>
              </a:defRPr>
            </a:pPr>
            <a:r>
              <a:rPr sz="1575" b="0">
                <a:solidFill>
                  <a:srgbClr val="142D40"/>
                </a:solidFill>
                <a:latin typeface="Arial"/>
                <a:ea typeface="Arial"/>
                <a:cs typeface="Arial"/>
              </a:rPr>
              <a:t>Forecast residuals</a:t>
            </a:r>
          </a:p>
        </p:txBody>
      </p:sp>
      <p:sp>
        <p:nvSpPr>
          <p:cNvPr id="18" name="shape-52">
            <a:extLst xmlns:a="http://schemas.openxmlformats.org/drawingml/2006/main">
              <a:ext uri="{FF2B5EF4-FFF2-40B4-BE49-F238E27FC236}">
                <a16:creationId xmlns:a16="http://schemas.microsoft.com/office/drawing/2014/main" id="{70BEE6F4-9C1B-489B-AA65-108157A3369A}"/>
              </a:ext>
            </a:extLst>
          </p:cNvPr>
          <p:cNvSpPr>
            <a:spLocks xmlns:a="http://schemas.openxmlformats.org/drawingml/2006/main" noGrp="1"/>
          </p:cNvSpPr>
          <p:nvPr/>
        </p:nvSpPr>
        <p:spPr>
          <a:xfrm xmlns:a="http://schemas.openxmlformats.org/drawingml/2006/main">
            <a:off x="8858250" y="2581275"/>
            <a:ext cx="171450" cy="238125"/>
          </a:xfrm>
          <a:prstGeom xmlns:a="http://schemas.openxmlformats.org/drawingml/2006/main" prst="rightArrow">
            <a:avLst/>
          </a:prstGeom>
          <a:solidFill xmlns:a="http://schemas.openxmlformats.org/drawingml/2006/main">
            <a:srgbClr val="067C75"/>
          </a:solidFill>
          <a:ln xmlns:a="http://schemas.openxmlformats.org/drawingml/2006/main" w="0">
            <a:noFill/>
            <a:prstDash val="solid"/>
          </a:ln>
        </p:spPr>
      </p:sp>
      <p:sp>
        <p:nvSpPr>
          <p:cNvPr id="19" name="shape-53">
            <a:extLst xmlns:a="http://schemas.openxmlformats.org/drawingml/2006/main">
              <a:ext uri="{FF2B5EF4-FFF2-40B4-BE49-F238E27FC236}">
                <a16:creationId xmlns:a16="http://schemas.microsoft.com/office/drawing/2014/main" id="{5C12CC41-C2BB-462D-9222-29061DC16CA2}"/>
              </a:ext>
            </a:extLst>
          </p:cNvPr>
          <p:cNvSpPr>
            <a:spLocks xmlns:a="http://schemas.openxmlformats.org/drawingml/2006/main" noGrp="1"/>
          </p:cNvSpPr>
          <p:nvPr/>
        </p:nvSpPr>
        <p:spPr>
          <a:xfrm xmlns:a="http://schemas.openxmlformats.org/drawingml/2006/main">
            <a:off x="9124950" y="2143125"/>
            <a:ext cx="2476500" cy="1190625"/>
          </a:xfrm>
          <a:prstGeom xmlns:a="http://schemas.openxmlformats.org/drawingml/2006/main" prst="rect">
            <a:avLst/>
          </a:prstGeom>
          <a:solidFill xmlns:a="http://schemas.openxmlformats.org/drawingml/2006/main">
            <a:srgbClr val="E8F5F2"/>
          </a:solidFill>
          <a:ln xmlns:a="http://schemas.openxmlformats.org/drawingml/2006/main" w="9525">
            <a:solidFill>
              <a:srgbClr val="D7E2E7"/>
            </a:solidFill>
            <a:prstDash val="solid"/>
          </a:ln>
        </p:spPr>
      </p:sp>
      <p:sp>
        <p:nvSpPr>
          <p:cNvPr id="20" name="shape-54">
            <a:extLst xmlns:a="http://schemas.openxmlformats.org/drawingml/2006/main">
              <a:ext uri="{FF2B5EF4-FFF2-40B4-BE49-F238E27FC236}">
                <a16:creationId xmlns:a16="http://schemas.microsoft.com/office/drawing/2014/main" id="{E85E572A-301A-4CDE-AF0F-DA9EA6E55517}"/>
              </a:ext>
            </a:extLst>
          </p:cNvPr>
          <p:cNvSpPr>
            <a:spLocks xmlns:a="http://schemas.openxmlformats.org/drawingml/2006/main" noGrp="1"/>
          </p:cNvSpPr>
          <p:nvPr/>
        </p:nvSpPr>
        <p:spPr>
          <a:xfrm xmlns:a="http://schemas.openxmlformats.org/drawingml/2006/main">
            <a:off x="9277350" y="2333625"/>
            <a:ext cx="2171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067C75"/>
                </a:solidFill>
                <a:latin typeface="Arial"/>
                <a:ea typeface="Arial"/>
                <a:cs typeface="Arial"/>
              </a:defRPr>
            </a:defPPr>
            <a:lvl1pPr algn="l">
              <a:defRPr sz="1950" b="1">
                <a:solidFill>
                  <a:srgbClr val="067C75"/>
                </a:solidFill>
                <a:latin typeface="Arial"/>
                <a:ea typeface="Arial"/>
                <a:cs typeface="Arial"/>
              </a:defRPr>
            </a:lvl1pPr>
            <a:lvl2pPr algn="l">
              <a:defRPr sz="1950" b="1">
                <a:solidFill>
                  <a:srgbClr val="067C75"/>
                </a:solidFill>
                <a:latin typeface="Arial"/>
                <a:ea typeface="Arial"/>
                <a:cs typeface="Arial"/>
              </a:defRPr>
            </a:lvl2pPr>
            <a:lvl3pPr algn="l">
              <a:defRPr sz="1950" b="1">
                <a:solidFill>
                  <a:srgbClr val="067C75"/>
                </a:solidFill>
                <a:latin typeface="Arial"/>
                <a:ea typeface="Arial"/>
                <a:cs typeface="Arial"/>
              </a:defRPr>
            </a:lvl3pPr>
            <a:lvl4pPr algn="l">
              <a:defRPr sz="1950" b="1">
                <a:solidFill>
                  <a:srgbClr val="067C75"/>
                </a:solidFill>
                <a:latin typeface="Arial"/>
                <a:ea typeface="Arial"/>
                <a:cs typeface="Arial"/>
              </a:defRPr>
            </a:lvl4pPr>
            <a:lvl5pPr algn="l">
              <a:defRPr sz="1950" b="1">
                <a:solidFill>
                  <a:srgbClr val="067C75"/>
                </a:solidFill>
                <a:latin typeface="Arial"/>
                <a:ea typeface="Arial"/>
                <a:cs typeface="Arial"/>
              </a:defRPr>
            </a:lvl5pPr>
            <a:lvl6pPr algn="l">
              <a:defRPr sz="1950" b="1">
                <a:solidFill>
                  <a:srgbClr val="067C75"/>
                </a:solidFill>
                <a:latin typeface="Arial"/>
                <a:ea typeface="Arial"/>
                <a:cs typeface="Arial"/>
              </a:defRPr>
            </a:lvl6pPr>
            <a:lvl7pPr algn="l">
              <a:defRPr sz="1950" b="1">
                <a:solidFill>
                  <a:srgbClr val="067C75"/>
                </a:solidFill>
                <a:latin typeface="Arial"/>
                <a:ea typeface="Arial"/>
                <a:cs typeface="Arial"/>
              </a:defRPr>
            </a:lvl7pPr>
            <a:lvl8pPr algn="l">
              <a:defRPr sz="1950" b="1">
                <a:solidFill>
                  <a:srgbClr val="067C75"/>
                </a:solidFill>
                <a:latin typeface="Arial"/>
                <a:ea typeface="Arial"/>
                <a:cs typeface="Arial"/>
              </a:defRPr>
            </a:lvl8pPr>
            <a:lvl9pPr algn="l">
              <a:defRPr sz="1950" b="1">
                <a:solidFill>
                  <a:srgbClr val="067C75"/>
                </a:solidFill>
                <a:latin typeface="Arial"/>
                <a:ea typeface="Arial"/>
                <a:cs typeface="Arial"/>
              </a:defRPr>
            </a:lvl9pPr>
          </a:lstStyle>
          <a:p xmlns:a="http://schemas.openxmlformats.org/drawingml/2006/main">
            <a:pPr algn="l">
              <a:defRPr sz="1950" b="1">
                <a:solidFill>
                  <a:srgbClr val="067C75"/>
                </a:solidFill>
                <a:latin typeface="Arial"/>
                <a:ea typeface="Arial"/>
                <a:cs typeface="Arial"/>
              </a:defRPr>
            </a:pPr>
            <a:r>
              <a:rPr sz="1950" b="1">
                <a:solidFill>
                  <a:srgbClr val="067C75"/>
                </a:solidFill>
                <a:latin typeface="Arial"/>
                <a:ea typeface="Arial"/>
                <a:cs typeface="Arial"/>
              </a:rPr>
              <a:t>Decide</a:t>
            </a:r>
          </a:p>
        </p:txBody>
      </p:sp>
      <p:sp>
        <p:nvSpPr>
          <p:cNvPr id="21" name="shape-55">
            <a:extLst xmlns:a="http://schemas.openxmlformats.org/drawingml/2006/main">
              <a:ext uri="{FF2B5EF4-FFF2-40B4-BE49-F238E27FC236}">
                <a16:creationId xmlns:a16="http://schemas.microsoft.com/office/drawing/2014/main" id="{F7CE25D1-2E70-44A7-93EE-B808522DEE31}"/>
              </a:ext>
            </a:extLst>
          </p:cNvPr>
          <p:cNvSpPr>
            <a:spLocks xmlns:a="http://schemas.openxmlformats.org/drawingml/2006/main" noGrp="1"/>
          </p:cNvSpPr>
          <p:nvPr/>
        </p:nvSpPr>
        <p:spPr>
          <a:xfrm xmlns:a="http://schemas.openxmlformats.org/drawingml/2006/main">
            <a:off x="9277350" y="2771775"/>
            <a:ext cx="217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142D40"/>
                </a:solidFill>
                <a:latin typeface="Arial"/>
                <a:ea typeface="Arial"/>
                <a:cs typeface="Arial"/>
              </a:defRPr>
            </a:defPPr>
            <a:lvl1pPr algn="l">
              <a:defRPr sz="1575" b="0">
                <a:solidFill>
                  <a:srgbClr val="142D40"/>
                </a:solidFill>
                <a:latin typeface="Arial"/>
                <a:ea typeface="Arial"/>
                <a:cs typeface="Arial"/>
              </a:defRPr>
            </a:lvl1pPr>
            <a:lvl2pPr algn="l">
              <a:defRPr sz="1575" b="0">
                <a:solidFill>
                  <a:srgbClr val="142D40"/>
                </a:solidFill>
                <a:latin typeface="Arial"/>
                <a:ea typeface="Arial"/>
                <a:cs typeface="Arial"/>
              </a:defRPr>
            </a:lvl2pPr>
            <a:lvl3pPr algn="l">
              <a:defRPr sz="1575" b="0">
                <a:solidFill>
                  <a:srgbClr val="142D40"/>
                </a:solidFill>
                <a:latin typeface="Arial"/>
                <a:ea typeface="Arial"/>
                <a:cs typeface="Arial"/>
              </a:defRPr>
            </a:lvl3pPr>
            <a:lvl4pPr algn="l">
              <a:defRPr sz="1575" b="0">
                <a:solidFill>
                  <a:srgbClr val="142D40"/>
                </a:solidFill>
                <a:latin typeface="Arial"/>
                <a:ea typeface="Arial"/>
                <a:cs typeface="Arial"/>
              </a:defRPr>
            </a:lvl4pPr>
            <a:lvl5pPr algn="l">
              <a:defRPr sz="1575" b="0">
                <a:solidFill>
                  <a:srgbClr val="142D40"/>
                </a:solidFill>
                <a:latin typeface="Arial"/>
                <a:ea typeface="Arial"/>
                <a:cs typeface="Arial"/>
              </a:defRPr>
            </a:lvl5pPr>
            <a:lvl6pPr algn="l">
              <a:defRPr sz="1575" b="0">
                <a:solidFill>
                  <a:srgbClr val="142D40"/>
                </a:solidFill>
                <a:latin typeface="Arial"/>
                <a:ea typeface="Arial"/>
                <a:cs typeface="Arial"/>
              </a:defRPr>
            </a:lvl6pPr>
            <a:lvl7pPr algn="l">
              <a:defRPr sz="1575" b="0">
                <a:solidFill>
                  <a:srgbClr val="142D40"/>
                </a:solidFill>
                <a:latin typeface="Arial"/>
                <a:ea typeface="Arial"/>
                <a:cs typeface="Arial"/>
              </a:defRPr>
            </a:lvl7pPr>
            <a:lvl8pPr algn="l">
              <a:defRPr sz="1575" b="0">
                <a:solidFill>
                  <a:srgbClr val="142D40"/>
                </a:solidFill>
                <a:latin typeface="Arial"/>
                <a:ea typeface="Arial"/>
                <a:cs typeface="Arial"/>
              </a:defRPr>
            </a:lvl8pPr>
            <a:lvl9pPr algn="l">
              <a:defRPr sz="1575" b="0">
                <a:solidFill>
                  <a:srgbClr val="142D40"/>
                </a:solidFill>
                <a:latin typeface="Arial"/>
                <a:ea typeface="Arial"/>
                <a:cs typeface="Arial"/>
              </a:defRPr>
            </a:lvl9pPr>
          </a:lstStyle>
          <a:p xmlns:a="http://schemas.openxmlformats.org/drawingml/2006/main">
            <a:pPr algn="l">
              <a:defRPr sz="1575" b="0">
                <a:solidFill>
                  <a:srgbClr val="142D40"/>
                </a:solidFill>
                <a:latin typeface="Arial"/>
                <a:ea typeface="Arial"/>
                <a:cs typeface="Arial"/>
              </a:defRPr>
            </a:pPr>
            <a:r>
              <a:rPr sz="1575" b="0">
                <a:solidFill>
                  <a:srgbClr val="142D40"/>
                </a:solidFill>
                <a:latin typeface="Arial"/>
                <a:ea typeface="Arial"/>
                <a:cs typeface="Arial"/>
              </a:rPr>
              <a:t>Threshold + incident state</a:t>
            </a:r>
          </a:p>
        </p:txBody>
      </p:sp>
      <p:sp>
        <p:nvSpPr>
          <p:cNvPr id="22" name="shape-56">
            <a:extLst xmlns:a="http://schemas.openxmlformats.org/drawingml/2006/main">
              <a:ext uri="{FF2B5EF4-FFF2-40B4-BE49-F238E27FC236}">
                <a16:creationId xmlns:a16="http://schemas.microsoft.com/office/drawing/2014/main" id="{526F8B00-9198-479E-8EAA-BED3C7FB8818}"/>
              </a:ext>
            </a:extLst>
          </p:cNvPr>
          <p:cNvSpPr>
            <a:spLocks xmlns:a="http://schemas.openxmlformats.org/drawingml/2006/main" noGrp="1"/>
          </p:cNvSpPr>
          <p:nvPr/>
        </p:nvSpPr>
        <p:spPr>
          <a:xfrm xmlns:a="http://schemas.openxmlformats.org/drawingml/2006/main">
            <a:off x="609600" y="38862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067C75"/>
                </a:solidFill>
                <a:latin typeface="Arial"/>
                <a:ea typeface="Arial"/>
                <a:cs typeface="Arial"/>
              </a:defRPr>
            </a:defPPr>
            <a:lvl1pPr algn="l">
              <a:defRPr sz="1500" b="1">
                <a:solidFill>
                  <a:srgbClr val="067C75"/>
                </a:solidFill>
                <a:latin typeface="Arial"/>
                <a:ea typeface="Arial"/>
                <a:cs typeface="Arial"/>
              </a:defRPr>
            </a:lvl1pPr>
            <a:lvl2pPr algn="l">
              <a:defRPr sz="1500" b="1">
                <a:solidFill>
                  <a:srgbClr val="067C75"/>
                </a:solidFill>
                <a:latin typeface="Arial"/>
                <a:ea typeface="Arial"/>
                <a:cs typeface="Arial"/>
              </a:defRPr>
            </a:lvl2pPr>
            <a:lvl3pPr algn="l">
              <a:defRPr sz="1500" b="1">
                <a:solidFill>
                  <a:srgbClr val="067C75"/>
                </a:solidFill>
                <a:latin typeface="Arial"/>
                <a:ea typeface="Arial"/>
                <a:cs typeface="Arial"/>
              </a:defRPr>
            </a:lvl3pPr>
            <a:lvl4pPr algn="l">
              <a:defRPr sz="1500" b="1">
                <a:solidFill>
                  <a:srgbClr val="067C75"/>
                </a:solidFill>
                <a:latin typeface="Arial"/>
                <a:ea typeface="Arial"/>
                <a:cs typeface="Arial"/>
              </a:defRPr>
            </a:lvl4pPr>
            <a:lvl5pPr algn="l">
              <a:defRPr sz="1500" b="1">
                <a:solidFill>
                  <a:srgbClr val="067C75"/>
                </a:solidFill>
                <a:latin typeface="Arial"/>
                <a:ea typeface="Arial"/>
                <a:cs typeface="Arial"/>
              </a:defRPr>
            </a:lvl5pPr>
            <a:lvl6pPr algn="l">
              <a:defRPr sz="1500" b="1">
                <a:solidFill>
                  <a:srgbClr val="067C75"/>
                </a:solidFill>
                <a:latin typeface="Arial"/>
                <a:ea typeface="Arial"/>
                <a:cs typeface="Arial"/>
              </a:defRPr>
            </a:lvl6pPr>
            <a:lvl7pPr algn="l">
              <a:defRPr sz="1500" b="1">
                <a:solidFill>
                  <a:srgbClr val="067C75"/>
                </a:solidFill>
                <a:latin typeface="Arial"/>
                <a:ea typeface="Arial"/>
                <a:cs typeface="Arial"/>
              </a:defRPr>
            </a:lvl7pPr>
            <a:lvl8pPr algn="l">
              <a:defRPr sz="1500" b="1">
                <a:solidFill>
                  <a:srgbClr val="067C75"/>
                </a:solidFill>
                <a:latin typeface="Arial"/>
                <a:ea typeface="Arial"/>
                <a:cs typeface="Arial"/>
              </a:defRPr>
            </a:lvl8pPr>
            <a:lvl9pPr algn="l">
              <a:defRPr sz="1500" b="1">
                <a:solidFill>
                  <a:srgbClr val="067C75"/>
                </a:solidFill>
                <a:latin typeface="Arial"/>
                <a:ea typeface="Arial"/>
                <a:cs typeface="Arial"/>
              </a:defRPr>
            </a:lvl9pPr>
          </a:lstStyle>
          <a:p xmlns:a="http://schemas.openxmlformats.org/drawingml/2006/main">
            <a:pPr algn="l">
              <a:defRPr sz="1500" b="1">
                <a:solidFill>
                  <a:srgbClr val="067C75"/>
                </a:solidFill>
                <a:latin typeface="Arial"/>
                <a:ea typeface="Arial"/>
                <a:cs typeface="Arial"/>
              </a:defRPr>
            </a:pPr>
            <a:r>
              <a:rPr sz="1500" b="1">
                <a:solidFill>
                  <a:srgbClr val="067C75"/>
                </a:solidFill>
                <a:latin typeface="Arial"/>
                <a:ea typeface="Arial"/>
                <a:cs typeface="Arial"/>
              </a:rPr>
              <a:t>STREAMING OUTPUT</a:t>
            </a:r>
          </a:p>
        </p:txBody>
      </p:sp>
      <p:sp>
        <p:nvSpPr>
          <p:cNvPr id="23" name="shape-57">
            <a:extLst xmlns:a="http://schemas.openxmlformats.org/drawingml/2006/main">
              <a:ext uri="{FF2B5EF4-FFF2-40B4-BE49-F238E27FC236}">
                <a16:creationId xmlns:a16="http://schemas.microsoft.com/office/drawing/2014/main" id="{F7FE7E7E-6996-4333-9CEB-FED95B0E28BE}"/>
              </a:ext>
            </a:extLst>
          </p:cNvPr>
          <p:cNvSpPr>
            <a:spLocks xmlns:a="http://schemas.openxmlformats.org/drawingml/2006/main" noGrp="1"/>
          </p:cNvSpPr>
          <p:nvPr/>
        </p:nvSpPr>
        <p:spPr>
          <a:xfrm xmlns:a="http://schemas.openxmlformats.org/drawingml/2006/main">
            <a:off x="609600" y="43624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42D40"/>
                </a:solidFill>
                <a:latin typeface="Arial"/>
                <a:ea typeface="Arial"/>
                <a:cs typeface="Arial"/>
              </a:defRPr>
            </a:defPPr>
            <a:lvl1pPr algn="l">
              <a:defRPr sz="2175" b="1">
                <a:solidFill>
                  <a:srgbClr val="142D40"/>
                </a:solidFill>
                <a:latin typeface="Arial"/>
                <a:ea typeface="Arial"/>
                <a:cs typeface="Arial"/>
              </a:defRPr>
            </a:lvl1pPr>
            <a:lvl2pPr algn="l">
              <a:defRPr sz="2175" b="1">
                <a:solidFill>
                  <a:srgbClr val="142D40"/>
                </a:solidFill>
                <a:latin typeface="Arial"/>
                <a:ea typeface="Arial"/>
                <a:cs typeface="Arial"/>
              </a:defRPr>
            </a:lvl2pPr>
            <a:lvl3pPr algn="l">
              <a:defRPr sz="2175" b="1">
                <a:solidFill>
                  <a:srgbClr val="142D40"/>
                </a:solidFill>
                <a:latin typeface="Arial"/>
                <a:ea typeface="Arial"/>
                <a:cs typeface="Arial"/>
              </a:defRPr>
            </a:lvl3pPr>
            <a:lvl4pPr algn="l">
              <a:defRPr sz="2175" b="1">
                <a:solidFill>
                  <a:srgbClr val="142D40"/>
                </a:solidFill>
                <a:latin typeface="Arial"/>
                <a:ea typeface="Arial"/>
                <a:cs typeface="Arial"/>
              </a:defRPr>
            </a:lvl4pPr>
            <a:lvl5pPr algn="l">
              <a:defRPr sz="2175" b="1">
                <a:solidFill>
                  <a:srgbClr val="142D40"/>
                </a:solidFill>
                <a:latin typeface="Arial"/>
                <a:ea typeface="Arial"/>
                <a:cs typeface="Arial"/>
              </a:defRPr>
            </a:lvl5pPr>
            <a:lvl6pPr algn="l">
              <a:defRPr sz="2175" b="1">
                <a:solidFill>
                  <a:srgbClr val="142D40"/>
                </a:solidFill>
                <a:latin typeface="Arial"/>
                <a:ea typeface="Arial"/>
                <a:cs typeface="Arial"/>
              </a:defRPr>
            </a:lvl6pPr>
            <a:lvl7pPr algn="l">
              <a:defRPr sz="2175" b="1">
                <a:solidFill>
                  <a:srgbClr val="142D40"/>
                </a:solidFill>
                <a:latin typeface="Arial"/>
                <a:ea typeface="Arial"/>
                <a:cs typeface="Arial"/>
              </a:defRPr>
            </a:lvl7pPr>
            <a:lvl8pPr algn="l">
              <a:defRPr sz="2175" b="1">
                <a:solidFill>
                  <a:srgbClr val="142D40"/>
                </a:solidFill>
                <a:latin typeface="Arial"/>
                <a:ea typeface="Arial"/>
                <a:cs typeface="Arial"/>
              </a:defRPr>
            </a:lvl8pPr>
            <a:lvl9pPr algn="l">
              <a:defRPr sz="2175" b="1">
                <a:solidFill>
                  <a:srgbClr val="142D40"/>
                </a:solidFill>
                <a:latin typeface="Arial"/>
                <a:ea typeface="Arial"/>
                <a:cs typeface="Arial"/>
              </a:defRPr>
            </a:lvl9pPr>
          </a:lstStyle>
          <a:p xmlns:a="http://schemas.openxmlformats.org/drawingml/2006/main">
            <a:pPr algn="l">
              <a:defRPr sz="2175" b="1">
                <a:solidFill>
                  <a:srgbClr val="142D40"/>
                </a:solidFill>
                <a:latin typeface="Arial"/>
                <a:ea typeface="Arial"/>
                <a:cs typeface="Arial"/>
              </a:defRPr>
            </a:pPr>
            <a:r>
              <a:rPr sz="2175" b="1">
                <a:solidFill>
                  <a:srgbClr val="142D40"/>
                </a:solidFill>
                <a:latin typeface="Arial"/>
                <a:ea typeface="Arial"/>
                <a:cs typeface="Arial"/>
              </a:rPr>
              <a:t>Score + binary label + expected range + incident explanation</a:t>
            </a:r>
          </a:p>
        </p:txBody>
      </p:sp>
      <p:sp>
        <p:nvSpPr>
          <p:cNvPr id="24" name="shape-58">
            <a:extLst xmlns:a="http://schemas.openxmlformats.org/drawingml/2006/main">
              <a:ext uri="{FF2B5EF4-FFF2-40B4-BE49-F238E27FC236}">
                <a16:creationId xmlns:a16="http://schemas.microsoft.com/office/drawing/2014/main" id="{A104FF4C-B1B2-4842-9661-EF4B2B2A432D}"/>
              </a:ext>
            </a:extLst>
          </p:cNvPr>
          <p:cNvSpPr>
            <a:spLocks xmlns:a="http://schemas.openxmlformats.org/drawingml/2006/main" noGrp="1"/>
          </p:cNvSpPr>
          <p:nvPr/>
        </p:nvSpPr>
        <p:spPr>
          <a:xfrm xmlns:a="http://schemas.openxmlformats.org/drawingml/2006/main">
            <a:off x="609600" y="5153025"/>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25" name="shape-59">
            <a:extLst xmlns:a="http://schemas.openxmlformats.org/drawingml/2006/main">
              <a:ext uri="{FF2B5EF4-FFF2-40B4-BE49-F238E27FC236}">
                <a16:creationId xmlns:a16="http://schemas.microsoft.com/office/drawing/2014/main" id="{D16757AF-1E62-427D-B7C3-36E40E9D735F}"/>
              </a:ext>
            </a:extLst>
          </p:cNvPr>
          <p:cNvSpPr>
            <a:spLocks xmlns:a="http://schemas.openxmlformats.org/drawingml/2006/main" noGrp="1"/>
          </p:cNvSpPr>
          <p:nvPr/>
        </p:nvSpPr>
        <p:spPr>
          <a:xfrm xmlns:a="http://schemas.openxmlformats.org/drawingml/2006/main">
            <a:off x="609600" y="5410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AC5C22"/>
                </a:solidFill>
                <a:latin typeface="Arial"/>
                <a:ea typeface="Arial"/>
                <a:cs typeface="Arial"/>
              </a:defRPr>
            </a:defPPr>
            <a:lvl1pPr algn="l">
              <a:defRPr sz="1425" b="1">
                <a:solidFill>
                  <a:srgbClr val="AC5C22"/>
                </a:solidFill>
                <a:latin typeface="Arial"/>
                <a:ea typeface="Arial"/>
                <a:cs typeface="Arial"/>
              </a:defRPr>
            </a:lvl1pPr>
            <a:lvl2pPr algn="l">
              <a:defRPr sz="1425" b="1">
                <a:solidFill>
                  <a:srgbClr val="AC5C22"/>
                </a:solidFill>
                <a:latin typeface="Arial"/>
                <a:ea typeface="Arial"/>
                <a:cs typeface="Arial"/>
              </a:defRPr>
            </a:lvl2pPr>
            <a:lvl3pPr algn="l">
              <a:defRPr sz="1425" b="1">
                <a:solidFill>
                  <a:srgbClr val="AC5C22"/>
                </a:solidFill>
                <a:latin typeface="Arial"/>
                <a:ea typeface="Arial"/>
                <a:cs typeface="Arial"/>
              </a:defRPr>
            </a:lvl3pPr>
            <a:lvl4pPr algn="l">
              <a:defRPr sz="1425" b="1">
                <a:solidFill>
                  <a:srgbClr val="AC5C22"/>
                </a:solidFill>
                <a:latin typeface="Arial"/>
                <a:ea typeface="Arial"/>
                <a:cs typeface="Arial"/>
              </a:defRPr>
            </a:lvl4pPr>
            <a:lvl5pPr algn="l">
              <a:defRPr sz="1425" b="1">
                <a:solidFill>
                  <a:srgbClr val="AC5C22"/>
                </a:solidFill>
                <a:latin typeface="Arial"/>
                <a:ea typeface="Arial"/>
                <a:cs typeface="Arial"/>
              </a:defRPr>
            </a:lvl5pPr>
            <a:lvl6pPr algn="l">
              <a:defRPr sz="1425" b="1">
                <a:solidFill>
                  <a:srgbClr val="AC5C22"/>
                </a:solidFill>
                <a:latin typeface="Arial"/>
                <a:ea typeface="Arial"/>
                <a:cs typeface="Arial"/>
              </a:defRPr>
            </a:lvl6pPr>
            <a:lvl7pPr algn="l">
              <a:defRPr sz="1425" b="1">
                <a:solidFill>
                  <a:srgbClr val="AC5C22"/>
                </a:solidFill>
                <a:latin typeface="Arial"/>
                <a:ea typeface="Arial"/>
                <a:cs typeface="Arial"/>
              </a:defRPr>
            </a:lvl7pPr>
            <a:lvl8pPr algn="l">
              <a:defRPr sz="1425" b="1">
                <a:solidFill>
                  <a:srgbClr val="AC5C22"/>
                </a:solidFill>
                <a:latin typeface="Arial"/>
                <a:ea typeface="Arial"/>
                <a:cs typeface="Arial"/>
              </a:defRPr>
            </a:lvl8pPr>
            <a:lvl9pPr algn="l">
              <a:defRPr sz="1425" b="1">
                <a:solidFill>
                  <a:srgbClr val="AC5C22"/>
                </a:solidFill>
                <a:latin typeface="Arial"/>
                <a:ea typeface="Arial"/>
                <a:cs typeface="Arial"/>
              </a:defRPr>
            </a:lvl9pPr>
          </a:lstStyle>
          <a:p xmlns:a="http://schemas.openxmlformats.org/drawingml/2006/main">
            <a:pPr algn="l">
              <a:defRPr sz="1425" b="1">
                <a:solidFill>
                  <a:srgbClr val="AC5C22"/>
                </a:solidFill>
                <a:latin typeface="Arial"/>
                <a:ea typeface="Arial"/>
                <a:cs typeface="Arial"/>
              </a:defRPr>
            </a:pPr>
            <a:r>
              <a:rPr sz="1425" b="1">
                <a:solidFill>
                  <a:srgbClr val="AC5C22"/>
                </a:solidFill>
                <a:latin typeface="Arial"/>
                <a:ea typeface="Arial"/>
                <a:cs typeface="Arial"/>
              </a:rPr>
              <a:t>OFFLINE COMPARISON</a:t>
            </a:r>
          </a:p>
        </p:txBody>
      </p:sp>
      <p:sp>
        <p:nvSpPr>
          <p:cNvPr id="26" name="shape-60">
            <a:extLst xmlns:a="http://schemas.openxmlformats.org/drawingml/2006/main">
              <a:ext uri="{FF2B5EF4-FFF2-40B4-BE49-F238E27FC236}">
                <a16:creationId xmlns:a16="http://schemas.microsoft.com/office/drawing/2014/main" id="{49FF0AA1-564D-4738-A10C-91785D972BCA}"/>
              </a:ext>
            </a:extLst>
          </p:cNvPr>
          <p:cNvSpPr>
            <a:spLocks xmlns:a="http://schemas.openxmlformats.org/drawingml/2006/main" noGrp="1"/>
          </p:cNvSpPr>
          <p:nvPr/>
        </p:nvSpPr>
        <p:spPr>
          <a:xfrm xmlns:a="http://schemas.openxmlformats.org/drawingml/2006/main">
            <a:off x="3762375" y="5410200"/>
            <a:ext cx="7810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Full-series scores → evaluation-selected thresholds → benchmark metrics</a:t>
            </a:r>
          </a:p>
        </p:txBody>
      </p:sp>
    </p:spTree>
    <p:extLst>
      <p:ext uri="{BB962C8B-B14F-4D97-AF65-F5344CB8AC3E}">
        <p14:creationId xmlns:p14="http://schemas.microsoft.com/office/powerpoint/2010/main" val="1532988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61">
            <a:extLst xmlns:a="http://schemas.openxmlformats.org/drawingml/2006/main">
              <a:ext uri="{FF2B5EF4-FFF2-40B4-BE49-F238E27FC236}">
                <a16:creationId xmlns:a16="http://schemas.microsoft.com/office/drawing/2014/main" id="{EAD74CCC-F4AD-4A84-B2A7-0B234D7AD47B}"/>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Core algorithms and threshold logic</a:t>
            </a:r>
          </a:p>
        </p:txBody>
      </p:sp>
      <p:sp>
        <p:nvSpPr>
          <p:cNvPr id="3" name="shape-62">
            <a:extLst xmlns:a="http://schemas.openxmlformats.org/drawingml/2006/main">
              <a:ext uri="{FF2B5EF4-FFF2-40B4-BE49-F238E27FC236}">
                <a16:creationId xmlns:a16="http://schemas.microsoft.com/office/drawing/2014/main" id="{1AA94DE5-8B95-4816-BAE0-5B1D758B5B10}"/>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4" name="shape-63">
            <a:extLst xmlns:a="http://schemas.openxmlformats.org/drawingml/2006/main">
              <a:ext uri="{FF2B5EF4-FFF2-40B4-BE49-F238E27FC236}">
                <a16:creationId xmlns:a16="http://schemas.microsoft.com/office/drawing/2014/main" id="{46AFB304-B31D-44CF-838A-75B266848D8D}"/>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5" name="shape-64">
            <a:extLst xmlns:a="http://schemas.openxmlformats.org/drawingml/2006/main">
              <a:ext uri="{FF2B5EF4-FFF2-40B4-BE49-F238E27FC236}">
                <a16:creationId xmlns:a16="http://schemas.microsoft.com/office/drawing/2014/main" id="{438449FF-CD50-49AB-BFEE-E688BADECCE3}"/>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05 / 10</a:t>
            </a:r>
          </a:p>
        </p:txBody>
      </p:sp>
      <p:sp>
        <p:nvSpPr>
          <p:cNvPr id="6" name="shape-65">
            <a:extLst xmlns:a="http://schemas.openxmlformats.org/drawingml/2006/main">
              <a:ext uri="{FF2B5EF4-FFF2-40B4-BE49-F238E27FC236}">
                <a16:creationId xmlns:a16="http://schemas.microsoft.com/office/drawing/2014/main" id="{67AFA75A-94E0-4B4E-A986-D95C98CFF6A5}"/>
              </a:ext>
            </a:extLst>
          </p:cNvPr>
          <p:cNvSpPr>
            <a:spLocks xmlns:a="http://schemas.openxmlformats.org/drawingml/2006/main" noGrp="1"/>
          </p:cNvSpPr>
          <p:nvPr/>
        </p:nvSpPr>
        <p:spPr>
          <a:xfrm xmlns:a="http://schemas.openxmlformats.org/drawingml/2006/main">
            <a:off x="609600" y="1466850"/>
            <a:ext cx="523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067C75"/>
                </a:solidFill>
                <a:latin typeface="Arial"/>
                <a:ea typeface="Arial"/>
                <a:cs typeface="Arial"/>
              </a:defRPr>
            </a:defPPr>
            <a:lvl1pPr algn="l">
              <a:defRPr sz="2175" b="1">
                <a:solidFill>
                  <a:srgbClr val="067C75"/>
                </a:solidFill>
                <a:latin typeface="Arial"/>
                <a:ea typeface="Arial"/>
                <a:cs typeface="Arial"/>
              </a:defRPr>
            </a:lvl1pPr>
            <a:lvl2pPr algn="l">
              <a:defRPr sz="2175" b="1">
                <a:solidFill>
                  <a:srgbClr val="067C75"/>
                </a:solidFill>
                <a:latin typeface="Arial"/>
                <a:ea typeface="Arial"/>
                <a:cs typeface="Arial"/>
              </a:defRPr>
            </a:lvl2pPr>
            <a:lvl3pPr algn="l">
              <a:defRPr sz="2175" b="1">
                <a:solidFill>
                  <a:srgbClr val="067C75"/>
                </a:solidFill>
                <a:latin typeface="Arial"/>
                <a:ea typeface="Arial"/>
                <a:cs typeface="Arial"/>
              </a:defRPr>
            </a:lvl3pPr>
            <a:lvl4pPr algn="l">
              <a:defRPr sz="2175" b="1">
                <a:solidFill>
                  <a:srgbClr val="067C75"/>
                </a:solidFill>
                <a:latin typeface="Arial"/>
                <a:ea typeface="Arial"/>
                <a:cs typeface="Arial"/>
              </a:defRPr>
            </a:lvl4pPr>
            <a:lvl5pPr algn="l">
              <a:defRPr sz="2175" b="1">
                <a:solidFill>
                  <a:srgbClr val="067C75"/>
                </a:solidFill>
                <a:latin typeface="Arial"/>
                <a:ea typeface="Arial"/>
                <a:cs typeface="Arial"/>
              </a:defRPr>
            </a:lvl5pPr>
            <a:lvl6pPr algn="l">
              <a:defRPr sz="2175" b="1">
                <a:solidFill>
                  <a:srgbClr val="067C75"/>
                </a:solidFill>
                <a:latin typeface="Arial"/>
                <a:ea typeface="Arial"/>
                <a:cs typeface="Arial"/>
              </a:defRPr>
            </a:lvl6pPr>
            <a:lvl7pPr algn="l">
              <a:defRPr sz="2175" b="1">
                <a:solidFill>
                  <a:srgbClr val="067C75"/>
                </a:solidFill>
                <a:latin typeface="Arial"/>
                <a:ea typeface="Arial"/>
                <a:cs typeface="Arial"/>
              </a:defRPr>
            </a:lvl7pPr>
            <a:lvl8pPr algn="l">
              <a:defRPr sz="2175" b="1">
                <a:solidFill>
                  <a:srgbClr val="067C75"/>
                </a:solidFill>
                <a:latin typeface="Arial"/>
                <a:ea typeface="Arial"/>
                <a:cs typeface="Arial"/>
              </a:defRPr>
            </a:lvl8pPr>
            <a:lvl9pPr algn="l">
              <a:defRPr sz="2175" b="1">
                <a:solidFill>
                  <a:srgbClr val="067C75"/>
                </a:solidFill>
                <a:latin typeface="Arial"/>
                <a:ea typeface="Arial"/>
                <a:cs typeface="Arial"/>
              </a:defRPr>
            </a:lvl9pPr>
          </a:lstStyle>
          <a:p xmlns:a="http://schemas.openxmlformats.org/drawingml/2006/main">
            <a:pPr algn="l">
              <a:defRPr sz="2175" b="1">
                <a:solidFill>
                  <a:srgbClr val="067C75"/>
                </a:solidFill>
                <a:latin typeface="Arial"/>
                <a:ea typeface="Arial"/>
                <a:cs typeface="Arial"/>
              </a:defRPr>
            </a:pPr>
            <a:r>
              <a:rPr sz="2175" b="1">
                <a:solidFill>
                  <a:srgbClr val="067C75"/>
                </a:solidFill>
                <a:latin typeface="Arial"/>
                <a:ea typeface="Arial"/>
                <a:cs typeface="Arial"/>
              </a:rPr>
              <a:t>Best offline event-F1: variance 64</a:t>
            </a:r>
          </a:p>
        </p:txBody>
      </p:sp>
      <p:sp>
        <p:nvSpPr>
          <p:cNvPr id="7" name="shape-66">
            <a:extLst xmlns:a="http://schemas.openxmlformats.org/drawingml/2006/main">
              <a:ext uri="{FF2B5EF4-FFF2-40B4-BE49-F238E27FC236}">
                <a16:creationId xmlns:a16="http://schemas.microsoft.com/office/drawing/2014/main" id="{39A00956-6F13-4E7E-93E5-86F1C325DD4A}"/>
              </a:ext>
            </a:extLst>
          </p:cNvPr>
          <p:cNvSpPr>
            <a:spLocks xmlns:a="http://schemas.openxmlformats.org/drawingml/2006/main" noGrp="1"/>
          </p:cNvSpPr>
          <p:nvPr/>
        </p:nvSpPr>
        <p:spPr>
          <a:xfrm xmlns:a="http://schemas.openxmlformats.org/drawingml/2006/main">
            <a:off x="609600" y="2286000"/>
            <a:ext cx="5238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142D40"/>
                </a:solidFill>
                <a:latin typeface="Arial"/>
                <a:ea typeface="Arial"/>
                <a:cs typeface="Arial"/>
              </a:defRPr>
            </a:defPPr>
            <a:lvl1pPr algn="l">
              <a:defRPr sz="1875" b="0">
                <a:solidFill>
                  <a:srgbClr val="142D40"/>
                </a:solidFill>
                <a:latin typeface="Arial"/>
                <a:ea typeface="Arial"/>
                <a:cs typeface="Arial"/>
              </a:defRPr>
            </a:lvl1pPr>
            <a:lvl2pPr algn="l">
              <a:defRPr sz="1875" b="0">
                <a:solidFill>
                  <a:srgbClr val="142D40"/>
                </a:solidFill>
                <a:latin typeface="Arial"/>
                <a:ea typeface="Arial"/>
                <a:cs typeface="Arial"/>
              </a:defRPr>
            </a:lvl2pPr>
            <a:lvl3pPr algn="l">
              <a:defRPr sz="1875" b="0">
                <a:solidFill>
                  <a:srgbClr val="142D40"/>
                </a:solidFill>
                <a:latin typeface="Arial"/>
                <a:ea typeface="Arial"/>
                <a:cs typeface="Arial"/>
              </a:defRPr>
            </a:lvl3pPr>
            <a:lvl4pPr algn="l">
              <a:defRPr sz="1875" b="0">
                <a:solidFill>
                  <a:srgbClr val="142D40"/>
                </a:solidFill>
                <a:latin typeface="Arial"/>
                <a:ea typeface="Arial"/>
                <a:cs typeface="Arial"/>
              </a:defRPr>
            </a:lvl4pPr>
            <a:lvl5pPr algn="l">
              <a:defRPr sz="1875" b="0">
                <a:solidFill>
                  <a:srgbClr val="142D40"/>
                </a:solidFill>
                <a:latin typeface="Arial"/>
                <a:ea typeface="Arial"/>
                <a:cs typeface="Arial"/>
              </a:defRPr>
            </a:lvl5pPr>
            <a:lvl6pPr algn="l">
              <a:defRPr sz="1875" b="0">
                <a:solidFill>
                  <a:srgbClr val="142D40"/>
                </a:solidFill>
                <a:latin typeface="Arial"/>
                <a:ea typeface="Arial"/>
                <a:cs typeface="Arial"/>
              </a:defRPr>
            </a:lvl6pPr>
            <a:lvl7pPr algn="l">
              <a:defRPr sz="1875" b="0">
                <a:solidFill>
                  <a:srgbClr val="142D40"/>
                </a:solidFill>
                <a:latin typeface="Arial"/>
                <a:ea typeface="Arial"/>
                <a:cs typeface="Arial"/>
              </a:defRPr>
            </a:lvl7pPr>
            <a:lvl8pPr algn="l">
              <a:defRPr sz="1875" b="0">
                <a:solidFill>
                  <a:srgbClr val="142D40"/>
                </a:solidFill>
                <a:latin typeface="Arial"/>
                <a:ea typeface="Arial"/>
                <a:cs typeface="Arial"/>
              </a:defRPr>
            </a:lvl8pPr>
            <a:lvl9pPr algn="l">
              <a:defRPr sz="1875" b="0">
                <a:solidFill>
                  <a:srgbClr val="142D40"/>
                </a:solidFill>
                <a:latin typeface="Arial"/>
                <a:ea typeface="Arial"/>
                <a:cs typeface="Arial"/>
              </a:defRPr>
            </a:lvl9pPr>
          </a:lstStyle>
          <a:p xmlns:a="http://schemas.openxmlformats.org/drawingml/2006/main">
            <a:pPr algn="l">
              <a:defRPr sz="1875" b="0">
                <a:solidFill>
                  <a:srgbClr val="142D40"/>
                </a:solidFill>
                <a:latin typeface="Arial"/>
                <a:ea typeface="Arial"/>
                <a:cs typeface="Arial"/>
              </a:defRPr>
            </a:pPr>
            <a:r>
              <a:rPr sz="1875" b="0">
                <a:solidFill>
                  <a:srgbClr val="142D40"/>
                </a:solidFill>
                <a:latin typeface="Arial"/>
                <a:ea typeface="Arial"/>
                <a:cs typeface="Arial"/>
              </a:rPr>
              <a:t>Compute sample variance in a centered</a:t>
            </a:r>
          </a:p>
          <a:p xmlns:a="http://schemas.openxmlformats.org/drawingml/2006/main">
            <a:pPr algn="l">
              <a:defRPr sz="1875" b="0">
                <a:solidFill>
                  <a:srgbClr val="142D40"/>
                </a:solidFill>
                <a:latin typeface="Arial"/>
                <a:ea typeface="Arial"/>
                <a:cs typeface="Arial"/>
              </a:defRPr>
            </a:pPr>
            <a:r>
              <a:rPr sz="1875" b="0">
                <a:solidFill>
                  <a:srgbClr val="142D40"/>
                </a:solidFill>
                <a:latin typeface="Arial"/>
                <a:ea typeface="Arial"/>
                <a:cs typeface="Arial"/>
              </a:rPr>
              <a:t>64-reading window. High variation gives</a:t>
            </a:r>
          </a:p>
          <a:p xmlns:a="http://schemas.openxmlformats.org/drawingml/2006/main">
            <a:pPr algn="l">
              <a:defRPr sz="1875" b="0">
                <a:solidFill>
                  <a:srgbClr val="142D40"/>
                </a:solidFill>
                <a:latin typeface="Arial"/>
                <a:ea typeface="Arial"/>
                <a:cs typeface="Arial"/>
              </a:defRPr>
            </a:pPr>
            <a:r>
              <a:rPr sz="1875" b="0">
                <a:solidFill>
                  <a:srgbClr val="142D40"/>
                </a:solidFill>
                <a:latin typeface="Arial"/>
                <a:ea typeface="Arial"/>
                <a:cs typeface="Arial"/>
              </a:rPr>
              <a:t>a higher anomaly score.</a:t>
            </a:r>
          </a:p>
        </p:txBody>
      </p:sp>
      <p:sp>
        <p:nvSpPr>
          <p:cNvPr id="8" name="shape-67">
            <a:extLst xmlns:a="http://schemas.openxmlformats.org/drawingml/2006/main">
              <a:ext uri="{FF2B5EF4-FFF2-40B4-BE49-F238E27FC236}">
                <a16:creationId xmlns:a16="http://schemas.microsoft.com/office/drawing/2014/main" id="{88F06426-398C-450F-B102-1AD5ACE48653}"/>
              </a:ext>
            </a:extLst>
          </p:cNvPr>
          <p:cNvSpPr>
            <a:spLocks xmlns:a="http://schemas.openxmlformats.org/drawingml/2006/main" noGrp="1"/>
          </p:cNvSpPr>
          <p:nvPr/>
        </p:nvSpPr>
        <p:spPr>
          <a:xfrm xmlns:a="http://schemas.openxmlformats.org/drawingml/2006/main">
            <a:off x="609600" y="3714750"/>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42D40"/>
                </a:solidFill>
                <a:latin typeface="Arial"/>
                <a:ea typeface="Arial"/>
                <a:cs typeface="Arial"/>
              </a:defRPr>
            </a:defPPr>
            <a:lvl1pPr algn="l">
              <a:defRPr sz="1875" b="1">
                <a:solidFill>
                  <a:srgbClr val="142D40"/>
                </a:solidFill>
                <a:latin typeface="Arial"/>
                <a:ea typeface="Arial"/>
                <a:cs typeface="Arial"/>
              </a:defRPr>
            </a:lvl1pPr>
            <a:lvl2pPr algn="l">
              <a:defRPr sz="1875" b="1">
                <a:solidFill>
                  <a:srgbClr val="142D40"/>
                </a:solidFill>
                <a:latin typeface="Arial"/>
                <a:ea typeface="Arial"/>
                <a:cs typeface="Arial"/>
              </a:defRPr>
            </a:lvl2pPr>
            <a:lvl3pPr algn="l">
              <a:defRPr sz="1875" b="1">
                <a:solidFill>
                  <a:srgbClr val="142D40"/>
                </a:solidFill>
                <a:latin typeface="Arial"/>
                <a:ea typeface="Arial"/>
                <a:cs typeface="Arial"/>
              </a:defRPr>
            </a:lvl3pPr>
            <a:lvl4pPr algn="l">
              <a:defRPr sz="1875" b="1">
                <a:solidFill>
                  <a:srgbClr val="142D40"/>
                </a:solidFill>
                <a:latin typeface="Arial"/>
                <a:ea typeface="Arial"/>
                <a:cs typeface="Arial"/>
              </a:defRPr>
            </a:lvl4pPr>
            <a:lvl5pPr algn="l">
              <a:defRPr sz="1875" b="1">
                <a:solidFill>
                  <a:srgbClr val="142D40"/>
                </a:solidFill>
                <a:latin typeface="Arial"/>
                <a:ea typeface="Arial"/>
                <a:cs typeface="Arial"/>
              </a:defRPr>
            </a:lvl5pPr>
            <a:lvl6pPr algn="l">
              <a:defRPr sz="1875" b="1">
                <a:solidFill>
                  <a:srgbClr val="142D40"/>
                </a:solidFill>
                <a:latin typeface="Arial"/>
                <a:ea typeface="Arial"/>
                <a:cs typeface="Arial"/>
              </a:defRPr>
            </a:lvl6pPr>
            <a:lvl7pPr algn="l">
              <a:defRPr sz="1875" b="1">
                <a:solidFill>
                  <a:srgbClr val="142D40"/>
                </a:solidFill>
                <a:latin typeface="Arial"/>
                <a:ea typeface="Arial"/>
                <a:cs typeface="Arial"/>
              </a:defRPr>
            </a:lvl7pPr>
            <a:lvl8pPr algn="l">
              <a:defRPr sz="1875" b="1">
                <a:solidFill>
                  <a:srgbClr val="142D40"/>
                </a:solidFill>
                <a:latin typeface="Arial"/>
                <a:ea typeface="Arial"/>
                <a:cs typeface="Arial"/>
              </a:defRPr>
            </a:lvl8pPr>
            <a:lvl9pPr algn="l">
              <a:defRPr sz="1875" b="1">
                <a:solidFill>
                  <a:srgbClr val="142D40"/>
                </a:solidFill>
                <a:latin typeface="Arial"/>
                <a:ea typeface="Arial"/>
                <a:cs typeface="Arial"/>
              </a:defRPr>
            </a:lvl9pPr>
          </a:lstStyle>
          <a:p xmlns:a="http://schemas.openxmlformats.org/drawingml/2006/main">
            <a:pPr algn="l">
              <a:defRPr sz="1875" b="1">
                <a:solidFill>
                  <a:srgbClr val="142D40"/>
                </a:solidFill>
                <a:latin typeface="Arial"/>
                <a:ea typeface="Arial"/>
                <a:cs typeface="Arial"/>
              </a:defRPr>
            </a:pPr>
            <a:r>
              <a:rPr sz="1875" b="1">
                <a:solidFill>
                  <a:srgbClr val="142D40"/>
                </a:solidFill>
                <a:latin typeface="Arial"/>
                <a:ea typeface="Arial"/>
                <a:cs typeface="Arial"/>
              </a:rPr>
              <a:t>score(t) = window variance</a:t>
            </a:r>
          </a:p>
        </p:txBody>
      </p:sp>
      <p:sp>
        <p:nvSpPr>
          <p:cNvPr id="9" name="shape-68">
            <a:extLst xmlns:a="http://schemas.openxmlformats.org/drawingml/2006/main">
              <a:ext uri="{FF2B5EF4-FFF2-40B4-BE49-F238E27FC236}">
                <a16:creationId xmlns:a16="http://schemas.microsoft.com/office/drawing/2014/main" id="{26196418-6E93-4BEE-AFB3-6A64F4EF87E1}"/>
              </a:ext>
            </a:extLst>
          </p:cNvPr>
          <p:cNvSpPr>
            <a:spLocks xmlns:a="http://schemas.openxmlformats.org/drawingml/2006/main" noGrp="1"/>
          </p:cNvSpPr>
          <p:nvPr/>
        </p:nvSpPr>
        <p:spPr>
          <a:xfrm xmlns:a="http://schemas.openxmlformats.org/drawingml/2006/main">
            <a:off x="609600" y="4572000"/>
            <a:ext cx="5238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No neural training or fine-tuning.</a:t>
            </a:r>
          </a:p>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Centered windows need future readings.</a:t>
            </a:r>
          </a:p>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Benchmark F1 uses label-selected thresholds.</a:t>
            </a:r>
          </a:p>
        </p:txBody>
      </p:sp>
      <p:sp>
        <p:nvSpPr>
          <p:cNvPr id="10" name="shape-69">
            <a:extLst xmlns:a="http://schemas.openxmlformats.org/drawingml/2006/main">
              <a:ext uri="{FF2B5EF4-FFF2-40B4-BE49-F238E27FC236}">
                <a16:creationId xmlns:a16="http://schemas.microsoft.com/office/drawing/2014/main" id="{ECA814FC-8E37-4ABE-9554-1932009146F6}"/>
              </a:ext>
            </a:extLst>
          </p:cNvPr>
          <p:cNvSpPr>
            <a:spLocks xmlns:a="http://schemas.openxmlformats.org/drawingml/2006/main" noGrp="1"/>
          </p:cNvSpPr>
          <p:nvPr/>
        </p:nvSpPr>
        <p:spPr>
          <a:xfrm xmlns:a="http://schemas.openxmlformats.org/drawingml/2006/main">
            <a:off x="6477000" y="1466850"/>
            <a:ext cx="5095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067C75"/>
                </a:solidFill>
                <a:latin typeface="Arial"/>
                <a:ea typeface="Arial"/>
                <a:cs typeface="Arial"/>
              </a:defRPr>
            </a:defPPr>
            <a:lvl1pPr algn="l">
              <a:defRPr sz="2175" b="1">
                <a:solidFill>
                  <a:srgbClr val="067C75"/>
                </a:solidFill>
                <a:latin typeface="Arial"/>
                <a:ea typeface="Arial"/>
                <a:cs typeface="Arial"/>
              </a:defRPr>
            </a:lvl1pPr>
            <a:lvl2pPr algn="l">
              <a:defRPr sz="2175" b="1">
                <a:solidFill>
                  <a:srgbClr val="067C75"/>
                </a:solidFill>
                <a:latin typeface="Arial"/>
                <a:ea typeface="Arial"/>
                <a:cs typeface="Arial"/>
              </a:defRPr>
            </a:lvl2pPr>
            <a:lvl3pPr algn="l">
              <a:defRPr sz="2175" b="1">
                <a:solidFill>
                  <a:srgbClr val="067C75"/>
                </a:solidFill>
                <a:latin typeface="Arial"/>
                <a:ea typeface="Arial"/>
                <a:cs typeface="Arial"/>
              </a:defRPr>
            </a:lvl3pPr>
            <a:lvl4pPr algn="l">
              <a:defRPr sz="2175" b="1">
                <a:solidFill>
                  <a:srgbClr val="067C75"/>
                </a:solidFill>
                <a:latin typeface="Arial"/>
                <a:ea typeface="Arial"/>
                <a:cs typeface="Arial"/>
              </a:defRPr>
            </a:lvl4pPr>
            <a:lvl5pPr algn="l">
              <a:defRPr sz="2175" b="1">
                <a:solidFill>
                  <a:srgbClr val="067C75"/>
                </a:solidFill>
                <a:latin typeface="Arial"/>
                <a:ea typeface="Arial"/>
                <a:cs typeface="Arial"/>
              </a:defRPr>
            </a:lvl5pPr>
            <a:lvl6pPr algn="l">
              <a:defRPr sz="2175" b="1">
                <a:solidFill>
                  <a:srgbClr val="067C75"/>
                </a:solidFill>
                <a:latin typeface="Arial"/>
                <a:ea typeface="Arial"/>
                <a:cs typeface="Arial"/>
              </a:defRPr>
            </a:lvl6pPr>
            <a:lvl7pPr algn="l">
              <a:defRPr sz="2175" b="1">
                <a:solidFill>
                  <a:srgbClr val="067C75"/>
                </a:solidFill>
                <a:latin typeface="Arial"/>
                <a:ea typeface="Arial"/>
                <a:cs typeface="Arial"/>
              </a:defRPr>
            </a:lvl7pPr>
            <a:lvl8pPr algn="l">
              <a:defRPr sz="2175" b="1">
                <a:solidFill>
                  <a:srgbClr val="067C75"/>
                </a:solidFill>
                <a:latin typeface="Arial"/>
                <a:ea typeface="Arial"/>
                <a:cs typeface="Arial"/>
              </a:defRPr>
            </a:lvl8pPr>
            <a:lvl9pPr algn="l">
              <a:defRPr sz="2175" b="1">
                <a:solidFill>
                  <a:srgbClr val="067C75"/>
                </a:solidFill>
                <a:latin typeface="Arial"/>
                <a:ea typeface="Arial"/>
                <a:cs typeface="Arial"/>
              </a:defRPr>
            </a:lvl9pPr>
          </a:lstStyle>
          <a:p xmlns:a="http://schemas.openxmlformats.org/drawingml/2006/main">
            <a:pPr algn="l">
              <a:defRPr sz="2175" b="1">
                <a:solidFill>
                  <a:srgbClr val="067C75"/>
                </a:solidFill>
                <a:latin typeface="Arial"/>
                <a:ea typeface="Arial"/>
                <a:cs typeface="Arial"/>
              </a:defRPr>
            </a:pPr>
            <a:r>
              <a:rPr sz="2175" b="1">
                <a:solidFill>
                  <a:srgbClr val="067C75"/>
                </a:solidFill>
                <a:latin typeface="Arial"/>
                <a:ea typeface="Arial"/>
                <a:cs typeface="Arial"/>
              </a:rPr>
              <a:t>Operational forecast detector</a:t>
            </a:r>
          </a:p>
        </p:txBody>
      </p:sp>
      <p:sp>
        <p:nvSpPr>
          <p:cNvPr id="11" name="shape-70">
            <a:extLst xmlns:a="http://schemas.openxmlformats.org/drawingml/2006/main">
              <a:ext uri="{FF2B5EF4-FFF2-40B4-BE49-F238E27FC236}">
                <a16:creationId xmlns:a16="http://schemas.microsoft.com/office/drawing/2014/main" id="{CA5AD7ED-2C1A-4E30-9326-1B0667C3258C}"/>
              </a:ext>
            </a:extLst>
          </p:cNvPr>
          <p:cNvSpPr>
            <a:spLocks xmlns:a="http://schemas.openxmlformats.org/drawingml/2006/main" noGrp="1"/>
          </p:cNvSpPr>
          <p:nvPr/>
        </p:nvSpPr>
        <p:spPr>
          <a:xfrm xmlns:a="http://schemas.openxmlformats.org/drawingml/2006/main">
            <a:off x="6477000" y="2286000"/>
            <a:ext cx="5095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42D40"/>
                </a:solidFill>
                <a:latin typeface="Arial"/>
                <a:ea typeface="Arial"/>
                <a:cs typeface="Arial"/>
              </a:defRPr>
            </a:defPPr>
            <a:lvl1pPr algn="l">
              <a:defRPr sz="1800" b="0">
                <a:solidFill>
                  <a:srgbClr val="142D40"/>
                </a:solidFill>
                <a:latin typeface="Arial"/>
                <a:ea typeface="Arial"/>
                <a:cs typeface="Arial"/>
              </a:defRPr>
            </a:lvl1pPr>
            <a:lvl2pPr algn="l">
              <a:defRPr sz="1800" b="0">
                <a:solidFill>
                  <a:srgbClr val="142D40"/>
                </a:solidFill>
                <a:latin typeface="Arial"/>
                <a:ea typeface="Arial"/>
                <a:cs typeface="Arial"/>
              </a:defRPr>
            </a:lvl2pPr>
            <a:lvl3pPr algn="l">
              <a:defRPr sz="1800" b="0">
                <a:solidFill>
                  <a:srgbClr val="142D40"/>
                </a:solidFill>
                <a:latin typeface="Arial"/>
                <a:ea typeface="Arial"/>
                <a:cs typeface="Arial"/>
              </a:defRPr>
            </a:lvl3pPr>
            <a:lvl4pPr algn="l">
              <a:defRPr sz="1800" b="0">
                <a:solidFill>
                  <a:srgbClr val="142D40"/>
                </a:solidFill>
                <a:latin typeface="Arial"/>
                <a:ea typeface="Arial"/>
                <a:cs typeface="Arial"/>
              </a:defRPr>
            </a:lvl4pPr>
            <a:lvl5pPr algn="l">
              <a:defRPr sz="1800" b="0">
                <a:solidFill>
                  <a:srgbClr val="142D40"/>
                </a:solidFill>
                <a:latin typeface="Arial"/>
                <a:ea typeface="Arial"/>
                <a:cs typeface="Arial"/>
              </a:defRPr>
            </a:lvl5pPr>
            <a:lvl6pPr algn="l">
              <a:defRPr sz="1800" b="0">
                <a:solidFill>
                  <a:srgbClr val="142D40"/>
                </a:solidFill>
                <a:latin typeface="Arial"/>
                <a:ea typeface="Arial"/>
                <a:cs typeface="Arial"/>
              </a:defRPr>
            </a:lvl6pPr>
            <a:lvl7pPr algn="l">
              <a:defRPr sz="1800" b="0">
                <a:solidFill>
                  <a:srgbClr val="142D40"/>
                </a:solidFill>
                <a:latin typeface="Arial"/>
                <a:ea typeface="Arial"/>
                <a:cs typeface="Arial"/>
              </a:defRPr>
            </a:lvl7pPr>
            <a:lvl8pPr algn="l">
              <a:defRPr sz="1800" b="0">
                <a:solidFill>
                  <a:srgbClr val="142D40"/>
                </a:solidFill>
                <a:latin typeface="Arial"/>
                <a:ea typeface="Arial"/>
                <a:cs typeface="Arial"/>
              </a:defRPr>
            </a:lvl8pPr>
            <a:lvl9pPr algn="l">
              <a:defRPr sz="1800" b="0">
                <a:solidFill>
                  <a:srgbClr val="142D40"/>
                </a:solidFill>
                <a:latin typeface="Arial"/>
                <a:ea typeface="Arial"/>
                <a:cs typeface="Arial"/>
              </a:defRPr>
            </a:lvl9pPr>
          </a:lstStyle>
          <a:p xmlns:a="http://schemas.openxmlformats.org/drawingml/2006/main">
            <a:pPr algn="l">
              <a:defRPr sz="1800" b="0">
                <a:solidFill>
                  <a:srgbClr val="142D40"/>
                </a:solidFill>
                <a:latin typeface="Arial"/>
                <a:ea typeface="Arial"/>
                <a:cs typeface="Arial"/>
              </a:defRPr>
            </a:pPr>
            <a:r>
              <a:rPr sz="1800" b="0">
                <a:solidFill>
                  <a:srgbClr val="142D40"/>
                </a:solidFill>
                <a:latin typeface="Arial"/>
                <a:ea typeface="Arial"/>
                <a:cs typeface="Arial"/>
              </a:rPr>
              <a:t>Recent-mean, seasonal or Ridge forecasts.</a:t>
            </a:r>
          </a:p>
          <a:p xmlns:a="http://schemas.openxmlformats.org/drawingml/2006/main">
            <a:pPr algn="l">
              <a:defRPr sz="1800" b="0">
                <a:solidFill>
                  <a:srgbClr val="142D40"/>
                </a:solidFill>
                <a:latin typeface="Arial"/>
                <a:ea typeface="Arial"/>
                <a:cs typeface="Arial"/>
              </a:defRPr>
            </a:pPr>
            <a:r>
              <a:rPr sz="1800" b="0">
                <a:solidFill>
                  <a:srgbClr val="142D40"/>
                </a:solidFill>
                <a:latin typeface="Arial"/>
                <a:ea typeface="Arial"/>
                <a:cs typeface="Arial"/>
              </a:rPr>
              <a:t>Windows: 24/96 readings; horizons up to 64.</a:t>
            </a:r>
          </a:p>
          <a:p xmlns:a="http://schemas.openxmlformats.org/drawingml/2006/main">
            <a:pPr algn="l">
              <a:defRPr sz="1800" b="0">
                <a:solidFill>
                  <a:srgbClr val="142D40"/>
                </a:solidFill>
                <a:latin typeface="Arial"/>
                <a:ea typeface="Arial"/>
                <a:cs typeface="Arial"/>
              </a:defRPr>
            </a:pPr>
            <a:r>
              <a:rPr sz="1800" b="0">
                <a:solidFill>
                  <a:srgbClr val="142D40"/>
                </a:solidFill>
                <a:latin typeface="Arial"/>
                <a:ea typeface="Arial"/>
                <a:cs typeface="Arial"/>
              </a:rPr>
              <a:t>Score the deviation from an expected range.</a:t>
            </a:r>
          </a:p>
        </p:txBody>
      </p:sp>
      <p:sp>
        <p:nvSpPr>
          <p:cNvPr id="12" name="shape-71">
            <a:extLst xmlns:a="http://schemas.openxmlformats.org/drawingml/2006/main">
              <a:ext uri="{FF2B5EF4-FFF2-40B4-BE49-F238E27FC236}">
                <a16:creationId xmlns:a16="http://schemas.microsoft.com/office/drawing/2014/main" id="{E09A6FDB-AC01-491C-962E-BFCC1744616F}"/>
              </a:ext>
            </a:extLst>
          </p:cNvPr>
          <p:cNvSpPr>
            <a:spLocks xmlns:a="http://schemas.openxmlformats.org/drawingml/2006/main" noGrp="1"/>
          </p:cNvSpPr>
          <p:nvPr/>
        </p:nvSpPr>
        <p:spPr>
          <a:xfrm xmlns:a="http://schemas.openxmlformats.org/drawingml/2006/main">
            <a:off x="6477000" y="3714750"/>
            <a:ext cx="5095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142D40"/>
                </a:solidFill>
                <a:latin typeface="Arial"/>
                <a:ea typeface="Arial"/>
                <a:cs typeface="Arial"/>
              </a:defRPr>
            </a:defPPr>
            <a:lvl1pPr algn="l">
              <a:defRPr sz="1875" b="1">
                <a:solidFill>
                  <a:srgbClr val="142D40"/>
                </a:solidFill>
                <a:latin typeface="Arial"/>
                <a:ea typeface="Arial"/>
                <a:cs typeface="Arial"/>
              </a:defRPr>
            </a:lvl1pPr>
            <a:lvl2pPr algn="l">
              <a:defRPr sz="1875" b="1">
                <a:solidFill>
                  <a:srgbClr val="142D40"/>
                </a:solidFill>
                <a:latin typeface="Arial"/>
                <a:ea typeface="Arial"/>
                <a:cs typeface="Arial"/>
              </a:defRPr>
            </a:lvl2pPr>
            <a:lvl3pPr algn="l">
              <a:defRPr sz="1875" b="1">
                <a:solidFill>
                  <a:srgbClr val="142D40"/>
                </a:solidFill>
                <a:latin typeface="Arial"/>
                <a:ea typeface="Arial"/>
                <a:cs typeface="Arial"/>
              </a:defRPr>
            </a:lvl3pPr>
            <a:lvl4pPr algn="l">
              <a:defRPr sz="1875" b="1">
                <a:solidFill>
                  <a:srgbClr val="142D40"/>
                </a:solidFill>
                <a:latin typeface="Arial"/>
                <a:ea typeface="Arial"/>
                <a:cs typeface="Arial"/>
              </a:defRPr>
            </a:lvl4pPr>
            <a:lvl5pPr algn="l">
              <a:defRPr sz="1875" b="1">
                <a:solidFill>
                  <a:srgbClr val="142D40"/>
                </a:solidFill>
                <a:latin typeface="Arial"/>
                <a:ea typeface="Arial"/>
                <a:cs typeface="Arial"/>
              </a:defRPr>
            </a:lvl5pPr>
            <a:lvl6pPr algn="l">
              <a:defRPr sz="1875" b="1">
                <a:solidFill>
                  <a:srgbClr val="142D40"/>
                </a:solidFill>
                <a:latin typeface="Arial"/>
                <a:ea typeface="Arial"/>
                <a:cs typeface="Arial"/>
              </a:defRPr>
            </a:lvl6pPr>
            <a:lvl7pPr algn="l">
              <a:defRPr sz="1875" b="1">
                <a:solidFill>
                  <a:srgbClr val="142D40"/>
                </a:solidFill>
                <a:latin typeface="Arial"/>
                <a:ea typeface="Arial"/>
                <a:cs typeface="Arial"/>
              </a:defRPr>
            </a:lvl7pPr>
            <a:lvl8pPr algn="l">
              <a:defRPr sz="1875" b="1">
                <a:solidFill>
                  <a:srgbClr val="142D40"/>
                </a:solidFill>
                <a:latin typeface="Arial"/>
                <a:ea typeface="Arial"/>
                <a:cs typeface="Arial"/>
              </a:defRPr>
            </a:lvl8pPr>
            <a:lvl9pPr algn="l">
              <a:defRPr sz="1875" b="1">
                <a:solidFill>
                  <a:srgbClr val="142D40"/>
                </a:solidFill>
                <a:latin typeface="Arial"/>
                <a:ea typeface="Arial"/>
                <a:cs typeface="Arial"/>
              </a:defRPr>
            </a:lvl9pPr>
          </a:lstStyle>
          <a:p xmlns:a="http://schemas.openxmlformats.org/drawingml/2006/main">
            <a:pPr algn="l">
              <a:defRPr sz="1875" b="1">
                <a:solidFill>
                  <a:srgbClr val="142D40"/>
                </a:solidFill>
                <a:latin typeface="Arial"/>
                <a:ea typeface="Arial"/>
                <a:cs typeface="Arial"/>
              </a:defRPr>
            </a:pPr>
            <a:r>
              <a:rPr sz="1875" b="1">
                <a:solidFill>
                  <a:srgbClr val="142D40"/>
                </a:solidFill>
                <a:latin typeface="Arial"/>
                <a:ea typeface="Arial"/>
                <a:cs typeface="Arial"/>
              </a:rPr>
              <a:t>Decision: score &gt; calibrated threshold</a:t>
            </a:r>
          </a:p>
        </p:txBody>
      </p:sp>
      <p:sp>
        <p:nvSpPr>
          <p:cNvPr id="13" name="shape-72">
            <a:extLst xmlns:a="http://schemas.openxmlformats.org/drawingml/2006/main">
              <a:ext uri="{FF2B5EF4-FFF2-40B4-BE49-F238E27FC236}">
                <a16:creationId xmlns:a16="http://schemas.microsoft.com/office/drawing/2014/main" id="{7499BEBB-7887-47BB-A2CF-6C38875AEB8B}"/>
              </a:ext>
            </a:extLst>
          </p:cNvPr>
          <p:cNvSpPr>
            <a:spLocks xmlns:a="http://schemas.openxmlformats.org/drawingml/2006/main" noGrp="1"/>
          </p:cNvSpPr>
          <p:nvPr/>
        </p:nvSpPr>
        <p:spPr>
          <a:xfrm xmlns:a="http://schemas.openxmlformats.org/drawingml/2006/main">
            <a:off x="6477000" y="4572000"/>
            <a:ext cx="5095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MAD or empirical calibration; optional</a:t>
            </a:r>
          </a:p>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past-only bias/scale updates. Persistence,</a:t>
            </a:r>
          </a:p>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recovery and cooldown reduce repeated alerts.</a:t>
            </a:r>
          </a:p>
        </p:txBody>
      </p:sp>
    </p:spTree>
    <p:extLst>
      <p:ext uri="{BB962C8B-B14F-4D97-AF65-F5344CB8AC3E}">
        <p14:creationId xmlns:p14="http://schemas.microsoft.com/office/powerpoint/2010/main" val="10355433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73">
            <a:extLst xmlns:a="http://schemas.openxmlformats.org/drawingml/2006/main">
              <a:ext uri="{FF2B5EF4-FFF2-40B4-BE49-F238E27FC236}">
                <a16:creationId xmlns:a16="http://schemas.microsoft.com/office/drawing/2014/main" id="{146A31AF-3C80-46AA-A313-75BD19C04768}"/>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Experiment history and selection</a:t>
            </a:r>
          </a:p>
        </p:txBody>
      </p:sp>
      <p:sp>
        <p:nvSpPr>
          <p:cNvPr id="3" name="shape-74">
            <a:extLst xmlns:a="http://schemas.openxmlformats.org/drawingml/2006/main">
              <a:ext uri="{FF2B5EF4-FFF2-40B4-BE49-F238E27FC236}">
                <a16:creationId xmlns:a16="http://schemas.microsoft.com/office/drawing/2014/main" id="{65DC18B7-C05B-4D20-9F99-F0DD7FA5AD3F}"/>
              </a:ext>
            </a:extLst>
          </p:cNvPr>
          <p:cNvSpPr>
            <a:spLocks xmlns:a="http://schemas.openxmlformats.org/drawingml/2006/main" noGrp="1"/>
          </p:cNvSpPr>
          <p:nvPr/>
        </p:nvSpPr>
        <p:spPr>
          <a:xfrm xmlns:a="http://schemas.openxmlformats.org/drawingml/2006/main">
            <a:off x="609600" y="11239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Fixed comparisons; best observed settings are reported after inspecting the results.</a:t>
            </a:r>
          </a:p>
        </p:txBody>
      </p:sp>
      <p:sp>
        <p:nvSpPr>
          <p:cNvPr id="4" name="shape-75">
            <a:extLst xmlns:a="http://schemas.openxmlformats.org/drawingml/2006/main">
              <a:ext uri="{FF2B5EF4-FFF2-40B4-BE49-F238E27FC236}">
                <a16:creationId xmlns:a16="http://schemas.microsoft.com/office/drawing/2014/main" id="{D1648D79-9330-4993-8EB6-B4123EA65DFE}"/>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5" name="shape-76">
            <a:extLst xmlns:a="http://schemas.openxmlformats.org/drawingml/2006/main">
              <a:ext uri="{FF2B5EF4-FFF2-40B4-BE49-F238E27FC236}">
                <a16:creationId xmlns:a16="http://schemas.microsoft.com/office/drawing/2014/main" id="{2CC9FA1F-572E-40CD-BF9C-45F68B171D21}"/>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6" name="shape-77">
            <a:extLst xmlns:a="http://schemas.openxmlformats.org/drawingml/2006/main">
              <a:ext uri="{FF2B5EF4-FFF2-40B4-BE49-F238E27FC236}">
                <a16:creationId xmlns:a16="http://schemas.microsoft.com/office/drawing/2014/main" id="{38B4AF81-D4B0-4C65-A848-45170FD665A6}"/>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06 / 10</a:t>
            </a:r>
          </a:p>
        </p:txBody>
      </p:sp>
      <p:graphicFrame>
        <p:nvGraphicFramePr>
          <p:cNvPr id="7" name="">
            <a:extLst xmlns:a="http://schemas.openxmlformats.org/drawingml/2006/main">
              <a:ext uri="{FF2B5EF4-FFF2-40B4-BE49-F238E27FC236}">
                <a16:creationId xmlns:a16="http://schemas.microsoft.com/office/drawing/2014/main" id="{89AD2C81-C5B6-4111-86C2-DB69E5125146}"/>
              </a:ext>
            </a:extLst>
          </p:cNvPr>
          <p:cNvGraphicFramePr/>
          <p:nvPr/>
        </p:nvGraphicFramePr>
        <p:xfrm>
          <a:off xmlns:a="http://schemas.openxmlformats.org/drawingml/2006/main" x="609600" y="1857375"/>
          <a:ext xmlns:a="http://schemas.openxmlformats.org/drawingml/2006/main" cx="10972800" cy="3333750"/>
        </p:xfrm>
        <a:graphic xmlns:a="http://schemas.openxmlformats.org/drawingml/2006/main">
          <a:graphicData uri="http://schemas.openxmlformats.org/drawingml/2006/table">
            <a:tbl>
              <a:tblPr/>
              <a:tblGrid>
                <a:gridCol w="2952750"/>
                <a:gridCol w="5257800"/>
                <a:gridCol w="2762250"/>
              </a:tblGrid>
              <a:tr h="555625">
                <a:tc>
                  <a:txBody>
                    <a:bodyPr lIns="95250" tIns="95250" rIns="95250" bIns="95250"/>
                    <a:lstStyle/>
                    <a:p>
                      <a:r>
                        <a:rPr sz="1575" b="1">
                          <a:solidFill>
                            <a:srgbClr val="FFFFFF"/>
                          </a:solidFill>
                          <a:latin typeface="Arial"/>
                          <a:ea typeface="Arial"/>
                          <a:cs typeface="Arial"/>
                        </a:rPr>
                        <a:t>Experiment family</a:t>
                      </a:r>
                    </a:p>
                  </a:txBody>
                  <a:tcPr marL="91440" marR="91440" marT="45720" marB="45720" anchor="ctr">
                    <a:lnL w="9525">
                      <a:solidFill>
                        <a:srgbClr val="D7E2E7"/>
                      </a:solidFill>
                      <a:prstDash val="solid"/>
                    </a:lnL>
                    <a:lnR w="9525">
                      <a:solidFill>
                        <a:srgbClr val="D7E2E7"/>
                      </a:solidFill>
                      <a:prstDash val="solid"/>
                    </a:lnR>
                    <a:lnT w="9525">
                      <a:solidFill>
                        <a:srgbClr val="D7E2E7"/>
                      </a:solidFill>
                      <a:prstDash val="solid"/>
                    </a:lnT>
                    <a:lnB w="9525">
                      <a:solidFill>
                        <a:srgbClr val="D7E2E7"/>
                      </a:solidFill>
                      <a:prstDash val="solid"/>
                    </a:lnB>
                    <a:solidFill>
                      <a:srgbClr val="142D40"/>
                    </a:solidFill>
                  </a:tcPr>
                </a:tc>
                <a:tc>
                  <a:txBody>
                    <a:bodyPr lIns="95250" tIns="95250" rIns="95250" bIns="95250"/>
                    <a:lstStyle/>
                    <a:p>
                      <a:r>
                        <a:rPr sz="1575" b="1">
                          <a:solidFill>
                            <a:srgbClr val="FFFFFF"/>
                          </a:solidFill>
                          <a:latin typeface="Arial"/>
                          <a:ea typeface="Arial"/>
                          <a:cs typeface="Arial"/>
                        </a:rPr>
                        <a:t>Settings compared</a:t>
                      </a:r>
                    </a:p>
                  </a:txBody>
                  <a:tcPr marL="91440" marR="91440" marT="45720" marB="45720" anchor="ctr">
                    <a:lnR w="9525">
                      <a:solidFill>
                        <a:srgbClr val="D7E2E7"/>
                      </a:solidFill>
                      <a:prstDash val="solid"/>
                    </a:lnR>
                    <a:lnT w="9525">
                      <a:solidFill>
                        <a:srgbClr val="D7E2E7"/>
                      </a:solidFill>
                      <a:prstDash val="solid"/>
                    </a:lnT>
                    <a:lnB w="9525">
                      <a:solidFill>
                        <a:srgbClr val="D7E2E7"/>
                      </a:solidFill>
                      <a:prstDash val="solid"/>
                    </a:lnB>
                    <a:solidFill>
                      <a:srgbClr val="142D40"/>
                    </a:solidFill>
                  </a:tcPr>
                </a:tc>
                <a:tc>
                  <a:txBody>
                    <a:bodyPr lIns="95250" tIns="95250" rIns="95250" bIns="95250"/>
                    <a:lstStyle/>
                    <a:p>
                      <a:r>
                        <a:rPr sz="1575" b="1">
                          <a:solidFill>
                            <a:srgbClr val="FFFFFF"/>
                          </a:solidFill>
                          <a:latin typeface="Arial"/>
                          <a:ea typeface="Arial"/>
                          <a:cs typeface="Arial"/>
                        </a:rPr>
                        <a:t>Completion</a:t>
                      </a:r>
                    </a:p>
                  </a:txBody>
                  <a:tcPr marL="91440" marR="91440" marT="45720" marB="45720" anchor="ctr">
                    <a:lnR w="9525">
                      <a:solidFill>
                        <a:srgbClr val="D7E2E7"/>
                      </a:solidFill>
                      <a:prstDash val="solid"/>
                    </a:lnR>
                    <a:lnT w="9525">
                      <a:solidFill>
                        <a:srgbClr val="D7E2E7"/>
                      </a:solidFill>
                      <a:prstDash val="solid"/>
                    </a:lnT>
                    <a:lnB w="9525">
                      <a:solidFill>
                        <a:srgbClr val="D7E2E7"/>
                      </a:solidFill>
                      <a:prstDash val="solid"/>
                    </a:lnB>
                    <a:solidFill>
                      <a:srgbClr val="142D40"/>
                    </a:solidFill>
                  </a:tcPr>
                </a:tc>
              </a:tr>
              <a:tr h="555625">
                <a:tc>
                  <a:txBody>
                    <a:bodyPr lIns="95250" tIns="95250" rIns="95250" bIns="95250"/>
                    <a:lstStyle/>
                    <a:p>
                      <a:r>
                        <a:rPr sz="1575" b="0">
                          <a:solidFill>
                            <a:srgbClr val="142D40"/>
                          </a:solidFill>
                          <a:latin typeface="Arial"/>
                          <a:ea typeface="Arial"/>
                          <a:cs typeface="Arial"/>
                        </a:rPr>
                        <a:t>Mean / squared difference</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Last 1, Last 3, Centered 3, Centered 5</a:t>
                      </a:r>
                    </a:p>
                  </a:txBody>
                  <a:tcPr marL="91440" marR="91440" marT="45720" marB="45720" anchor="ctr">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4 × 58 streams</a:t>
                      </a:r>
                    </a:p>
                  </a:txBody>
                  <a:tcPr marL="91440" marR="91440" marT="45720" marB="45720" anchor="ctr">
                    <a:lnR w="9525">
                      <a:solidFill>
                        <a:srgbClr val="D7E2E7"/>
                      </a:solidFill>
                      <a:prstDash val="solid"/>
                    </a:lnR>
                    <a:lnB w="9525">
                      <a:solidFill>
                        <a:srgbClr val="D7E2E7"/>
                      </a:solidFill>
                      <a:prstDash val="solid"/>
                    </a:lnB>
                    <a:solidFill>
                      <a:srgbClr val="FFFFFF"/>
                    </a:solidFill>
                  </a:tcPr>
                </a:tc>
              </a:tr>
              <a:tr h="555625">
                <a:tc>
                  <a:txBody>
                    <a:bodyPr lIns="95250" tIns="95250" rIns="95250" bIns="95250"/>
                    <a:lstStyle/>
                    <a:p>
                      <a:r>
                        <a:rPr sz="1575" b="0">
                          <a:solidFill>
                            <a:srgbClr val="142D40"/>
                          </a:solidFill>
                          <a:latin typeface="Arial"/>
                          <a:ea typeface="Arial"/>
                          <a:cs typeface="Arial"/>
                        </a:rPr>
                        <a:t>Moving variance</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3F7F8"/>
                    </a:solidFill>
                  </a:tcPr>
                </a:tc>
                <a:tc>
                  <a:txBody>
                    <a:bodyPr lIns="95250" tIns="95250" rIns="95250" bIns="95250"/>
                    <a:lstStyle/>
                    <a:p>
                      <a:r>
                        <a:rPr sz="1575" b="0">
                          <a:solidFill>
                            <a:srgbClr val="142D40"/>
                          </a:solidFill>
                          <a:latin typeface="Arial"/>
                          <a:ea typeface="Arial"/>
                          <a:cs typeface="Arial"/>
                        </a:rPr>
                        <a:t>64, 96, 256, 512, 1024 readings</a:t>
                      </a:r>
                    </a:p>
                  </a:txBody>
                  <a:tcPr marL="91440" marR="91440" marT="45720" marB="45720" anchor="ctr">
                    <a:lnR w="9525">
                      <a:solidFill>
                        <a:srgbClr val="D7E2E7"/>
                      </a:solidFill>
                      <a:prstDash val="solid"/>
                    </a:lnR>
                    <a:lnB w="9525">
                      <a:solidFill>
                        <a:srgbClr val="D7E2E7"/>
                      </a:solidFill>
                      <a:prstDash val="solid"/>
                    </a:lnB>
                    <a:solidFill>
                      <a:srgbClr val="F3F7F8"/>
                    </a:solidFill>
                  </a:tcPr>
                </a:tc>
                <a:tc>
                  <a:txBody>
                    <a:bodyPr lIns="95250" tIns="95250" rIns="95250" bIns="95250"/>
                    <a:lstStyle/>
                    <a:p>
                      <a:r>
                        <a:rPr sz="1575" b="0">
                          <a:solidFill>
                            <a:srgbClr val="142D40"/>
                          </a:solidFill>
                          <a:latin typeface="Arial"/>
                          <a:ea typeface="Arial"/>
                          <a:cs typeface="Arial"/>
                        </a:rPr>
                        <a:t>5 × 58 streams</a:t>
                      </a:r>
                    </a:p>
                  </a:txBody>
                  <a:tcPr marL="91440" marR="91440" marT="45720" marB="45720" anchor="ctr">
                    <a:lnR w="9525">
                      <a:solidFill>
                        <a:srgbClr val="D7E2E7"/>
                      </a:solidFill>
                      <a:prstDash val="solid"/>
                    </a:lnR>
                    <a:lnB w="9525">
                      <a:solidFill>
                        <a:srgbClr val="D7E2E7"/>
                      </a:solidFill>
                      <a:prstDash val="solid"/>
                    </a:lnB>
                    <a:solidFill>
                      <a:srgbClr val="F3F7F8"/>
                    </a:solidFill>
                  </a:tcPr>
                </a:tc>
              </a:tr>
              <a:tr h="555625">
                <a:tc>
                  <a:txBody>
                    <a:bodyPr lIns="95250" tIns="95250" rIns="95250" bIns="95250"/>
                    <a:lstStyle/>
                    <a:p>
                      <a:r>
                        <a:rPr sz="1575" b="0">
                          <a:solidFill>
                            <a:srgbClr val="142D40"/>
                          </a:solidFill>
                          <a:latin typeface="Arial"/>
                          <a:ea typeface="Arial"/>
                          <a:cs typeface="Arial"/>
                        </a:rPr>
                        <a:t>Score ensemble</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Variance 96 + Last 3; normalized maximum</a:t>
                      </a:r>
                    </a:p>
                  </a:txBody>
                  <a:tcPr marL="91440" marR="91440" marT="45720" marB="45720" anchor="ctr">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1 × 58 streams</a:t>
                      </a:r>
                    </a:p>
                  </a:txBody>
                  <a:tcPr marL="91440" marR="91440" marT="45720" marB="45720" anchor="ctr">
                    <a:lnR w="9525">
                      <a:solidFill>
                        <a:srgbClr val="D7E2E7"/>
                      </a:solidFill>
                      <a:prstDash val="solid"/>
                    </a:lnR>
                    <a:lnB w="9525">
                      <a:solidFill>
                        <a:srgbClr val="D7E2E7"/>
                      </a:solidFill>
                      <a:prstDash val="solid"/>
                    </a:lnB>
                    <a:solidFill>
                      <a:srgbClr val="FFFFFF"/>
                    </a:solidFill>
                  </a:tcPr>
                </a:tc>
              </a:tr>
              <a:tr h="555625">
                <a:tc>
                  <a:txBody>
                    <a:bodyPr lIns="95250" tIns="95250" rIns="95250" bIns="95250"/>
                    <a:lstStyle/>
                    <a:p>
                      <a:r>
                        <a:rPr sz="1575" b="0">
                          <a:solidFill>
                            <a:srgbClr val="142D40"/>
                          </a:solidFill>
                          <a:latin typeface="Arial"/>
                          <a:ea typeface="Arial"/>
                          <a:cs typeface="Arial"/>
                        </a:rPr>
                        <a:t>Pretrained reconstruction</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3F7F8"/>
                    </a:solidFill>
                  </a:tcPr>
                </a:tc>
                <a:tc>
                  <a:txBody>
                    <a:bodyPr lIns="95250" tIns="95250" rIns="95250" bIns="95250"/>
                    <a:lstStyle/>
                    <a:p>
                      <a:r>
                        <a:rPr sz="1575" b="0">
                          <a:solidFill>
                            <a:srgbClr val="142D40"/>
                          </a:solidFill>
                          <a:latin typeface="Arial"/>
                          <a:ea typeface="Arial"/>
                          <a:cs typeface="Arial"/>
                        </a:rPr>
                        <a:t>MOMENT-base: 64 and 256</a:t>
                      </a:r>
                    </a:p>
                  </a:txBody>
                  <a:tcPr marL="91440" marR="91440" marT="45720" marB="45720" anchor="ctr">
                    <a:lnR w="9525">
                      <a:solidFill>
                        <a:srgbClr val="D7E2E7"/>
                      </a:solidFill>
                      <a:prstDash val="solid"/>
                    </a:lnR>
                    <a:lnB w="9525">
                      <a:solidFill>
                        <a:srgbClr val="D7E2E7"/>
                      </a:solidFill>
                      <a:prstDash val="solid"/>
                    </a:lnB>
                    <a:solidFill>
                      <a:srgbClr val="F3F7F8"/>
                    </a:solidFill>
                  </a:tcPr>
                </a:tc>
                <a:tc>
                  <a:txBody>
                    <a:bodyPr lIns="95250" tIns="95250" rIns="95250" bIns="95250"/>
                    <a:lstStyle/>
                    <a:p>
                      <a:r>
                        <a:rPr sz="1575" b="0">
                          <a:solidFill>
                            <a:srgbClr val="142D40"/>
                          </a:solidFill>
                          <a:latin typeface="Arial"/>
                          <a:ea typeface="Arial"/>
                          <a:cs typeface="Arial"/>
                        </a:rPr>
                        <a:t>2 × 58 streams</a:t>
                      </a:r>
                    </a:p>
                  </a:txBody>
                  <a:tcPr marL="91440" marR="91440" marT="45720" marB="45720" anchor="ctr">
                    <a:lnR w="9525">
                      <a:solidFill>
                        <a:srgbClr val="D7E2E7"/>
                      </a:solidFill>
                      <a:prstDash val="solid"/>
                    </a:lnR>
                    <a:lnB w="9525">
                      <a:solidFill>
                        <a:srgbClr val="D7E2E7"/>
                      </a:solidFill>
                      <a:prstDash val="solid"/>
                    </a:lnB>
                    <a:solidFill>
                      <a:srgbClr val="F3F7F8"/>
                    </a:solidFill>
                  </a:tcPr>
                </a:tc>
              </a:tr>
              <a:tr h="555625">
                <a:tc>
                  <a:txBody>
                    <a:bodyPr lIns="95250" tIns="95250" rIns="95250" bIns="95250"/>
                    <a:lstStyle/>
                    <a:p>
                      <a:r>
                        <a:rPr sz="1575" b="0">
                          <a:solidFill>
                            <a:srgbClr val="142D40"/>
                          </a:solidFill>
                          <a:latin typeface="Arial"/>
                          <a:ea typeface="Arial"/>
                          <a:cs typeface="Arial"/>
                        </a:rPr>
                        <a:t>Next configuration</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MOMENT-base: 512</a:t>
                      </a:r>
                    </a:p>
                  </a:txBody>
                  <a:tcPr marL="91440" marR="91440" marT="45720" marB="45720" anchor="ctr">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18/58; interrupted</a:t>
                      </a:r>
                    </a:p>
                  </a:txBody>
                  <a:tcPr marL="91440" marR="91440" marT="45720" marB="45720" anchor="ctr">
                    <a:lnR w="9525">
                      <a:solidFill>
                        <a:srgbClr val="D7E2E7"/>
                      </a:solidFill>
                      <a:prstDash val="solid"/>
                    </a:lnR>
                    <a:lnB w="9525">
                      <a:solidFill>
                        <a:srgbClr val="D7E2E7"/>
                      </a:solidFill>
                      <a:prstDash val="solid"/>
                    </a:lnB>
                    <a:solidFill>
                      <a:srgbClr val="FFFFFF"/>
                    </a:solidFill>
                  </a:tcPr>
                </a:tc>
              </a:tr>
            </a:tbl>
          </a:graphicData>
        </a:graphic>
      </p:graphicFrame>
      <p:sp>
        <p:nvSpPr>
          <p:cNvPr id="8" name="shape-78">
            <a:extLst xmlns:a="http://schemas.openxmlformats.org/drawingml/2006/main">
              <a:ext uri="{FF2B5EF4-FFF2-40B4-BE49-F238E27FC236}">
                <a16:creationId xmlns:a16="http://schemas.microsoft.com/office/drawing/2014/main" id="{B356F60E-9F4B-4ACA-A4C2-FCB0EB99FAC8}"/>
              </a:ext>
            </a:extLst>
          </p:cNvPr>
          <p:cNvSpPr>
            <a:spLocks xmlns:a="http://schemas.openxmlformats.org/drawingml/2006/main" noGrp="1"/>
          </p:cNvSpPr>
          <p:nvPr/>
        </p:nvSpPr>
        <p:spPr>
          <a:xfrm xmlns:a="http://schemas.openxmlformats.org/drawingml/2006/main">
            <a:off x="609600" y="5505450"/>
            <a:ext cx="10972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067C75"/>
                </a:solidFill>
                <a:latin typeface="Arial"/>
                <a:ea typeface="Arial"/>
                <a:cs typeface="Arial"/>
              </a:defRPr>
            </a:defPPr>
            <a:lvl1pPr algn="l">
              <a:defRPr sz="1800" b="1">
                <a:solidFill>
                  <a:srgbClr val="067C75"/>
                </a:solidFill>
                <a:latin typeface="Arial"/>
                <a:ea typeface="Arial"/>
                <a:cs typeface="Arial"/>
              </a:defRPr>
            </a:lvl1pPr>
            <a:lvl2pPr algn="l">
              <a:defRPr sz="1800" b="1">
                <a:solidFill>
                  <a:srgbClr val="067C75"/>
                </a:solidFill>
                <a:latin typeface="Arial"/>
                <a:ea typeface="Arial"/>
                <a:cs typeface="Arial"/>
              </a:defRPr>
            </a:lvl2pPr>
            <a:lvl3pPr algn="l">
              <a:defRPr sz="1800" b="1">
                <a:solidFill>
                  <a:srgbClr val="067C75"/>
                </a:solidFill>
                <a:latin typeface="Arial"/>
                <a:ea typeface="Arial"/>
                <a:cs typeface="Arial"/>
              </a:defRPr>
            </a:lvl3pPr>
            <a:lvl4pPr algn="l">
              <a:defRPr sz="1800" b="1">
                <a:solidFill>
                  <a:srgbClr val="067C75"/>
                </a:solidFill>
                <a:latin typeface="Arial"/>
                <a:ea typeface="Arial"/>
                <a:cs typeface="Arial"/>
              </a:defRPr>
            </a:lvl4pPr>
            <a:lvl5pPr algn="l">
              <a:defRPr sz="1800" b="1">
                <a:solidFill>
                  <a:srgbClr val="067C75"/>
                </a:solidFill>
                <a:latin typeface="Arial"/>
                <a:ea typeface="Arial"/>
                <a:cs typeface="Arial"/>
              </a:defRPr>
            </a:lvl5pPr>
            <a:lvl6pPr algn="l">
              <a:defRPr sz="1800" b="1">
                <a:solidFill>
                  <a:srgbClr val="067C75"/>
                </a:solidFill>
                <a:latin typeface="Arial"/>
                <a:ea typeface="Arial"/>
                <a:cs typeface="Arial"/>
              </a:defRPr>
            </a:lvl6pPr>
            <a:lvl7pPr algn="l">
              <a:defRPr sz="1800" b="1">
                <a:solidFill>
                  <a:srgbClr val="067C75"/>
                </a:solidFill>
                <a:latin typeface="Arial"/>
                <a:ea typeface="Arial"/>
                <a:cs typeface="Arial"/>
              </a:defRPr>
            </a:lvl7pPr>
            <a:lvl8pPr algn="l">
              <a:defRPr sz="1800" b="1">
                <a:solidFill>
                  <a:srgbClr val="067C75"/>
                </a:solidFill>
                <a:latin typeface="Arial"/>
                <a:ea typeface="Arial"/>
                <a:cs typeface="Arial"/>
              </a:defRPr>
            </a:lvl8pPr>
            <a:lvl9pPr algn="l">
              <a:defRPr sz="1800" b="1">
                <a:solidFill>
                  <a:srgbClr val="067C75"/>
                </a:solidFill>
                <a:latin typeface="Arial"/>
                <a:ea typeface="Arial"/>
                <a:cs typeface="Arial"/>
              </a:defRPr>
            </a:lvl9pPr>
          </a:lstStyle>
          <a:p xmlns:a="http://schemas.openxmlformats.org/drawingml/2006/main">
            <a:pPr algn="l">
              <a:defRPr sz="1800" b="1">
                <a:solidFill>
                  <a:srgbClr val="067C75"/>
                </a:solidFill>
                <a:latin typeface="Arial"/>
                <a:ea typeface="Arial"/>
                <a:cs typeface="Arial"/>
              </a:defRPr>
            </a:pPr>
            <a:r>
              <a:rPr sz="1800" b="1">
                <a:solidFill>
                  <a:srgbClr val="067C75"/>
                </a:solidFill>
                <a:latin typeface="Arial"/>
                <a:ea typeface="Arial"/>
                <a:cs typeface="Arial"/>
              </a:rPr>
              <a:t>12 complete methods · 48 configurations planned · no foundation-model fine-tuning</a:t>
            </a:r>
          </a:p>
        </p:txBody>
      </p:sp>
    </p:spTree>
    <p:extLst>
      <p:ext uri="{BB962C8B-B14F-4D97-AF65-F5344CB8AC3E}">
        <p14:creationId xmlns:p14="http://schemas.microsoft.com/office/powerpoint/2010/main" val="132858632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79">
            <a:extLst xmlns:a="http://schemas.openxmlformats.org/drawingml/2006/main">
              <a:ext uri="{FF2B5EF4-FFF2-40B4-BE49-F238E27FC236}">
                <a16:creationId xmlns:a16="http://schemas.microsoft.com/office/drawing/2014/main" id="{EB95E17F-7C94-4B34-B2F0-AD093D47B64F}"/>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Evaluation methodology and operational metrics</a:t>
            </a:r>
          </a:p>
        </p:txBody>
      </p:sp>
      <p:sp>
        <p:nvSpPr>
          <p:cNvPr id="3" name="shape-80">
            <a:extLst xmlns:a="http://schemas.openxmlformats.org/drawingml/2006/main">
              <a:ext uri="{FF2B5EF4-FFF2-40B4-BE49-F238E27FC236}">
                <a16:creationId xmlns:a16="http://schemas.microsoft.com/office/drawing/2014/main" id="{AD3757FF-DDB6-4001-8926-A6992DEB943E}"/>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4" name="shape-81">
            <a:extLst xmlns:a="http://schemas.openxmlformats.org/drawingml/2006/main">
              <a:ext uri="{FF2B5EF4-FFF2-40B4-BE49-F238E27FC236}">
                <a16:creationId xmlns:a16="http://schemas.microsoft.com/office/drawing/2014/main" id="{517C4B3F-0285-4F9A-8A2F-2F3EABC63813}"/>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5" name="shape-82">
            <a:extLst xmlns:a="http://schemas.openxmlformats.org/drawingml/2006/main">
              <a:ext uri="{FF2B5EF4-FFF2-40B4-BE49-F238E27FC236}">
                <a16:creationId xmlns:a16="http://schemas.microsoft.com/office/drawing/2014/main" id="{17236DCD-4F5E-46F8-BDBC-594CFB419705}"/>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07 / 10</a:t>
            </a:r>
          </a:p>
        </p:txBody>
      </p:sp>
      <p:sp>
        <p:nvSpPr>
          <p:cNvPr id="6" name="shape-83">
            <a:extLst xmlns:a="http://schemas.openxmlformats.org/drawingml/2006/main">
              <a:ext uri="{FF2B5EF4-FFF2-40B4-BE49-F238E27FC236}">
                <a16:creationId xmlns:a16="http://schemas.microsoft.com/office/drawing/2014/main" id="{57CF0925-BE76-4323-A7E8-C610DCD1C1E9}"/>
              </a:ext>
            </a:extLst>
          </p:cNvPr>
          <p:cNvSpPr>
            <a:spLocks xmlns:a="http://schemas.openxmlformats.org/drawingml/2006/main" noGrp="1"/>
          </p:cNvSpPr>
          <p:nvPr/>
        </p:nvSpPr>
        <p:spPr>
          <a:xfrm xmlns:a="http://schemas.openxmlformats.org/drawingml/2006/main">
            <a:off x="609600" y="1409700"/>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AC5C22"/>
                </a:solidFill>
                <a:latin typeface="Arial"/>
                <a:ea typeface="Arial"/>
                <a:cs typeface="Arial"/>
              </a:defRPr>
            </a:defPPr>
            <a:lvl1pPr algn="l">
              <a:defRPr sz="2100" b="1">
                <a:solidFill>
                  <a:srgbClr val="AC5C22"/>
                </a:solidFill>
                <a:latin typeface="Arial"/>
                <a:ea typeface="Arial"/>
                <a:cs typeface="Arial"/>
              </a:defRPr>
            </a:lvl1pPr>
            <a:lvl2pPr algn="l">
              <a:defRPr sz="2100" b="1">
                <a:solidFill>
                  <a:srgbClr val="AC5C22"/>
                </a:solidFill>
                <a:latin typeface="Arial"/>
                <a:ea typeface="Arial"/>
                <a:cs typeface="Arial"/>
              </a:defRPr>
            </a:lvl2pPr>
            <a:lvl3pPr algn="l">
              <a:defRPr sz="2100" b="1">
                <a:solidFill>
                  <a:srgbClr val="AC5C22"/>
                </a:solidFill>
                <a:latin typeface="Arial"/>
                <a:ea typeface="Arial"/>
                <a:cs typeface="Arial"/>
              </a:defRPr>
            </a:lvl3pPr>
            <a:lvl4pPr algn="l">
              <a:defRPr sz="2100" b="1">
                <a:solidFill>
                  <a:srgbClr val="AC5C22"/>
                </a:solidFill>
                <a:latin typeface="Arial"/>
                <a:ea typeface="Arial"/>
                <a:cs typeface="Arial"/>
              </a:defRPr>
            </a:lvl4pPr>
            <a:lvl5pPr algn="l">
              <a:defRPr sz="2100" b="1">
                <a:solidFill>
                  <a:srgbClr val="AC5C22"/>
                </a:solidFill>
                <a:latin typeface="Arial"/>
                <a:ea typeface="Arial"/>
                <a:cs typeface="Arial"/>
              </a:defRPr>
            </a:lvl5pPr>
            <a:lvl6pPr algn="l">
              <a:defRPr sz="2100" b="1">
                <a:solidFill>
                  <a:srgbClr val="AC5C22"/>
                </a:solidFill>
                <a:latin typeface="Arial"/>
                <a:ea typeface="Arial"/>
                <a:cs typeface="Arial"/>
              </a:defRPr>
            </a:lvl6pPr>
            <a:lvl7pPr algn="l">
              <a:defRPr sz="2100" b="1">
                <a:solidFill>
                  <a:srgbClr val="AC5C22"/>
                </a:solidFill>
                <a:latin typeface="Arial"/>
                <a:ea typeface="Arial"/>
                <a:cs typeface="Arial"/>
              </a:defRPr>
            </a:lvl7pPr>
            <a:lvl8pPr algn="l">
              <a:defRPr sz="2100" b="1">
                <a:solidFill>
                  <a:srgbClr val="AC5C22"/>
                </a:solidFill>
                <a:latin typeface="Arial"/>
                <a:ea typeface="Arial"/>
                <a:cs typeface="Arial"/>
              </a:defRPr>
            </a:lvl8pPr>
            <a:lvl9pPr algn="l">
              <a:defRPr sz="2100" b="1">
                <a:solidFill>
                  <a:srgbClr val="AC5C22"/>
                </a:solidFill>
                <a:latin typeface="Arial"/>
                <a:ea typeface="Arial"/>
                <a:cs typeface="Arial"/>
              </a:defRPr>
            </a:lvl9pPr>
          </a:lstStyle>
          <a:p xmlns:a="http://schemas.openxmlformats.org/drawingml/2006/main">
            <a:pPr algn="l">
              <a:defRPr sz="2100" b="1">
                <a:solidFill>
                  <a:srgbClr val="AC5C22"/>
                </a:solidFill>
                <a:latin typeface="Arial"/>
                <a:ea typeface="Arial"/>
                <a:cs typeface="Arial"/>
              </a:defRPr>
            </a:pPr>
            <a:r>
              <a:rPr sz="2100" b="1">
                <a:solidFill>
                  <a:srgbClr val="AC5C22"/>
                </a:solidFill>
                <a:latin typeface="Arial"/>
                <a:ea typeface="Arial"/>
                <a:cs typeface="Arial"/>
              </a:rPr>
              <a:t>Offline benchmark</a:t>
            </a:r>
          </a:p>
        </p:txBody>
      </p:sp>
      <p:sp>
        <p:nvSpPr>
          <p:cNvPr id="7" name="shape-84">
            <a:extLst xmlns:a="http://schemas.openxmlformats.org/drawingml/2006/main">
              <a:ext uri="{FF2B5EF4-FFF2-40B4-BE49-F238E27FC236}">
                <a16:creationId xmlns:a16="http://schemas.microsoft.com/office/drawing/2014/main" id="{491C1FBF-039B-4844-9D82-A9FA0B24C453}"/>
              </a:ext>
            </a:extLst>
          </p:cNvPr>
          <p:cNvSpPr>
            <a:spLocks xmlns:a="http://schemas.openxmlformats.org/drawingml/2006/main" noGrp="1"/>
          </p:cNvSpPr>
          <p:nvPr/>
        </p:nvSpPr>
        <p:spPr>
          <a:xfrm xmlns:a="http://schemas.openxmlformats.org/drawingml/2006/main">
            <a:off x="609600" y="2000250"/>
            <a:ext cx="5238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36775"/>
                </a:solidFill>
                <a:latin typeface="Arial"/>
                <a:ea typeface="Arial"/>
                <a:cs typeface="Arial"/>
              </a:defRPr>
            </a:defPPr>
            <a:lvl1pPr algn="l">
              <a:defRPr sz="1725" b="0">
                <a:solidFill>
                  <a:srgbClr val="536775"/>
                </a:solidFill>
                <a:latin typeface="Arial"/>
                <a:ea typeface="Arial"/>
                <a:cs typeface="Arial"/>
              </a:defRPr>
            </a:lvl1pPr>
            <a:lvl2pPr algn="l">
              <a:defRPr sz="1725" b="0">
                <a:solidFill>
                  <a:srgbClr val="536775"/>
                </a:solidFill>
                <a:latin typeface="Arial"/>
                <a:ea typeface="Arial"/>
                <a:cs typeface="Arial"/>
              </a:defRPr>
            </a:lvl2pPr>
            <a:lvl3pPr algn="l">
              <a:defRPr sz="1725" b="0">
                <a:solidFill>
                  <a:srgbClr val="536775"/>
                </a:solidFill>
                <a:latin typeface="Arial"/>
                <a:ea typeface="Arial"/>
                <a:cs typeface="Arial"/>
              </a:defRPr>
            </a:lvl3pPr>
            <a:lvl4pPr algn="l">
              <a:defRPr sz="1725" b="0">
                <a:solidFill>
                  <a:srgbClr val="536775"/>
                </a:solidFill>
                <a:latin typeface="Arial"/>
                <a:ea typeface="Arial"/>
                <a:cs typeface="Arial"/>
              </a:defRPr>
            </a:lvl4pPr>
            <a:lvl5pPr algn="l">
              <a:defRPr sz="1725" b="0">
                <a:solidFill>
                  <a:srgbClr val="536775"/>
                </a:solidFill>
                <a:latin typeface="Arial"/>
                <a:ea typeface="Arial"/>
                <a:cs typeface="Arial"/>
              </a:defRPr>
            </a:lvl5pPr>
            <a:lvl6pPr algn="l">
              <a:defRPr sz="1725" b="0">
                <a:solidFill>
                  <a:srgbClr val="536775"/>
                </a:solidFill>
                <a:latin typeface="Arial"/>
                <a:ea typeface="Arial"/>
                <a:cs typeface="Arial"/>
              </a:defRPr>
            </a:lvl6pPr>
            <a:lvl7pPr algn="l">
              <a:defRPr sz="1725" b="0">
                <a:solidFill>
                  <a:srgbClr val="536775"/>
                </a:solidFill>
                <a:latin typeface="Arial"/>
                <a:ea typeface="Arial"/>
                <a:cs typeface="Arial"/>
              </a:defRPr>
            </a:lvl7pPr>
            <a:lvl8pPr algn="l">
              <a:defRPr sz="1725" b="0">
                <a:solidFill>
                  <a:srgbClr val="536775"/>
                </a:solidFill>
                <a:latin typeface="Arial"/>
                <a:ea typeface="Arial"/>
                <a:cs typeface="Arial"/>
              </a:defRPr>
            </a:lvl8pPr>
            <a:lvl9pPr algn="l">
              <a:defRPr sz="1725" b="0">
                <a:solidFill>
                  <a:srgbClr val="536775"/>
                </a:solidFill>
                <a:latin typeface="Arial"/>
                <a:ea typeface="Arial"/>
                <a:cs typeface="Arial"/>
              </a:defRPr>
            </a:lvl9pPr>
          </a:lstStyle>
          <a:p xmlns:a="http://schemas.openxmlformats.org/drawingml/2006/main">
            <a:pPr algn="l">
              <a:defRPr sz="1725" b="0">
                <a:solidFill>
                  <a:srgbClr val="536775"/>
                </a:solidFill>
                <a:latin typeface="Arial"/>
                <a:ea typeface="Arial"/>
                <a:cs typeface="Arial"/>
              </a:defRPr>
            </a:pPr>
            <a:r>
              <a:rPr sz="1725" b="0">
                <a:solidFill>
                  <a:srgbClr val="536775"/>
                </a:solidFill>
                <a:latin typeface="Arial"/>
                <a:ea typeface="Arial"/>
                <a:cs typeface="Arial"/>
              </a:rPr>
              <a:t>Entire series; averages over 52 valid streams.</a:t>
            </a:r>
          </a:p>
          <a:p xmlns:a="http://schemas.openxmlformats.org/drawingml/2006/main">
            <a:pPr algn="l">
              <a:defRPr sz="1725" b="0">
                <a:solidFill>
                  <a:srgbClr val="536775"/>
                </a:solidFill>
                <a:latin typeface="Arial"/>
                <a:ea typeface="Arial"/>
                <a:cs typeface="Arial"/>
              </a:defRPr>
            </a:pPr>
            <a:r>
              <a:rPr sz="1725" b="0">
                <a:solidFill>
                  <a:srgbClr val="536775"/>
                </a:solidFill>
                <a:latin typeface="Arial"/>
                <a:ea typeface="Arial"/>
                <a:cs typeface="Arial"/>
              </a:rPr>
              <a:t>Centered context and label-chosen thresholds.</a:t>
            </a:r>
          </a:p>
          <a:p xmlns:a="http://schemas.openxmlformats.org/drawingml/2006/main">
            <a:pPr algn="l">
              <a:defRPr sz="1725" b="0">
                <a:solidFill>
                  <a:srgbClr val="536775"/>
                </a:solidFill>
                <a:latin typeface="Arial"/>
                <a:ea typeface="Arial"/>
                <a:cs typeface="Arial"/>
              </a:defRPr>
            </a:pPr>
            <a:r>
              <a:rPr sz="1725" b="0">
                <a:solidFill>
                  <a:srgbClr val="536775"/>
                </a:solidFill>
                <a:latin typeface="Arial"/>
                <a:ea typeface="Arial"/>
                <a:cs typeface="Arial"/>
              </a:rPr>
              <a:t>Event-F1 and VUS-PR are reported separately.</a:t>
            </a:r>
          </a:p>
        </p:txBody>
      </p:sp>
      <p:sp>
        <p:nvSpPr>
          <p:cNvPr id="8" name="shape-85">
            <a:extLst xmlns:a="http://schemas.openxmlformats.org/drawingml/2006/main">
              <a:ext uri="{FF2B5EF4-FFF2-40B4-BE49-F238E27FC236}">
                <a16:creationId xmlns:a16="http://schemas.microsoft.com/office/drawing/2014/main" id="{1E2AE706-5160-4AB2-ACCC-73B9F80A5083}"/>
              </a:ext>
            </a:extLst>
          </p:cNvPr>
          <p:cNvSpPr>
            <a:spLocks xmlns:a="http://schemas.openxmlformats.org/drawingml/2006/main" noGrp="1"/>
          </p:cNvSpPr>
          <p:nvPr/>
        </p:nvSpPr>
        <p:spPr>
          <a:xfrm xmlns:a="http://schemas.openxmlformats.org/drawingml/2006/main">
            <a:off x="609600" y="3571875"/>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067C75"/>
                </a:solidFill>
                <a:latin typeface="Arial"/>
                <a:ea typeface="Arial"/>
                <a:cs typeface="Arial"/>
              </a:defRPr>
            </a:defPPr>
            <a:lvl1pPr algn="l">
              <a:defRPr sz="2100" b="1">
                <a:solidFill>
                  <a:srgbClr val="067C75"/>
                </a:solidFill>
                <a:latin typeface="Arial"/>
                <a:ea typeface="Arial"/>
                <a:cs typeface="Arial"/>
              </a:defRPr>
            </a:lvl1pPr>
            <a:lvl2pPr algn="l">
              <a:defRPr sz="2100" b="1">
                <a:solidFill>
                  <a:srgbClr val="067C75"/>
                </a:solidFill>
                <a:latin typeface="Arial"/>
                <a:ea typeface="Arial"/>
                <a:cs typeface="Arial"/>
              </a:defRPr>
            </a:lvl2pPr>
            <a:lvl3pPr algn="l">
              <a:defRPr sz="2100" b="1">
                <a:solidFill>
                  <a:srgbClr val="067C75"/>
                </a:solidFill>
                <a:latin typeface="Arial"/>
                <a:ea typeface="Arial"/>
                <a:cs typeface="Arial"/>
              </a:defRPr>
            </a:lvl3pPr>
            <a:lvl4pPr algn="l">
              <a:defRPr sz="2100" b="1">
                <a:solidFill>
                  <a:srgbClr val="067C75"/>
                </a:solidFill>
                <a:latin typeface="Arial"/>
                <a:ea typeface="Arial"/>
                <a:cs typeface="Arial"/>
              </a:defRPr>
            </a:lvl4pPr>
            <a:lvl5pPr algn="l">
              <a:defRPr sz="2100" b="1">
                <a:solidFill>
                  <a:srgbClr val="067C75"/>
                </a:solidFill>
                <a:latin typeface="Arial"/>
                <a:ea typeface="Arial"/>
                <a:cs typeface="Arial"/>
              </a:defRPr>
            </a:lvl5pPr>
            <a:lvl6pPr algn="l">
              <a:defRPr sz="2100" b="1">
                <a:solidFill>
                  <a:srgbClr val="067C75"/>
                </a:solidFill>
                <a:latin typeface="Arial"/>
                <a:ea typeface="Arial"/>
                <a:cs typeface="Arial"/>
              </a:defRPr>
            </a:lvl6pPr>
            <a:lvl7pPr algn="l">
              <a:defRPr sz="2100" b="1">
                <a:solidFill>
                  <a:srgbClr val="067C75"/>
                </a:solidFill>
                <a:latin typeface="Arial"/>
                <a:ea typeface="Arial"/>
                <a:cs typeface="Arial"/>
              </a:defRPr>
            </a:lvl7pPr>
            <a:lvl8pPr algn="l">
              <a:defRPr sz="2100" b="1">
                <a:solidFill>
                  <a:srgbClr val="067C75"/>
                </a:solidFill>
                <a:latin typeface="Arial"/>
                <a:ea typeface="Arial"/>
                <a:cs typeface="Arial"/>
              </a:defRPr>
            </a:lvl8pPr>
            <a:lvl9pPr algn="l">
              <a:defRPr sz="2100" b="1">
                <a:solidFill>
                  <a:srgbClr val="067C75"/>
                </a:solidFill>
                <a:latin typeface="Arial"/>
                <a:ea typeface="Arial"/>
                <a:cs typeface="Arial"/>
              </a:defRPr>
            </a:lvl9pPr>
          </a:lstStyle>
          <a:p xmlns:a="http://schemas.openxmlformats.org/drawingml/2006/main">
            <a:pPr algn="l">
              <a:defRPr sz="2100" b="1">
                <a:solidFill>
                  <a:srgbClr val="067C75"/>
                </a:solidFill>
                <a:latin typeface="Arial"/>
                <a:ea typeface="Arial"/>
                <a:cs typeface="Arial"/>
              </a:defRPr>
            </a:pPr>
            <a:r>
              <a:rPr sz="2100" b="1">
                <a:solidFill>
                  <a:srgbClr val="067C75"/>
                </a:solidFill>
                <a:latin typeface="Arial"/>
                <a:ea typeface="Arial"/>
                <a:cs typeface="Arial"/>
              </a:rPr>
              <a:t>Chronological streaming replay</a:t>
            </a:r>
          </a:p>
        </p:txBody>
      </p:sp>
      <p:sp>
        <p:nvSpPr>
          <p:cNvPr id="9" name="shape-86">
            <a:extLst xmlns:a="http://schemas.openxmlformats.org/drawingml/2006/main">
              <a:ext uri="{FF2B5EF4-FFF2-40B4-BE49-F238E27FC236}">
                <a16:creationId xmlns:a16="http://schemas.microsoft.com/office/drawing/2014/main" id="{0AA944E9-918B-4EDA-B574-F8EA0046B507}"/>
              </a:ext>
            </a:extLst>
          </p:cNvPr>
          <p:cNvSpPr>
            <a:spLocks xmlns:a="http://schemas.openxmlformats.org/drawingml/2006/main" noGrp="1"/>
          </p:cNvSpPr>
          <p:nvPr/>
        </p:nvSpPr>
        <p:spPr>
          <a:xfrm xmlns:a="http://schemas.openxmlformats.org/drawingml/2006/main">
            <a:off x="609600" y="4162425"/>
            <a:ext cx="5238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36775"/>
                </a:solidFill>
                <a:latin typeface="Arial"/>
                <a:ea typeface="Arial"/>
                <a:cs typeface="Arial"/>
              </a:defRPr>
            </a:defPPr>
            <a:lvl1pPr algn="l">
              <a:defRPr sz="1725" b="0">
                <a:solidFill>
                  <a:srgbClr val="536775"/>
                </a:solidFill>
                <a:latin typeface="Arial"/>
                <a:ea typeface="Arial"/>
                <a:cs typeface="Arial"/>
              </a:defRPr>
            </a:lvl1pPr>
            <a:lvl2pPr algn="l">
              <a:defRPr sz="1725" b="0">
                <a:solidFill>
                  <a:srgbClr val="536775"/>
                </a:solidFill>
                <a:latin typeface="Arial"/>
                <a:ea typeface="Arial"/>
                <a:cs typeface="Arial"/>
              </a:defRPr>
            </a:lvl2pPr>
            <a:lvl3pPr algn="l">
              <a:defRPr sz="1725" b="0">
                <a:solidFill>
                  <a:srgbClr val="536775"/>
                </a:solidFill>
                <a:latin typeface="Arial"/>
                <a:ea typeface="Arial"/>
                <a:cs typeface="Arial"/>
              </a:defRPr>
            </a:lvl3pPr>
            <a:lvl4pPr algn="l">
              <a:defRPr sz="1725" b="0">
                <a:solidFill>
                  <a:srgbClr val="536775"/>
                </a:solidFill>
                <a:latin typeface="Arial"/>
                <a:ea typeface="Arial"/>
                <a:cs typeface="Arial"/>
              </a:defRPr>
            </a:lvl4pPr>
            <a:lvl5pPr algn="l">
              <a:defRPr sz="1725" b="0">
                <a:solidFill>
                  <a:srgbClr val="536775"/>
                </a:solidFill>
                <a:latin typeface="Arial"/>
                <a:ea typeface="Arial"/>
                <a:cs typeface="Arial"/>
              </a:defRPr>
            </a:lvl5pPr>
            <a:lvl6pPr algn="l">
              <a:defRPr sz="1725" b="0">
                <a:solidFill>
                  <a:srgbClr val="536775"/>
                </a:solidFill>
                <a:latin typeface="Arial"/>
                <a:ea typeface="Arial"/>
                <a:cs typeface="Arial"/>
              </a:defRPr>
            </a:lvl6pPr>
            <a:lvl7pPr algn="l">
              <a:defRPr sz="1725" b="0">
                <a:solidFill>
                  <a:srgbClr val="536775"/>
                </a:solidFill>
                <a:latin typeface="Arial"/>
                <a:ea typeface="Arial"/>
                <a:cs typeface="Arial"/>
              </a:defRPr>
            </a:lvl7pPr>
            <a:lvl8pPr algn="l">
              <a:defRPr sz="1725" b="0">
                <a:solidFill>
                  <a:srgbClr val="536775"/>
                </a:solidFill>
                <a:latin typeface="Arial"/>
                <a:ea typeface="Arial"/>
                <a:cs typeface="Arial"/>
              </a:defRPr>
            </a:lvl8pPr>
            <a:lvl9pPr algn="l">
              <a:defRPr sz="1725" b="0">
                <a:solidFill>
                  <a:srgbClr val="536775"/>
                </a:solidFill>
                <a:latin typeface="Arial"/>
                <a:ea typeface="Arial"/>
                <a:cs typeface="Arial"/>
              </a:defRPr>
            </a:lvl9pPr>
          </a:lstStyle>
          <a:p xmlns:a="http://schemas.openxmlformats.org/drawingml/2006/main">
            <a:pPr algn="l">
              <a:defRPr sz="1725" b="0">
                <a:solidFill>
                  <a:srgbClr val="536775"/>
                </a:solidFill>
                <a:latin typeface="Arial"/>
                <a:ea typeface="Arial"/>
                <a:cs typeface="Arial"/>
              </a:defRPr>
            </a:pPr>
            <a:r>
              <a:rPr sz="1725" b="0">
                <a:solidFill>
                  <a:srgbClr val="536775"/>
                </a:solidFill>
                <a:latin typeface="Arial"/>
                <a:ea typeface="Arial"/>
                <a:cs typeface="Arial"/>
              </a:rPr>
              <a:t>50% train / 20% calibrate / 15% validate / 15% test.</a:t>
            </a:r>
          </a:p>
          <a:p xmlns:a="http://schemas.openxmlformats.org/drawingml/2006/main">
            <a:pPr algn="l">
              <a:defRPr sz="1725" b="0">
                <a:solidFill>
                  <a:srgbClr val="536775"/>
                </a:solidFill>
                <a:latin typeface="Arial"/>
                <a:ea typeface="Arial"/>
                <a:cs typeface="Arial"/>
              </a:defRPr>
            </a:pPr>
            <a:r>
              <a:rPr sz="1725" b="0">
                <a:solidFill>
                  <a:srgbClr val="536775"/>
                </a:solidFill>
                <a:latin typeface="Arial"/>
                <a:ea typeface="Arial"/>
                <a:cs typeface="Arial"/>
              </a:rPr>
              <a:t>One matched alert onset per true event.</a:t>
            </a:r>
          </a:p>
          <a:p xmlns:a="http://schemas.openxmlformats.org/drawingml/2006/main">
            <a:pPr algn="l">
              <a:defRPr sz="1725" b="0">
                <a:solidFill>
                  <a:srgbClr val="536775"/>
                </a:solidFill>
                <a:latin typeface="Arial"/>
                <a:ea typeface="Arial"/>
                <a:cs typeface="Arial"/>
              </a:defRPr>
            </a:pPr>
            <a:r>
              <a:rPr sz="1725" b="0">
                <a:solidFill>
                  <a:srgbClr val="536775"/>
                </a:solidFill>
                <a:latin typeface="Arial"/>
                <a:ea typeface="Arial"/>
                <a:cs typeface="Arial"/>
              </a:rPr>
              <a:t>Duplicates count as false alerts.</a:t>
            </a:r>
          </a:p>
          <a:p xmlns:a="http://schemas.openxmlformats.org/drawingml/2006/main">
            <a:pPr algn="l">
              <a:defRPr sz="1725" b="0">
                <a:solidFill>
                  <a:srgbClr val="536775"/>
                </a:solidFill>
                <a:latin typeface="Arial"/>
                <a:ea typeface="Arial"/>
                <a:cs typeface="Arial"/>
              </a:defRPr>
            </a:pPr>
            <a:r>
              <a:rPr sz="1725" b="0">
                <a:solidFill>
                  <a:srgbClr val="536775"/>
                </a:solidFill>
                <a:latin typeface="Arial"/>
                <a:ea typeface="Arial"/>
                <a:cs typeface="Arial"/>
              </a:rPr>
              <a:t>Public test sections were previously inspected.</a:t>
            </a:r>
          </a:p>
        </p:txBody>
      </p:sp>
      <p:graphicFrame>
        <p:nvGraphicFramePr>
          <p:cNvPr id="10" name="">
            <a:extLst xmlns:a="http://schemas.openxmlformats.org/drawingml/2006/main">
              <a:ext uri="{FF2B5EF4-FFF2-40B4-BE49-F238E27FC236}">
                <a16:creationId xmlns:a16="http://schemas.microsoft.com/office/drawing/2014/main" id="{74209581-A1C8-4DB9-96DC-BD87B09D6D6C}"/>
              </a:ext>
            </a:extLst>
          </p:cNvPr>
          <p:cNvGraphicFramePr/>
          <p:nvPr/>
        </p:nvGraphicFramePr>
        <p:xfrm>
          <a:off xmlns:a="http://schemas.openxmlformats.org/drawingml/2006/main" x="6238875" y="1504950"/>
          <a:ext xmlns:a="http://schemas.openxmlformats.org/drawingml/2006/main" cx="5334000" cy="3714750"/>
        </p:xfrm>
        <a:graphic xmlns:a="http://schemas.openxmlformats.org/drawingml/2006/main">
          <a:graphicData uri="http://schemas.openxmlformats.org/drawingml/2006/table">
            <a:tbl>
              <a:tblPr/>
              <a:tblGrid>
                <a:gridCol w="3333750"/>
                <a:gridCol w="2000250"/>
              </a:tblGrid>
              <a:tr h="530679">
                <a:tc>
                  <a:txBody>
                    <a:bodyPr lIns="95250" tIns="95250" rIns="95250" bIns="95250"/>
                    <a:lstStyle/>
                    <a:p>
                      <a:r>
                        <a:rPr sz="1575" b="1">
                          <a:solidFill>
                            <a:srgbClr val="FFFFFF"/>
                          </a:solidFill>
                          <a:latin typeface="Arial"/>
                          <a:ea typeface="Arial"/>
                          <a:cs typeface="Arial"/>
                        </a:rPr>
                        <a:t>Streaming metric</a:t>
                      </a:r>
                    </a:p>
                  </a:txBody>
                  <a:tcPr marL="91440" marR="91440" marT="45720" marB="45720" anchor="ctr">
                    <a:lnL w="9525">
                      <a:solidFill>
                        <a:srgbClr val="D7E2E7"/>
                      </a:solidFill>
                      <a:prstDash val="solid"/>
                    </a:lnL>
                    <a:lnR w="9525">
                      <a:solidFill>
                        <a:srgbClr val="D7E2E7"/>
                      </a:solidFill>
                      <a:prstDash val="solid"/>
                    </a:lnR>
                    <a:lnT w="9525">
                      <a:solidFill>
                        <a:srgbClr val="D7E2E7"/>
                      </a:solidFill>
                      <a:prstDash val="solid"/>
                    </a:lnT>
                    <a:lnB w="9525">
                      <a:solidFill>
                        <a:srgbClr val="D7E2E7"/>
                      </a:solidFill>
                      <a:prstDash val="solid"/>
                    </a:lnB>
                    <a:solidFill>
                      <a:srgbClr val="142D40"/>
                    </a:solidFill>
                  </a:tcPr>
                </a:tc>
                <a:tc>
                  <a:txBody>
                    <a:bodyPr lIns="95250" tIns="95250" rIns="95250" bIns="95250"/>
                    <a:lstStyle/>
                    <a:p>
                      <a:r>
                        <a:rPr sz="1575" b="1">
                          <a:solidFill>
                            <a:srgbClr val="FFFFFF"/>
                          </a:solidFill>
                          <a:latin typeface="Arial"/>
                          <a:ea typeface="Arial"/>
                          <a:cs typeface="Arial"/>
                        </a:rPr>
                        <a:t>Measured result</a:t>
                      </a:r>
                    </a:p>
                  </a:txBody>
                  <a:tcPr marL="91440" marR="91440" marT="45720" marB="45720" anchor="ctr">
                    <a:lnR w="9525">
                      <a:solidFill>
                        <a:srgbClr val="D7E2E7"/>
                      </a:solidFill>
                      <a:prstDash val="solid"/>
                    </a:lnR>
                    <a:lnT w="9525">
                      <a:solidFill>
                        <a:srgbClr val="D7E2E7"/>
                      </a:solidFill>
                      <a:prstDash val="solid"/>
                    </a:lnT>
                    <a:lnB w="9525">
                      <a:solidFill>
                        <a:srgbClr val="D7E2E7"/>
                      </a:solidFill>
                      <a:prstDash val="solid"/>
                    </a:lnB>
                    <a:solidFill>
                      <a:srgbClr val="142D40"/>
                    </a:solidFill>
                  </a:tcPr>
                </a:tc>
              </a:tr>
              <a:tr h="530679">
                <a:tc>
                  <a:txBody>
                    <a:bodyPr lIns="95250" tIns="95250" rIns="95250" bIns="95250"/>
                    <a:lstStyle/>
                    <a:p>
                      <a:r>
                        <a:rPr sz="1575" b="0">
                          <a:solidFill>
                            <a:srgbClr val="142D40"/>
                          </a:solidFill>
                          <a:latin typeface="Arial"/>
                          <a:ea typeface="Arial"/>
                          <a:cs typeface="Arial"/>
                        </a:rPr>
                        <a:t>Event precision</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24.56%</a:t>
                      </a:r>
                    </a:p>
                  </a:txBody>
                  <a:tcPr marL="91440" marR="91440" marT="45720" marB="45720" anchor="ctr">
                    <a:lnR w="9525">
                      <a:solidFill>
                        <a:srgbClr val="D7E2E7"/>
                      </a:solidFill>
                      <a:prstDash val="solid"/>
                    </a:lnR>
                    <a:lnB w="9525">
                      <a:solidFill>
                        <a:srgbClr val="D7E2E7"/>
                      </a:solidFill>
                      <a:prstDash val="solid"/>
                    </a:lnB>
                    <a:solidFill>
                      <a:srgbClr val="FFFFFF"/>
                    </a:solidFill>
                  </a:tcPr>
                </a:tc>
              </a:tr>
              <a:tr h="530679">
                <a:tc>
                  <a:txBody>
                    <a:bodyPr lIns="95250" tIns="95250" rIns="95250" bIns="95250"/>
                    <a:lstStyle/>
                    <a:p>
                      <a:r>
                        <a:rPr sz="1575" b="0">
                          <a:solidFill>
                            <a:srgbClr val="142D40"/>
                          </a:solidFill>
                          <a:latin typeface="Arial"/>
                          <a:ea typeface="Arial"/>
                          <a:cs typeface="Arial"/>
                        </a:rPr>
                        <a:t>Event recall</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3F7F8"/>
                    </a:solidFill>
                  </a:tcPr>
                </a:tc>
                <a:tc>
                  <a:txBody>
                    <a:bodyPr lIns="95250" tIns="95250" rIns="95250" bIns="95250"/>
                    <a:lstStyle/>
                    <a:p>
                      <a:r>
                        <a:rPr sz="1575" b="0">
                          <a:solidFill>
                            <a:srgbClr val="142D40"/>
                          </a:solidFill>
                          <a:latin typeface="Arial"/>
                          <a:ea typeface="Arial"/>
                          <a:cs typeface="Arial"/>
                        </a:rPr>
                        <a:t>63.64%</a:t>
                      </a:r>
                    </a:p>
                  </a:txBody>
                  <a:tcPr marL="91440" marR="91440" marT="45720" marB="45720" anchor="ctr">
                    <a:lnR w="9525">
                      <a:solidFill>
                        <a:srgbClr val="D7E2E7"/>
                      </a:solidFill>
                      <a:prstDash val="solid"/>
                    </a:lnR>
                    <a:lnB w="9525">
                      <a:solidFill>
                        <a:srgbClr val="D7E2E7"/>
                      </a:solidFill>
                      <a:prstDash val="solid"/>
                    </a:lnB>
                    <a:solidFill>
                      <a:srgbClr val="F3F7F8"/>
                    </a:solidFill>
                  </a:tcPr>
                </a:tc>
              </a:tr>
              <a:tr h="530679">
                <a:tc>
                  <a:txBody>
                    <a:bodyPr lIns="95250" tIns="95250" rIns="95250" bIns="95250"/>
                    <a:lstStyle/>
                    <a:p>
                      <a:r>
                        <a:rPr sz="1575" b="0">
                          <a:solidFill>
                            <a:srgbClr val="142D40"/>
                          </a:solidFill>
                          <a:latin typeface="Arial"/>
                          <a:ea typeface="Arial"/>
                          <a:cs typeface="Arial"/>
                        </a:rPr>
                        <a:t>Event-F1</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35.44%</a:t>
                      </a:r>
                    </a:p>
                  </a:txBody>
                  <a:tcPr marL="91440" marR="91440" marT="45720" marB="45720" anchor="ctr">
                    <a:lnR w="9525">
                      <a:solidFill>
                        <a:srgbClr val="D7E2E7"/>
                      </a:solidFill>
                      <a:prstDash val="solid"/>
                    </a:lnR>
                    <a:lnB w="9525">
                      <a:solidFill>
                        <a:srgbClr val="D7E2E7"/>
                      </a:solidFill>
                      <a:prstDash val="solid"/>
                    </a:lnB>
                    <a:solidFill>
                      <a:srgbClr val="FFFFFF"/>
                    </a:solidFill>
                  </a:tcPr>
                </a:tc>
              </a:tr>
              <a:tr h="530679">
                <a:tc>
                  <a:txBody>
                    <a:bodyPr lIns="95250" tIns="95250" rIns="95250" bIns="95250"/>
                    <a:lstStyle/>
                    <a:p>
                      <a:r>
                        <a:rPr sz="1575" b="0">
                          <a:solidFill>
                            <a:srgbClr val="142D40"/>
                          </a:solidFill>
                          <a:latin typeface="Arial"/>
                          <a:ea typeface="Arial"/>
                          <a:cs typeface="Arial"/>
                        </a:rPr>
                        <a:t>Detected / missed / false alerts</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3F7F8"/>
                    </a:solidFill>
                  </a:tcPr>
                </a:tc>
                <a:tc>
                  <a:txBody>
                    <a:bodyPr lIns="95250" tIns="95250" rIns="95250" bIns="95250"/>
                    <a:lstStyle/>
                    <a:p>
                      <a:r>
                        <a:rPr sz="1575" b="0">
                          <a:solidFill>
                            <a:srgbClr val="142D40"/>
                          </a:solidFill>
                          <a:latin typeface="Arial"/>
                          <a:ea typeface="Arial"/>
                          <a:cs typeface="Arial"/>
                        </a:rPr>
                        <a:t>14 / 8 / 43</a:t>
                      </a:r>
                    </a:p>
                  </a:txBody>
                  <a:tcPr marL="91440" marR="91440" marT="45720" marB="45720" anchor="ctr">
                    <a:lnR w="9525">
                      <a:solidFill>
                        <a:srgbClr val="D7E2E7"/>
                      </a:solidFill>
                      <a:prstDash val="solid"/>
                    </a:lnR>
                    <a:lnB w="9525">
                      <a:solidFill>
                        <a:srgbClr val="D7E2E7"/>
                      </a:solidFill>
                      <a:prstDash val="solid"/>
                    </a:lnB>
                    <a:solidFill>
                      <a:srgbClr val="F3F7F8"/>
                    </a:solidFill>
                  </a:tcPr>
                </a:tc>
              </a:tr>
              <a:tr h="530679">
                <a:tc>
                  <a:txBody>
                    <a:bodyPr lIns="95250" tIns="95250" rIns="95250" bIns="95250"/>
                    <a:lstStyle/>
                    <a:p>
                      <a:r>
                        <a:rPr sz="1575" b="0">
                          <a:solidFill>
                            <a:srgbClr val="142D40"/>
                          </a:solidFill>
                          <a:latin typeface="Arial"/>
                          <a:ea typeface="Arial"/>
                          <a:cs typeface="Arial"/>
                        </a:rPr>
                        <a:t>Mean detection delay*</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FFFFF"/>
                    </a:solidFill>
                  </a:tcPr>
                </a:tc>
                <a:tc>
                  <a:txBody>
                    <a:bodyPr lIns="95250" tIns="95250" rIns="95250" bIns="95250"/>
                    <a:lstStyle/>
                    <a:p>
                      <a:r>
                        <a:rPr sz="1575" b="0">
                          <a:solidFill>
                            <a:srgbClr val="142D40"/>
                          </a:solidFill>
                          <a:latin typeface="Arial"/>
                          <a:ea typeface="Arial"/>
                          <a:cs typeface="Arial"/>
                        </a:rPr>
                        <a:t>11.36 hours</a:t>
                      </a:r>
                    </a:p>
                  </a:txBody>
                  <a:tcPr marL="91440" marR="91440" marT="45720" marB="45720" anchor="ctr">
                    <a:lnR w="9525">
                      <a:solidFill>
                        <a:srgbClr val="D7E2E7"/>
                      </a:solidFill>
                      <a:prstDash val="solid"/>
                    </a:lnR>
                    <a:lnB w="9525">
                      <a:solidFill>
                        <a:srgbClr val="D7E2E7"/>
                      </a:solidFill>
                      <a:prstDash val="solid"/>
                    </a:lnB>
                    <a:solidFill>
                      <a:srgbClr val="FFFFFF"/>
                    </a:solidFill>
                  </a:tcPr>
                </a:tc>
              </a:tr>
              <a:tr h="530679">
                <a:tc>
                  <a:txBody>
                    <a:bodyPr lIns="95250" tIns="95250" rIns="95250" bIns="95250"/>
                    <a:lstStyle/>
                    <a:p>
                      <a:r>
                        <a:rPr sz="1575" b="0">
                          <a:solidFill>
                            <a:srgbClr val="142D40"/>
                          </a:solidFill>
                          <a:latin typeface="Arial"/>
                          <a:ea typeface="Arial"/>
                          <a:cs typeface="Arial"/>
                        </a:rPr>
                        <a:t>Per-window compute**</a:t>
                      </a:r>
                    </a:p>
                  </a:txBody>
                  <a:tcPr marL="91440" marR="91440" marT="45720" marB="45720" anchor="ctr">
                    <a:lnL w="9525">
                      <a:solidFill>
                        <a:srgbClr val="D7E2E7"/>
                      </a:solidFill>
                      <a:prstDash val="solid"/>
                    </a:lnL>
                    <a:lnR w="9525">
                      <a:solidFill>
                        <a:srgbClr val="D7E2E7"/>
                      </a:solidFill>
                      <a:prstDash val="solid"/>
                    </a:lnR>
                    <a:lnB w="9525">
                      <a:solidFill>
                        <a:srgbClr val="D7E2E7"/>
                      </a:solidFill>
                      <a:prstDash val="solid"/>
                    </a:lnB>
                    <a:solidFill>
                      <a:srgbClr val="F3F7F8"/>
                    </a:solidFill>
                  </a:tcPr>
                </a:tc>
                <a:tc>
                  <a:txBody>
                    <a:bodyPr lIns="95250" tIns="95250" rIns="95250" bIns="95250"/>
                    <a:lstStyle/>
                    <a:p>
                      <a:r>
                        <a:rPr sz="1575" b="0">
                          <a:solidFill>
                            <a:srgbClr val="142D40"/>
                          </a:solidFill>
                          <a:latin typeface="Arial"/>
                          <a:ea typeface="Arial"/>
                          <a:cs typeface="Arial"/>
                        </a:rPr>
                        <a:t>1.06 ms</a:t>
                      </a:r>
                    </a:p>
                  </a:txBody>
                  <a:tcPr marL="91440" marR="91440" marT="45720" marB="45720" anchor="ctr">
                    <a:lnR w="9525">
                      <a:solidFill>
                        <a:srgbClr val="D7E2E7"/>
                      </a:solidFill>
                      <a:prstDash val="solid"/>
                    </a:lnR>
                    <a:lnB w="9525">
                      <a:solidFill>
                        <a:srgbClr val="D7E2E7"/>
                      </a:solidFill>
                      <a:prstDash val="solid"/>
                    </a:lnB>
                    <a:solidFill>
                      <a:srgbClr val="F3F7F8"/>
                    </a:solidFill>
                  </a:tcPr>
                </a:tc>
              </a:tr>
            </a:tbl>
          </a:graphicData>
        </a:graphic>
      </p:graphicFrame>
      <p:sp>
        <p:nvSpPr>
          <p:cNvPr id="11" name="shape-87">
            <a:extLst xmlns:a="http://schemas.openxmlformats.org/drawingml/2006/main">
              <a:ext uri="{FF2B5EF4-FFF2-40B4-BE49-F238E27FC236}">
                <a16:creationId xmlns:a16="http://schemas.microsoft.com/office/drawing/2014/main" id="{7A2DAF34-7302-49E4-99F0-80D8C6A66964}"/>
              </a:ext>
            </a:extLst>
          </p:cNvPr>
          <p:cNvSpPr>
            <a:spLocks xmlns:a="http://schemas.openxmlformats.org/drawingml/2006/main" noGrp="1"/>
          </p:cNvSpPr>
          <p:nvPr/>
        </p:nvSpPr>
        <p:spPr>
          <a:xfrm xmlns:a="http://schemas.openxmlformats.org/drawingml/2006/main">
            <a:off x="6238875" y="5438775"/>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36775"/>
                </a:solidFill>
                <a:latin typeface="Arial"/>
                <a:ea typeface="Arial"/>
                <a:cs typeface="Arial"/>
              </a:defRPr>
            </a:defPPr>
            <a:lvl1pPr algn="l">
              <a:defRPr sz="1275" b="0">
                <a:solidFill>
                  <a:srgbClr val="536775"/>
                </a:solidFill>
                <a:latin typeface="Arial"/>
                <a:ea typeface="Arial"/>
                <a:cs typeface="Arial"/>
              </a:defRPr>
            </a:lvl1pPr>
            <a:lvl2pPr algn="l">
              <a:defRPr sz="1275" b="0">
                <a:solidFill>
                  <a:srgbClr val="536775"/>
                </a:solidFill>
                <a:latin typeface="Arial"/>
                <a:ea typeface="Arial"/>
                <a:cs typeface="Arial"/>
              </a:defRPr>
            </a:lvl2pPr>
            <a:lvl3pPr algn="l">
              <a:defRPr sz="1275" b="0">
                <a:solidFill>
                  <a:srgbClr val="536775"/>
                </a:solidFill>
                <a:latin typeface="Arial"/>
                <a:ea typeface="Arial"/>
                <a:cs typeface="Arial"/>
              </a:defRPr>
            </a:lvl3pPr>
            <a:lvl4pPr algn="l">
              <a:defRPr sz="1275" b="0">
                <a:solidFill>
                  <a:srgbClr val="536775"/>
                </a:solidFill>
                <a:latin typeface="Arial"/>
                <a:ea typeface="Arial"/>
                <a:cs typeface="Arial"/>
              </a:defRPr>
            </a:lvl4pPr>
            <a:lvl5pPr algn="l">
              <a:defRPr sz="1275" b="0">
                <a:solidFill>
                  <a:srgbClr val="536775"/>
                </a:solidFill>
                <a:latin typeface="Arial"/>
                <a:ea typeface="Arial"/>
                <a:cs typeface="Arial"/>
              </a:defRPr>
            </a:lvl5pPr>
            <a:lvl6pPr algn="l">
              <a:defRPr sz="1275" b="0">
                <a:solidFill>
                  <a:srgbClr val="536775"/>
                </a:solidFill>
                <a:latin typeface="Arial"/>
                <a:ea typeface="Arial"/>
                <a:cs typeface="Arial"/>
              </a:defRPr>
            </a:lvl6pPr>
            <a:lvl7pPr algn="l">
              <a:defRPr sz="1275" b="0">
                <a:solidFill>
                  <a:srgbClr val="536775"/>
                </a:solidFill>
                <a:latin typeface="Arial"/>
                <a:ea typeface="Arial"/>
                <a:cs typeface="Arial"/>
              </a:defRPr>
            </a:lvl7pPr>
            <a:lvl8pPr algn="l">
              <a:defRPr sz="1275" b="0">
                <a:solidFill>
                  <a:srgbClr val="536775"/>
                </a:solidFill>
                <a:latin typeface="Arial"/>
                <a:ea typeface="Arial"/>
                <a:cs typeface="Arial"/>
              </a:defRPr>
            </a:lvl8pPr>
            <a:lvl9pPr algn="l">
              <a:defRPr sz="1275" b="0">
                <a:solidFill>
                  <a:srgbClr val="536775"/>
                </a:solidFill>
                <a:latin typeface="Arial"/>
                <a:ea typeface="Arial"/>
                <a:cs typeface="Arial"/>
              </a:defRPr>
            </a:lvl9pPr>
          </a:lstStyle>
          <a:p xmlns:a="http://schemas.openxmlformats.org/drawingml/2006/main">
            <a:pPr algn="l">
              <a:defRPr sz="1275" b="0">
                <a:solidFill>
                  <a:srgbClr val="536775"/>
                </a:solidFill>
                <a:latin typeface="Arial"/>
                <a:ea typeface="Arial"/>
                <a:cs typeface="Arial"/>
              </a:defRPr>
            </a:pPr>
            <a:r>
              <a:rPr sz="1275" b="0">
                <a:solidFill>
                  <a:srgbClr val="536775"/>
                </a:solidFill>
                <a:latin typeface="Arial"/>
                <a:ea typeface="Arial"/>
                <a:cs typeface="Arial"/>
              </a:rPr>
              <a:t>*Among 14 matched events; cadence varies.</a:t>
            </a:r>
          </a:p>
          <a:p xmlns:a="http://schemas.openxmlformats.org/drawingml/2006/main">
            <a:pPr algn="l">
              <a:defRPr sz="1275" b="0">
                <a:solidFill>
                  <a:srgbClr val="536775"/>
                </a:solidFill>
                <a:latin typeface="Arial"/>
                <a:ea typeface="Arial"/>
                <a:cs typeface="Arial"/>
              </a:defRPr>
            </a:pPr>
            <a:r>
              <a:rPr sz="1275" b="0">
                <a:solidFill>
                  <a:srgbClr val="536775"/>
                </a:solidFill>
                <a:latin typeface="Arial"/>
                <a:ea typeface="Arial"/>
                <a:cs typeface="Arial"/>
              </a:rPr>
              <a:t>**Median of 58 per-stream P50 values; excludes fitting and file I/O.</a:t>
            </a:r>
          </a:p>
        </p:txBody>
      </p:sp>
    </p:spTree>
    <p:extLst>
      <p:ext uri="{BB962C8B-B14F-4D97-AF65-F5344CB8AC3E}">
        <p14:creationId xmlns:p14="http://schemas.microsoft.com/office/powerpoint/2010/main" val="11133348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88">
            <a:extLst xmlns:a="http://schemas.openxmlformats.org/drawingml/2006/main">
              <a:ext uri="{FF2B5EF4-FFF2-40B4-BE49-F238E27FC236}">
                <a16:creationId xmlns:a16="http://schemas.microsoft.com/office/drawing/2014/main" id="{24FA8142-69E0-499E-B202-EA811A49EF00}"/>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Best observed results</a:t>
            </a:r>
          </a:p>
        </p:txBody>
      </p:sp>
      <p:sp>
        <p:nvSpPr>
          <p:cNvPr id="3" name="shape-89">
            <a:extLst xmlns:a="http://schemas.openxmlformats.org/drawingml/2006/main">
              <a:ext uri="{FF2B5EF4-FFF2-40B4-BE49-F238E27FC236}">
                <a16:creationId xmlns:a16="http://schemas.microsoft.com/office/drawing/2014/main" id="{F3FCBAA8-44CC-43B9-9F30-EE067F8B6AC7}"/>
              </a:ext>
            </a:extLst>
          </p:cNvPr>
          <p:cNvSpPr>
            <a:spLocks xmlns:a="http://schemas.openxmlformats.org/drawingml/2006/main" noGrp="1"/>
          </p:cNvSpPr>
          <p:nvPr/>
        </p:nvSpPr>
        <p:spPr>
          <a:xfrm xmlns:a="http://schemas.openxmlformats.org/drawingml/2006/main">
            <a:off x="609600" y="11239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Offline full-series benchmark; evaluation-selected F1 thresholds; mean over 52 valid streams.</a:t>
            </a:r>
          </a:p>
        </p:txBody>
      </p:sp>
      <p:sp>
        <p:nvSpPr>
          <p:cNvPr id="4" name="shape-90">
            <a:extLst xmlns:a="http://schemas.openxmlformats.org/drawingml/2006/main">
              <a:ext uri="{FF2B5EF4-FFF2-40B4-BE49-F238E27FC236}">
                <a16:creationId xmlns:a16="http://schemas.microsoft.com/office/drawing/2014/main" id="{ABF00890-FA2C-4A46-87D1-213BB547260E}"/>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5" name="shape-91">
            <a:extLst xmlns:a="http://schemas.openxmlformats.org/drawingml/2006/main">
              <a:ext uri="{FF2B5EF4-FFF2-40B4-BE49-F238E27FC236}">
                <a16:creationId xmlns:a16="http://schemas.microsoft.com/office/drawing/2014/main" id="{412A7261-73A8-4D85-8E79-701AD17719B3}"/>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6" name="shape-92">
            <a:extLst xmlns:a="http://schemas.openxmlformats.org/drawingml/2006/main">
              <a:ext uri="{FF2B5EF4-FFF2-40B4-BE49-F238E27FC236}">
                <a16:creationId xmlns:a16="http://schemas.microsoft.com/office/drawing/2014/main" id="{396CE5D0-32D9-47B6-B7FF-41B50DA9307D}"/>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08 / 10</a:t>
            </a:r>
          </a:p>
        </p:txBody>
      </p:sp>
      <p:sp>
        <p:nvSpPr>
          <p:cNvPr id="7" name="shape-93">
            <a:extLst xmlns:a="http://schemas.openxmlformats.org/drawingml/2006/main">
              <a:ext uri="{FF2B5EF4-FFF2-40B4-BE49-F238E27FC236}">
                <a16:creationId xmlns:a16="http://schemas.microsoft.com/office/drawing/2014/main" id="{591D4F37-1344-40C4-98C1-6B7C318D1413}"/>
              </a:ext>
            </a:extLst>
          </p:cNvPr>
          <p:cNvSpPr>
            <a:spLocks xmlns:a="http://schemas.openxmlformats.org/drawingml/2006/main" noGrp="1"/>
          </p:cNvSpPr>
          <p:nvPr/>
        </p:nvSpPr>
        <p:spPr>
          <a:xfrm xmlns:a="http://schemas.openxmlformats.org/drawingml/2006/main">
            <a:off x="609600" y="1866900"/>
            <a:ext cx="5257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142D40"/>
                </a:solidFill>
                <a:latin typeface="Arial"/>
                <a:ea typeface="Arial"/>
                <a:cs typeface="Arial"/>
              </a:defRPr>
            </a:defPPr>
            <a:lvl1pPr algn="l">
              <a:defRPr sz="2100" b="1">
                <a:solidFill>
                  <a:srgbClr val="142D40"/>
                </a:solidFill>
                <a:latin typeface="Arial"/>
                <a:ea typeface="Arial"/>
                <a:cs typeface="Arial"/>
              </a:defRPr>
            </a:lvl1pPr>
            <a:lvl2pPr algn="l">
              <a:defRPr sz="2100" b="1">
                <a:solidFill>
                  <a:srgbClr val="142D40"/>
                </a:solidFill>
                <a:latin typeface="Arial"/>
                <a:ea typeface="Arial"/>
                <a:cs typeface="Arial"/>
              </a:defRPr>
            </a:lvl2pPr>
            <a:lvl3pPr algn="l">
              <a:defRPr sz="2100" b="1">
                <a:solidFill>
                  <a:srgbClr val="142D40"/>
                </a:solidFill>
                <a:latin typeface="Arial"/>
                <a:ea typeface="Arial"/>
                <a:cs typeface="Arial"/>
              </a:defRPr>
            </a:lvl3pPr>
            <a:lvl4pPr algn="l">
              <a:defRPr sz="2100" b="1">
                <a:solidFill>
                  <a:srgbClr val="142D40"/>
                </a:solidFill>
                <a:latin typeface="Arial"/>
                <a:ea typeface="Arial"/>
                <a:cs typeface="Arial"/>
              </a:defRPr>
            </a:lvl4pPr>
            <a:lvl5pPr algn="l">
              <a:defRPr sz="2100" b="1">
                <a:solidFill>
                  <a:srgbClr val="142D40"/>
                </a:solidFill>
                <a:latin typeface="Arial"/>
                <a:ea typeface="Arial"/>
                <a:cs typeface="Arial"/>
              </a:defRPr>
            </a:lvl5pPr>
            <a:lvl6pPr algn="l">
              <a:defRPr sz="2100" b="1">
                <a:solidFill>
                  <a:srgbClr val="142D40"/>
                </a:solidFill>
                <a:latin typeface="Arial"/>
                <a:ea typeface="Arial"/>
                <a:cs typeface="Arial"/>
              </a:defRPr>
            </a:lvl6pPr>
            <a:lvl7pPr algn="l">
              <a:defRPr sz="2100" b="1">
                <a:solidFill>
                  <a:srgbClr val="142D40"/>
                </a:solidFill>
                <a:latin typeface="Arial"/>
                <a:ea typeface="Arial"/>
                <a:cs typeface="Arial"/>
              </a:defRPr>
            </a:lvl7pPr>
            <a:lvl8pPr algn="l">
              <a:defRPr sz="2100" b="1">
                <a:solidFill>
                  <a:srgbClr val="142D40"/>
                </a:solidFill>
                <a:latin typeface="Arial"/>
                <a:ea typeface="Arial"/>
                <a:cs typeface="Arial"/>
              </a:defRPr>
            </a:lvl8pPr>
            <a:lvl9pPr algn="l">
              <a:defRPr sz="2100" b="1">
                <a:solidFill>
                  <a:srgbClr val="142D40"/>
                </a:solidFill>
                <a:latin typeface="Arial"/>
                <a:ea typeface="Arial"/>
                <a:cs typeface="Arial"/>
              </a:defRPr>
            </a:lvl9pPr>
          </a:lstStyle>
          <a:p xmlns:a="http://schemas.openxmlformats.org/drawingml/2006/main">
            <a:pPr algn="l">
              <a:defRPr sz="2100" b="1">
                <a:solidFill>
                  <a:srgbClr val="142D40"/>
                </a:solidFill>
                <a:latin typeface="Arial"/>
                <a:ea typeface="Arial"/>
                <a:cs typeface="Arial"/>
              </a:defRPr>
            </a:pPr>
            <a:r>
              <a:rPr sz="2100" b="1">
                <a:solidFill>
                  <a:srgbClr val="142D40"/>
                </a:solidFill>
                <a:latin typeface="Arial"/>
                <a:ea typeface="Arial"/>
                <a:cs typeface="Arial"/>
              </a:rPr>
              <a:t>Event-F1</a:t>
            </a:r>
          </a:p>
        </p:txBody>
      </p:sp>
      <p:graphicFrame>
        <p:nvGraphicFramePr>
          <p:cNvPr id="8" name="Chart">
            <a:extLst xmlns:a="http://schemas.openxmlformats.org/drawingml/2006/main">
              <a:ext uri="{FF2B5EF4-FFF2-40B4-BE49-F238E27FC236}">
                <a16:creationId xmlns:a16="http://schemas.microsoft.com/office/drawing/2014/main" id="{807DD61E-BA22-46DB-9D53-1A2316C4DC2A}"/>
              </a:ext>
            </a:extLst>
          </p:cNvPr>
          <p:cNvGraphicFramePr/>
          <p:nvPr/>
        </p:nvGraphicFramePr>
        <p:xfrm>
          <a:off xmlns:a="http://schemas.openxmlformats.org/drawingml/2006/main" x="609600" y="2400300"/>
          <a:ext xmlns:a="http://schemas.openxmlformats.org/drawingml/2006/main" cx="5257800" cy="2762250"/>
        </p:xfrm>
        <a:graphic xmlns:a="http://schemas.openxmlformats.org/drawingml/2006/main">
          <a:graphicData uri="http://schemas.openxmlformats.org/drawingml/2006/chart">
            <c:chart xmlns:r="http://schemas.openxmlformats.org/officeDocument/2006/relationships" xmlns:c="http://schemas.openxmlformats.org/drawingml/2006/chart" r:id="Rf41bcb07660c4fc8"/>
          </a:graphicData>
        </a:graphic>
      </p:graphicFrame>
      <p:sp>
        <p:nvSpPr>
          <p:cNvPr id="9" name="shape-94">
            <a:extLst xmlns:a="http://schemas.openxmlformats.org/drawingml/2006/main">
              <a:ext uri="{FF2B5EF4-FFF2-40B4-BE49-F238E27FC236}">
                <a16:creationId xmlns:a16="http://schemas.microsoft.com/office/drawing/2014/main" id="{09263FB8-C91F-44C8-BCC0-0B3FF3B66140}"/>
              </a:ext>
            </a:extLst>
          </p:cNvPr>
          <p:cNvSpPr>
            <a:spLocks xmlns:a="http://schemas.openxmlformats.org/drawingml/2006/main" noGrp="1"/>
          </p:cNvSpPr>
          <p:nvPr/>
        </p:nvSpPr>
        <p:spPr>
          <a:xfrm xmlns:a="http://schemas.openxmlformats.org/drawingml/2006/main">
            <a:off x="6324600" y="1866900"/>
            <a:ext cx="5257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142D40"/>
                </a:solidFill>
                <a:latin typeface="Arial"/>
                <a:ea typeface="Arial"/>
                <a:cs typeface="Arial"/>
              </a:defRPr>
            </a:defPPr>
            <a:lvl1pPr algn="l">
              <a:defRPr sz="2100" b="1">
                <a:solidFill>
                  <a:srgbClr val="142D40"/>
                </a:solidFill>
                <a:latin typeface="Arial"/>
                <a:ea typeface="Arial"/>
                <a:cs typeface="Arial"/>
              </a:defRPr>
            </a:lvl1pPr>
            <a:lvl2pPr algn="l">
              <a:defRPr sz="2100" b="1">
                <a:solidFill>
                  <a:srgbClr val="142D40"/>
                </a:solidFill>
                <a:latin typeface="Arial"/>
                <a:ea typeface="Arial"/>
                <a:cs typeface="Arial"/>
              </a:defRPr>
            </a:lvl2pPr>
            <a:lvl3pPr algn="l">
              <a:defRPr sz="2100" b="1">
                <a:solidFill>
                  <a:srgbClr val="142D40"/>
                </a:solidFill>
                <a:latin typeface="Arial"/>
                <a:ea typeface="Arial"/>
                <a:cs typeface="Arial"/>
              </a:defRPr>
            </a:lvl3pPr>
            <a:lvl4pPr algn="l">
              <a:defRPr sz="2100" b="1">
                <a:solidFill>
                  <a:srgbClr val="142D40"/>
                </a:solidFill>
                <a:latin typeface="Arial"/>
                <a:ea typeface="Arial"/>
                <a:cs typeface="Arial"/>
              </a:defRPr>
            </a:lvl4pPr>
            <a:lvl5pPr algn="l">
              <a:defRPr sz="2100" b="1">
                <a:solidFill>
                  <a:srgbClr val="142D40"/>
                </a:solidFill>
                <a:latin typeface="Arial"/>
                <a:ea typeface="Arial"/>
                <a:cs typeface="Arial"/>
              </a:defRPr>
            </a:lvl5pPr>
            <a:lvl6pPr algn="l">
              <a:defRPr sz="2100" b="1">
                <a:solidFill>
                  <a:srgbClr val="142D40"/>
                </a:solidFill>
                <a:latin typeface="Arial"/>
                <a:ea typeface="Arial"/>
                <a:cs typeface="Arial"/>
              </a:defRPr>
            </a:lvl6pPr>
            <a:lvl7pPr algn="l">
              <a:defRPr sz="2100" b="1">
                <a:solidFill>
                  <a:srgbClr val="142D40"/>
                </a:solidFill>
                <a:latin typeface="Arial"/>
                <a:ea typeface="Arial"/>
                <a:cs typeface="Arial"/>
              </a:defRPr>
            </a:lvl7pPr>
            <a:lvl8pPr algn="l">
              <a:defRPr sz="2100" b="1">
                <a:solidFill>
                  <a:srgbClr val="142D40"/>
                </a:solidFill>
                <a:latin typeface="Arial"/>
                <a:ea typeface="Arial"/>
                <a:cs typeface="Arial"/>
              </a:defRPr>
            </a:lvl8pPr>
            <a:lvl9pPr algn="l">
              <a:defRPr sz="2100" b="1">
                <a:solidFill>
                  <a:srgbClr val="142D40"/>
                </a:solidFill>
                <a:latin typeface="Arial"/>
                <a:ea typeface="Arial"/>
                <a:cs typeface="Arial"/>
              </a:defRPr>
            </a:lvl9pPr>
          </a:lstStyle>
          <a:p xmlns:a="http://schemas.openxmlformats.org/drawingml/2006/main">
            <a:pPr algn="l">
              <a:defRPr sz="2100" b="1">
                <a:solidFill>
                  <a:srgbClr val="142D40"/>
                </a:solidFill>
                <a:latin typeface="Arial"/>
                <a:ea typeface="Arial"/>
                <a:cs typeface="Arial"/>
              </a:defRPr>
            </a:pPr>
            <a:r>
              <a:rPr sz="2100" b="1">
                <a:solidFill>
                  <a:srgbClr val="142D40"/>
                </a:solidFill>
                <a:latin typeface="Arial"/>
                <a:ea typeface="Arial"/>
                <a:cs typeface="Arial"/>
              </a:rPr>
              <a:t>VUS-PR</a:t>
            </a:r>
          </a:p>
        </p:txBody>
      </p:sp>
      <p:graphicFrame>
        <p:nvGraphicFramePr>
          <p:cNvPr id="10" name="Chart">
            <a:extLst xmlns:a="http://schemas.openxmlformats.org/drawingml/2006/main">
              <a:ext uri="{FF2B5EF4-FFF2-40B4-BE49-F238E27FC236}">
                <a16:creationId xmlns:a16="http://schemas.microsoft.com/office/drawing/2014/main" id="{577898A3-3E4E-4C9F-B423-9EA43B9CCF33}"/>
              </a:ext>
            </a:extLst>
          </p:cNvPr>
          <p:cNvGraphicFramePr/>
          <p:nvPr/>
        </p:nvGraphicFramePr>
        <p:xfrm>
          <a:off xmlns:a="http://schemas.openxmlformats.org/drawingml/2006/main" x="6324600" y="2400300"/>
          <a:ext xmlns:a="http://schemas.openxmlformats.org/drawingml/2006/main" cx="5257800" cy="2762250"/>
        </p:xfrm>
        <a:graphic xmlns:a="http://schemas.openxmlformats.org/drawingml/2006/main">
          <a:graphicData uri="http://schemas.openxmlformats.org/drawingml/2006/chart">
            <c:chart xmlns:r="http://schemas.openxmlformats.org/officeDocument/2006/relationships" xmlns:c="http://schemas.openxmlformats.org/drawingml/2006/chart" r:id="Rb86c5a85dbe442ee"/>
          </a:graphicData>
        </a:graphic>
      </p:graphicFrame>
      <p:sp>
        <p:nvSpPr>
          <p:cNvPr id="11" name="shape-95">
            <a:extLst xmlns:a="http://schemas.openxmlformats.org/drawingml/2006/main">
              <a:ext uri="{FF2B5EF4-FFF2-40B4-BE49-F238E27FC236}">
                <a16:creationId xmlns:a16="http://schemas.microsoft.com/office/drawing/2014/main" id="{1AB8A3FC-DAF7-478D-8ECF-A735F30B6D39}"/>
              </a:ext>
            </a:extLst>
          </p:cNvPr>
          <p:cNvSpPr>
            <a:spLocks xmlns:a="http://schemas.openxmlformats.org/drawingml/2006/main" noGrp="1"/>
          </p:cNvSpPr>
          <p:nvPr/>
        </p:nvSpPr>
        <p:spPr>
          <a:xfrm xmlns:a="http://schemas.openxmlformats.org/drawingml/2006/main">
            <a:off x="609600" y="5381625"/>
            <a:ext cx="5257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1">
                <a:solidFill>
                  <a:srgbClr val="067C75"/>
                </a:solidFill>
                <a:latin typeface="Arial"/>
                <a:ea typeface="Arial"/>
                <a:cs typeface="Arial"/>
              </a:defRPr>
            </a:defPPr>
            <a:lvl1pPr algn="l">
              <a:defRPr sz="2400" b="1">
                <a:solidFill>
                  <a:srgbClr val="067C75"/>
                </a:solidFill>
                <a:latin typeface="Arial"/>
                <a:ea typeface="Arial"/>
                <a:cs typeface="Arial"/>
              </a:defRPr>
            </a:lvl1pPr>
            <a:lvl2pPr algn="l">
              <a:defRPr sz="2400" b="1">
                <a:solidFill>
                  <a:srgbClr val="067C75"/>
                </a:solidFill>
                <a:latin typeface="Arial"/>
                <a:ea typeface="Arial"/>
                <a:cs typeface="Arial"/>
              </a:defRPr>
            </a:lvl2pPr>
            <a:lvl3pPr algn="l">
              <a:defRPr sz="2400" b="1">
                <a:solidFill>
                  <a:srgbClr val="067C75"/>
                </a:solidFill>
                <a:latin typeface="Arial"/>
                <a:ea typeface="Arial"/>
                <a:cs typeface="Arial"/>
              </a:defRPr>
            </a:lvl3pPr>
            <a:lvl4pPr algn="l">
              <a:defRPr sz="2400" b="1">
                <a:solidFill>
                  <a:srgbClr val="067C75"/>
                </a:solidFill>
                <a:latin typeface="Arial"/>
                <a:ea typeface="Arial"/>
                <a:cs typeface="Arial"/>
              </a:defRPr>
            </a:lvl4pPr>
            <a:lvl5pPr algn="l">
              <a:defRPr sz="2400" b="1">
                <a:solidFill>
                  <a:srgbClr val="067C75"/>
                </a:solidFill>
                <a:latin typeface="Arial"/>
                <a:ea typeface="Arial"/>
                <a:cs typeface="Arial"/>
              </a:defRPr>
            </a:lvl5pPr>
            <a:lvl6pPr algn="l">
              <a:defRPr sz="2400" b="1">
                <a:solidFill>
                  <a:srgbClr val="067C75"/>
                </a:solidFill>
                <a:latin typeface="Arial"/>
                <a:ea typeface="Arial"/>
                <a:cs typeface="Arial"/>
              </a:defRPr>
            </a:lvl6pPr>
            <a:lvl7pPr algn="l">
              <a:defRPr sz="2400" b="1">
                <a:solidFill>
                  <a:srgbClr val="067C75"/>
                </a:solidFill>
                <a:latin typeface="Arial"/>
                <a:ea typeface="Arial"/>
                <a:cs typeface="Arial"/>
              </a:defRPr>
            </a:lvl7pPr>
            <a:lvl8pPr algn="l">
              <a:defRPr sz="2400" b="1">
                <a:solidFill>
                  <a:srgbClr val="067C75"/>
                </a:solidFill>
                <a:latin typeface="Arial"/>
                <a:ea typeface="Arial"/>
                <a:cs typeface="Arial"/>
              </a:defRPr>
            </a:lvl8pPr>
            <a:lvl9pPr algn="l">
              <a:defRPr sz="2400" b="1">
                <a:solidFill>
                  <a:srgbClr val="067C75"/>
                </a:solidFill>
                <a:latin typeface="Arial"/>
                <a:ea typeface="Arial"/>
                <a:cs typeface="Arial"/>
              </a:defRPr>
            </a:lvl9pPr>
          </a:lstStyle>
          <a:p xmlns:a="http://schemas.openxmlformats.org/drawingml/2006/main">
            <a:pPr algn="l">
              <a:defRPr sz="2400" b="1">
                <a:solidFill>
                  <a:srgbClr val="067C75"/>
                </a:solidFill>
                <a:latin typeface="Arial"/>
                <a:ea typeface="Arial"/>
                <a:cs typeface="Arial"/>
              </a:defRPr>
            </a:pPr>
            <a:r>
              <a:rPr sz="2400" b="1">
                <a:solidFill>
                  <a:srgbClr val="067C75"/>
                </a:solidFill>
                <a:latin typeface="Arial"/>
                <a:ea typeface="Arial"/>
                <a:cs typeface="Arial"/>
              </a:rPr>
              <a:t>73.64% event-F1</a:t>
            </a:r>
          </a:p>
        </p:txBody>
      </p:sp>
      <p:sp>
        <p:nvSpPr>
          <p:cNvPr id="12" name="shape-96">
            <a:extLst xmlns:a="http://schemas.openxmlformats.org/drawingml/2006/main">
              <a:ext uri="{FF2B5EF4-FFF2-40B4-BE49-F238E27FC236}">
                <a16:creationId xmlns:a16="http://schemas.microsoft.com/office/drawing/2014/main" id="{310B8D2E-8E76-457B-9CB8-00A9236D873D}"/>
              </a:ext>
            </a:extLst>
          </p:cNvPr>
          <p:cNvSpPr>
            <a:spLocks xmlns:a="http://schemas.openxmlformats.org/drawingml/2006/main" noGrp="1"/>
          </p:cNvSpPr>
          <p:nvPr/>
        </p:nvSpPr>
        <p:spPr>
          <a:xfrm xmlns:a="http://schemas.openxmlformats.org/drawingml/2006/main">
            <a:off x="6324600" y="5381625"/>
            <a:ext cx="5257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1">
                <a:solidFill>
                  <a:srgbClr val="067C75"/>
                </a:solidFill>
                <a:latin typeface="Arial"/>
                <a:ea typeface="Arial"/>
                <a:cs typeface="Arial"/>
              </a:defRPr>
            </a:defPPr>
            <a:lvl1pPr algn="l">
              <a:defRPr sz="2400" b="1">
                <a:solidFill>
                  <a:srgbClr val="067C75"/>
                </a:solidFill>
                <a:latin typeface="Arial"/>
                <a:ea typeface="Arial"/>
                <a:cs typeface="Arial"/>
              </a:defRPr>
            </a:lvl1pPr>
            <a:lvl2pPr algn="l">
              <a:defRPr sz="2400" b="1">
                <a:solidFill>
                  <a:srgbClr val="067C75"/>
                </a:solidFill>
                <a:latin typeface="Arial"/>
                <a:ea typeface="Arial"/>
                <a:cs typeface="Arial"/>
              </a:defRPr>
            </a:lvl2pPr>
            <a:lvl3pPr algn="l">
              <a:defRPr sz="2400" b="1">
                <a:solidFill>
                  <a:srgbClr val="067C75"/>
                </a:solidFill>
                <a:latin typeface="Arial"/>
                <a:ea typeface="Arial"/>
                <a:cs typeface="Arial"/>
              </a:defRPr>
            </a:lvl3pPr>
            <a:lvl4pPr algn="l">
              <a:defRPr sz="2400" b="1">
                <a:solidFill>
                  <a:srgbClr val="067C75"/>
                </a:solidFill>
                <a:latin typeface="Arial"/>
                <a:ea typeface="Arial"/>
                <a:cs typeface="Arial"/>
              </a:defRPr>
            </a:lvl4pPr>
            <a:lvl5pPr algn="l">
              <a:defRPr sz="2400" b="1">
                <a:solidFill>
                  <a:srgbClr val="067C75"/>
                </a:solidFill>
                <a:latin typeface="Arial"/>
                <a:ea typeface="Arial"/>
                <a:cs typeface="Arial"/>
              </a:defRPr>
            </a:lvl5pPr>
            <a:lvl6pPr algn="l">
              <a:defRPr sz="2400" b="1">
                <a:solidFill>
                  <a:srgbClr val="067C75"/>
                </a:solidFill>
                <a:latin typeface="Arial"/>
                <a:ea typeface="Arial"/>
                <a:cs typeface="Arial"/>
              </a:defRPr>
            </a:lvl6pPr>
            <a:lvl7pPr algn="l">
              <a:defRPr sz="2400" b="1">
                <a:solidFill>
                  <a:srgbClr val="067C75"/>
                </a:solidFill>
                <a:latin typeface="Arial"/>
                <a:ea typeface="Arial"/>
                <a:cs typeface="Arial"/>
              </a:defRPr>
            </a:lvl7pPr>
            <a:lvl8pPr algn="l">
              <a:defRPr sz="2400" b="1">
                <a:solidFill>
                  <a:srgbClr val="067C75"/>
                </a:solidFill>
                <a:latin typeface="Arial"/>
                <a:ea typeface="Arial"/>
                <a:cs typeface="Arial"/>
              </a:defRPr>
            </a:lvl8pPr>
            <a:lvl9pPr algn="l">
              <a:defRPr sz="2400" b="1">
                <a:solidFill>
                  <a:srgbClr val="067C75"/>
                </a:solidFill>
                <a:latin typeface="Arial"/>
                <a:ea typeface="Arial"/>
                <a:cs typeface="Arial"/>
              </a:defRPr>
            </a:lvl9pPr>
          </a:lstStyle>
          <a:p xmlns:a="http://schemas.openxmlformats.org/drawingml/2006/main">
            <a:pPr algn="l">
              <a:defRPr sz="2400" b="1">
                <a:solidFill>
                  <a:srgbClr val="067C75"/>
                </a:solidFill>
                <a:latin typeface="Arial"/>
                <a:ea typeface="Arial"/>
                <a:cs typeface="Arial"/>
              </a:defRPr>
            </a:pPr>
            <a:r>
              <a:rPr sz="2400" b="1">
                <a:solidFill>
                  <a:srgbClr val="067C75"/>
                </a:solidFill>
                <a:latin typeface="Arial"/>
                <a:ea typeface="Arial"/>
                <a:cs typeface="Arial"/>
              </a:rPr>
              <a:t>45.82% VUS-PR</a:t>
            </a:r>
          </a:p>
        </p:txBody>
      </p:sp>
      <p:sp>
        <p:nvSpPr>
          <p:cNvPr id="13" name="shape-97">
            <a:extLst xmlns:a="http://schemas.openxmlformats.org/drawingml/2006/main">
              <a:ext uri="{FF2B5EF4-FFF2-40B4-BE49-F238E27FC236}">
                <a16:creationId xmlns:a16="http://schemas.microsoft.com/office/drawing/2014/main" id="{809181F7-E7C7-4F51-92CE-A2789A5A22D5}"/>
              </a:ext>
            </a:extLst>
          </p:cNvPr>
          <p:cNvSpPr>
            <a:spLocks xmlns:a="http://schemas.openxmlformats.org/drawingml/2006/main" noGrp="1"/>
          </p:cNvSpPr>
          <p:nvPr/>
        </p:nvSpPr>
        <p:spPr>
          <a:xfrm xmlns:a="http://schemas.openxmlformats.org/drawingml/2006/main">
            <a:off x="609600" y="59055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36775"/>
                </a:solidFill>
                <a:latin typeface="Arial"/>
                <a:ea typeface="Arial"/>
                <a:cs typeface="Arial"/>
              </a:defRPr>
            </a:defPPr>
            <a:lvl1pPr algn="l">
              <a:defRPr sz="1350" b="0">
                <a:solidFill>
                  <a:srgbClr val="536775"/>
                </a:solidFill>
                <a:latin typeface="Arial"/>
                <a:ea typeface="Arial"/>
                <a:cs typeface="Arial"/>
              </a:defRPr>
            </a:lvl1pPr>
            <a:lvl2pPr algn="l">
              <a:defRPr sz="1350" b="0">
                <a:solidFill>
                  <a:srgbClr val="536775"/>
                </a:solidFill>
                <a:latin typeface="Arial"/>
                <a:ea typeface="Arial"/>
                <a:cs typeface="Arial"/>
              </a:defRPr>
            </a:lvl2pPr>
            <a:lvl3pPr algn="l">
              <a:defRPr sz="1350" b="0">
                <a:solidFill>
                  <a:srgbClr val="536775"/>
                </a:solidFill>
                <a:latin typeface="Arial"/>
                <a:ea typeface="Arial"/>
                <a:cs typeface="Arial"/>
              </a:defRPr>
            </a:lvl3pPr>
            <a:lvl4pPr algn="l">
              <a:defRPr sz="1350" b="0">
                <a:solidFill>
                  <a:srgbClr val="536775"/>
                </a:solidFill>
                <a:latin typeface="Arial"/>
                <a:ea typeface="Arial"/>
                <a:cs typeface="Arial"/>
              </a:defRPr>
            </a:lvl4pPr>
            <a:lvl5pPr algn="l">
              <a:defRPr sz="1350" b="0">
                <a:solidFill>
                  <a:srgbClr val="536775"/>
                </a:solidFill>
                <a:latin typeface="Arial"/>
                <a:ea typeface="Arial"/>
                <a:cs typeface="Arial"/>
              </a:defRPr>
            </a:lvl5pPr>
            <a:lvl6pPr algn="l">
              <a:defRPr sz="1350" b="0">
                <a:solidFill>
                  <a:srgbClr val="536775"/>
                </a:solidFill>
                <a:latin typeface="Arial"/>
                <a:ea typeface="Arial"/>
                <a:cs typeface="Arial"/>
              </a:defRPr>
            </a:lvl6pPr>
            <a:lvl7pPr algn="l">
              <a:defRPr sz="1350" b="0">
                <a:solidFill>
                  <a:srgbClr val="536775"/>
                </a:solidFill>
                <a:latin typeface="Arial"/>
                <a:ea typeface="Arial"/>
                <a:cs typeface="Arial"/>
              </a:defRPr>
            </a:lvl7pPr>
            <a:lvl8pPr algn="l">
              <a:defRPr sz="1350" b="0">
                <a:solidFill>
                  <a:srgbClr val="536775"/>
                </a:solidFill>
                <a:latin typeface="Arial"/>
                <a:ea typeface="Arial"/>
                <a:cs typeface="Arial"/>
              </a:defRPr>
            </a:lvl8pPr>
            <a:lvl9pPr algn="l">
              <a:defRPr sz="1350" b="0">
                <a:solidFill>
                  <a:srgbClr val="536775"/>
                </a:solidFill>
                <a:latin typeface="Arial"/>
                <a:ea typeface="Arial"/>
                <a:cs typeface="Arial"/>
              </a:defRPr>
            </a:lvl9pPr>
          </a:lstStyle>
          <a:p xmlns:a="http://schemas.openxmlformats.org/drawingml/2006/main">
            <a:pPr algn="l">
              <a:defRPr sz="1350" b="0">
                <a:solidFill>
                  <a:srgbClr val="536775"/>
                </a:solidFill>
                <a:latin typeface="Arial"/>
                <a:ea typeface="Arial"/>
                <a:cs typeface="Arial"/>
              </a:defRPr>
            </a:pPr>
            <a:r>
              <a:rPr sz="1350" b="0">
                <a:solidFill>
                  <a:srgbClr val="536775"/>
                </a:solidFill>
                <a:latin typeface="Arial"/>
                <a:ea typeface="Arial"/>
                <a:cs typeface="Arial"/>
              </a:rPr>
              <a:t>Variance64 leads event-F1; variance256 leads VUS-PR. Neither is an organizer hidden-test score.</a:t>
            </a:r>
          </a:p>
        </p:txBody>
      </p:sp>
    </p:spTree>
    <p:extLst>
      <p:ext uri="{BB962C8B-B14F-4D97-AF65-F5344CB8AC3E}">
        <p14:creationId xmlns:p14="http://schemas.microsoft.com/office/powerpoint/2010/main" val="13033619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98">
            <a:extLst xmlns:a="http://schemas.openxmlformats.org/drawingml/2006/main">
              <a:ext uri="{FF2B5EF4-FFF2-40B4-BE49-F238E27FC236}">
                <a16:creationId xmlns:a16="http://schemas.microsoft.com/office/drawing/2014/main" id="{61B976BD-B97D-45F5-8086-C242797758CF}"/>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Anomaly evidence and false-positive analysis</a:t>
            </a:r>
          </a:p>
        </p:txBody>
      </p:sp>
      <p:sp>
        <p:nvSpPr>
          <p:cNvPr id="3" name="shape-99">
            <a:extLst xmlns:a="http://schemas.openxmlformats.org/drawingml/2006/main">
              <a:ext uri="{FF2B5EF4-FFF2-40B4-BE49-F238E27FC236}">
                <a16:creationId xmlns:a16="http://schemas.microsoft.com/office/drawing/2014/main" id="{2509302A-A256-4C07-9EC9-D1705897101F}"/>
              </a:ext>
            </a:extLst>
          </p:cNvPr>
          <p:cNvSpPr>
            <a:spLocks xmlns:a="http://schemas.openxmlformats.org/drawingml/2006/main" noGrp="1"/>
          </p:cNvSpPr>
          <p:nvPr/>
        </p:nvSpPr>
        <p:spPr>
          <a:xfrm xmlns:a="http://schemas.openxmlformats.org/drawingml/2006/main">
            <a:off x="609600" y="11239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0">
                <a:solidFill>
                  <a:srgbClr val="536775"/>
                </a:solidFill>
                <a:latin typeface="Arial"/>
                <a:ea typeface="Arial"/>
                <a:cs typeface="Arial"/>
              </a:defRPr>
            </a:defPPr>
            <a:lvl1pPr algn="l">
              <a:defRPr sz="1650" b="0">
                <a:solidFill>
                  <a:srgbClr val="536775"/>
                </a:solidFill>
                <a:latin typeface="Arial"/>
                <a:ea typeface="Arial"/>
                <a:cs typeface="Arial"/>
              </a:defRPr>
            </a:lvl1pPr>
            <a:lvl2pPr algn="l">
              <a:defRPr sz="1650" b="0">
                <a:solidFill>
                  <a:srgbClr val="536775"/>
                </a:solidFill>
                <a:latin typeface="Arial"/>
                <a:ea typeface="Arial"/>
                <a:cs typeface="Arial"/>
              </a:defRPr>
            </a:lvl2pPr>
            <a:lvl3pPr algn="l">
              <a:defRPr sz="1650" b="0">
                <a:solidFill>
                  <a:srgbClr val="536775"/>
                </a:solidFill>
                <a:latin typeface="Arial"/>
                <a:ea typeface="Arial"/>
                <a:cs typeface="Arial"/>
              </a:defRPr>
            </a:lvl3pPr>
            <a:lvl4pPr algn="l">
              <a:defRPr sz="1650" b="0">
                <a:solidFill>
                  <a:srgbClr val="536775"/>
                </a:solidFill>
                <a:latin typeface="Arial"/>
                <a:ea typeface="Arial"/>
                <a:cs typeface="Arial"/>
              </a:defRPr>
            </a:lvl4pPr>
            <a:lvl5pPr algn="l">
              <a:defRPr sz="1650" b="0">
                <a:solidFill>
                  <a:srgbClr val="536775"/>
                </a:solidFill>
                <a:latin typeface="Arial"/>
                <a:ea typeface="Arial"/>
                <a:cs typeface="Arial"/>
              </a:defRPr>
            </a:lvl5pPr>
            <a:lvl6pPr algn="l">
              <a:defRPr sz="1650" b="0">
                <a:solidFill>
                  <a:srgbClr val="536775"/>
                </a:solidFill>
                <a:latin typeface="Arial"/>
                <a:ea typeface="Arial"/>
                <a:cs typeface="Arial"/>
              </a:defRPr>
            </a:lvl6pPr>
            <a:lvl7pPr algn="l">
              <a:defRPr sz="1650" b="0">
                <a:solidFill>
                  <a:srgbClr val="536775"/>
                </a:solidFill>
                <a:latin typeface="Arial"/>
                <a:ea typeface="Arial"/>
                <a:cs typeface="Arial"/>
              </a:defRPr>
            </a:lvl7pPr>
            <a:lvl8pPr algn="l">
              <a:defRPr sz="1650" b="0">
                <a:solidFill>
                  <a:srgbClr val="536775"/>
                </a:solidFill>
                <a:latin typeface="Arial"/>
                <a:ea typeface="Arial"/>
                <a:cs typeface="Arial"/>
              </a:defRPr>
            </a:lvl8pPr>
            <a:lvl9pPr algn="l">
              <a:defRPr sz="1650" b="0">
                <a:solidFill>
                  <a:srgbClr val="536775"/>
                </a:solidFill>
                <a:latin typeface="Arial"/>
                <a:ea typeface="Arial"/>
                <a:cs typeface="Arial"/>
              </a:defRPr>
            </a:lvl9pPr>
          </a:lstStyle>
          <a:p xmlns:a="http://schemas.openxmlformats.org/drawingml/2006/main">
            <a:pPr algn="l">
              <a:defRPr sz="1650" b="0">
                <a:solidFill>
                  <a:srgbClr val="536775"/>
                </a:solidFill>
                <a:latin typeface="Arial"/>
                <a:ea typeface="Arial"/>
                <a:cs typeface="Arial"/>
              </a:defRPr>
            </a:pPr>
            <a:r>
              <a:rPr sz="1650" b="0">
                <a:solidFill>
                  <a:srgbClr val="536775"/>
                </a:solidFill>
                <a:latin typeface="Arial"/>
                <a:ea typeface="Arial"/>
                <a:cs typeface="Arial"/>
              </a:rPr>
              <a:t>Saved streaming outputs; these examples use the operational decision policy.</a:t>
            </a:r>
          </a:p>
        </p:txBody>
      </p:sp>
      <p:sp>
        <p:nvSpPr>
          <p:cNvPr id="4" name="shape-100">
            <a:extLst xmlns:a="http://schemas.openxmlformats.org/drawingml/2006/main">
              <a:ext uri="{FF2B5EF4-FFF2-40B4-BE49-F238E27FC236}">
                <a16:creationId xmlns:a16="http://schemas.microsoft.com/office/drawing/2014/main" id="{3F973A74-823D-4011-9D2C-A97F2257F264}"/>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5" name="shape-101">
            <a:extLst xmlns:a="http://schemas.openxmlformats.org/drawingml/2006/main">
              <a:ext uri="{FF2B5EF4-FFF2-40B4-BE49-F238E27FC236}">
                <a16:creationId xmlns:a16="http://schemas.microsoft.com/office/drawing/2014/main" id="{0DC0533B-4E5D-4569-BAAF-C486AF1EA515}"/>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6" name="shape-102">
            <a:extLst xmlns:a="http://schemas.openxmlformats.org/drawingml/2006/main">
              <a:ext uri="{FF2B5EF4-FFF2-40B4-BE49-F238E27FC236}">
                <a16:creationId xmlns:a16="http://schemas.microsoft.com/office/drawing/2014/main" id="{8609C932-C45F-4F4F-9564-C9887723E278}"/>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09 / 10</a:t>
            </a:r>
          </a:p>
        </p:txBody>
      </p:sp>
      <p:sp>
        <p:nvSpPr>
          <p:cNvPr id="7" name="shape-103">
            <a:extLst xmlns:a="http://schemas.openxmlformats.org/drawingml/2006/main">
              <a:ext uri="{FF2B5EF4-FFF2-40B4-BE49-F238E27FC236}">
                <a16:creationId xmlns:a16="http://schemas.microsoft.com/office/drawing/2014/main" id="{DD869485-FF00-4E9F-BEA6-84893133020C}"/>
              </a:ext>
            </a:extLst>
          </p:cNvPr>
          <p:cNvSpPr>
            <a:spLocks xmlns:a="http://schemas.openxmlformats.org/drawingml/2006/main" noGrp="1"/>
          </p:cNvSpPr>
          <p:nvPr/>
        </p:nvSpPr>
        <p:spPr>
          <a:xfrm xmlns:a="http://schemas.openxmlformats.org/drawingml/2006/main">
            <a:off x="609600" y="1771650"/>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067C75"/>
                </a:solidFill>
                <a:latin typeface="Arial"/>
                <a:ea typeface="Arial"/>
                <a:cs typeface="Arial"/>
              </a:defRPr>
            </a:defPPr>
            <a:lvl1pPr algn="l">
              <a:defRPr sz="1950" b="1">
                <a:solidFill>
                  <a:srgbClr val="067C75"/>
                </a:solidFill>
                <a:latin typeface="Arial"/>
                <a:ea typeface="Arial"/>
                <a:cs typeface="Arial"/>
              </a:defRPr>
            </a:lvl1pPr>
            <a:lvl2pPr algn="l">
              <a:defRPr sz="1950" b="1">
                <a:solidFill>
                  <a:srgbClr val="067C75"/>
                </a:solidFill>
                <a:latin typeface="Arial"/>
                <a:ea typeface="Arial"/>
                <a:cs typeface="Arial"/>
              </a:defRPr>
            </a:lvl2pPr>
            <a:lvl3pPr algn="l">
              <a:defRPr sz="1950" b="1">
                <a:solidFill>
                  <a:srgbClr val="067C75"/>
                </a:solidFill>
                <a:latin typeface="Arial"/>
                <a:ea typeface="Arial"/>
                <a:cs typeface="Arial"/>
              </a:defRPr>
            </a:lvl3pPr>
            <a:lvl4pPr algn="l">
              <a:defRPr sz="1950" b="1">
                <a:solidFill>
                  <a:srgbClr val="067C75"/>
                </a:solidFill>
                <a:latin typeface="Arial"/>
                <a:ea typeface="Arial"/>
                <a:cs typeface="Arial"/>
              </a:defRPr>
            </a:lvl4pPr>
            <a:lvl5pPr algn="l">
              <a:defRPr sz="1950" b="1">
                <a:solidFill>
                  <a:srgbClr val="067C75"/>
                </a:solidFill>
                <a:latin typeface="Arial"/>
                <a:ea typeface="Arial"/>
                <a:cs typeface="Arial"/>
              </a:defRPr>
            </a:lvl5pPr>
            <a:lvl6pPr algn="l">
              <a:defRPr sz="1950" b="1">
                <a:solidFill>
                  <a:srgbClr val="067C75"/>
                </a:solidFill>
                <a:latin typeface="Arial"/>
                <a:ea typeface="Arial"/>
                <a:cs typeface="Arial"/>
              </a:defRPr>
            </a:lvl6pPr>
            <a:lvl7pPr algn="l">
              <a:defRPr sz="1950" b="1">
                <a:solidFill>
                  <a:srgbClr val="067C75"/>
                </a:solidFill>
                <a:latin typeface="Arial"/>
                <a:ea typeface="Arial"/>
                <a:cs typeface="Arial"/>
              </a:defRPr>
            </a:lvl7pPr>
            <a:lvl8pPr algn="l">
              <a:defRPr sz="1950" b="1">
                <a:solidFill>
                  <a:srgbClr val="067C75"/>
                </a:solidFill>
                <a:latin typeface="Arial"/>
                <a:ea typeface="Arial"/>
                <a:cs typeface="Arial"/>
              </a:defRPr>
            </a:lvl8pPr>
            <a:lvl9pPr algn="l">
              <a:defRPr sz="1950" b="1">
                <a:solidFill>
                  <a:srgbClr val="067C75"/>
                </a:solidFill>
                <a:latin typeface="Arial"/>
                <a:ea typeface="Arial"/>
                <a:cs typeface="Arial"/>
              </a:defRPr>
            </a:lvl9pPr>
          </a:lstStyle>
          <a:p xmlns:a="http://schemas.openxmlformats.org/drawingml/2006/main">
            <a:pPr algn="l">
              <a:defRPr sz="1950" b="1">
                <a:solidFill>
                  <a:srgbClr val="067C75"/>
                </a:solidFill>
                <a:latin typeface="Arial"/>
                <a:ea typeface="Arial"/>
                <a:cs typeface="Arial"/>
              </a:defRPr>
            </a:pPr>
            <a:r>
              <a:rPr sz="1950" b="1">
                <a:solidFill>
                  <a:srgbClr val="067C75"/>
                </a:solidFill>
                <a:latin typeface="Arial"/>
                <a:ea typeface="Arial"/>
                <a:cs typeface="Arial"/>
              </a:rPr>
              <a:t>Correctly matched alert</a:t>
            </a:r>
          </a:p>
        </p:txBody>
      </p:sp>
      <p:sp>
        <p:nvSpPr>
          <p:cNvPr id="8" name="shape-104">
            <a:extLst xmlns:a="http://schemas.openxmlformats.org/drawingml/2006/main">
              <a:ext uri="{FF2B5EF4-FFF2-40B4-BE49-F238E27FC236}">
                <a16:creationId xmlns:a16="http://schemas.microsoft.com/office/drawing/2014/main" id="{25492076-D436-4E39-BCB9-BB562CF08F1F}"/>
              </a:ext>
            </a:extLst>
          </p:cNvPr>
          <p:cNvSpPr>
            <a:spLocks xmlns:a="http://schemas.openxmlformats.org/drawingml/2006/main" noGrp="1"/>
          </p:cNvSpPr>
          <p:nvPr/>
        </p:nvSpPr>
        <p:spPr>
          <a:xfrm xmlns:a="http://schemas.openxmlformats.org/drawingml/2006/main">
            <a:off x="609600" y="2238375"/>
            <a:ext cx="525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36775"/>
                </a:solidFill>
                <a:latin typeface="Arial"/>
                <a:ea typeface="Arial"/>
                <a:cs typeface="Arial"/>
              </a:defRPr>
            </a:defPPr>
            <a:lvl1pPr algn="l">
              <a:defRPr sz="1425" b="0">
                <a:solidFill>
                  <a:srgbClr val="536775"/>
                </a:solidFill>
                <a:latin typeface="Arial"/>
                <a:ea typeface="Arial"/>
                <a:cs typeface="Arial"/>
              </a:defRPr>
            </a:lvl1pPr>
            <a:lvl2pPr algn="l">
              <a:defRPr sz="1425" b="0">
                <a:solidFill>
                  <a:srgbClr val="536775"/>
                </a:solidFill>
                <a:latin typeface="Arial"/>
                <a:ea typeface="Arial"/>
                <a:cs typeface="Arial"/>
              </a:defRPr>
            </a:lvl2pPr>
            <a:lvl3pPr algn="l">
              <a:defRPr sz="1425" b="0">
                <a:solidFill>
                  <a:srgbClr val="536775"/>
                </a:solidFill>
                <a:latin typeface="Arial"/>
                <a:ea typeface="Arial"/>
                <a:cs typeface="Arial"/>
              </a:defRPr>
            </a:lvl3pPr>
            <a:lvl4pPr algn="l">
              <a:defRPr sz="1425" b="0">
                <a:solidFill>
                  <a:srgbClr val="536775"/>
                </a:solidFill>
                <a:latin typeface="Arial"/>
                <a:ea typeface="Arial"/>
                <a:cs typeface="Arial"/>
              </a:defRPr>
            </a:lvl4pPr>
            <a:lvl5pPr algn="l">
              <a:defRPr sz="1425" b="0">
                <a:solidFill>
                  <a:srgbClr val="536775"/>
                </a:solidFill>
                <a:latin typeface="Arial"/>
                <a:ea typeface="Arial"/>
                <a:cs typeface="Arial"/>
              </a:defRPr>
            </a:lvl5pPr>
            <a:lvl6pPr algn="l">
              <a:defRPr sz="1425" b="0">
                <a:solidFill>
                  <a:srgbClr val="536775"/>
                </a:solidFill>
                <a:latin typeface="Arial"/>
                <a:ea typeface="Arial"/>
                <a:cs typeface="Arial"/>
              </a:defRPr>
            </a:lvl6pPr>
            <a:lvl7pPr algn="l">
              <a:defRPr sz="1425" b="0">
                <a:solidFill>
                  <a:srgbClr val="536775"/>
                </a:solidFill>
                <a:latin typeface="Arial"/>
                <a:ea typeface="Arial"/>
                <a:cs typeface="Arial"/>
              </a:defRPr>
            </a:lvl7pPr>
            <a:lvl8pPr algn="l">
              <a:defRPr sz="1425" b="0">
                <a:solidFill>
                  <a:srgbClr val="536775"/>
                </a:solidFill>
                <a:latin typeface="Arial"/>
                <a:ea typeface="Arial"/>
                <a:cs typeface="Arial"/>
              </a:defRPr>
            </a:lvl8pPr>
            <a:lvl9pPr algn="l">
              <a:defRPr sz="1425" b="0">
                <a:solidFill>
                  <a:srgbClr val="536775"/>
                </a:solidFill>
                <a:latin typeface="Arial"/>
                <a:ea typeface="Arial"/>
                <a:cs typeface="Arial"/>
              </a:defRPr>
            </a:lvl9pPr>
          </a:lstStyle>
          <a:p xmlns:a="http://schemas.openxmlformats.org/drawingml/2006/main">
            <a:pPr algn="l">
              <a:defRPr sz="1425" b="0">
                <a:solidFill>
                  <a:srgbClr val="536775"/>
                </a:solidFill>
                <a:latin typeface="Arial"/>
                <a:ea typeface="Arial"/>
                <a:cs typeface="Arial"/>
              </a:defRPr>
            </a:pPr>
            <a:r>
              <a:rPr sz="1425" b="0">
                <a:solidFill>
                  <a:srgbClr val="536775"/>
                </a:solidFill>
                <a:latin typeface="Arial"/>
                <a:ea typeface="Arial"/>
                <a:cs typeface="Arial"/>
              </a:rPr>
              <a:t>2014-02-26 22:10 UTC</a:t>
            </a:r>
          </a:p>
        </p:txBody>
      </p:sp>
      <p:graphicFrame>
        <p:nvGraphicFramePr>
          <p:cNvPr id="9" name="Chart">
            <a:extLst xmlns:a="http://schemas.openxmlformats.org/drawingml/2006/main">
              <a:ext uri="{FF2B5EF4-FFF2-40B4-BE49-F238E27FC236}">
                <a16:creationId xmlns:a16="http://schemas.microsoft.com/office/drawing/2014/main" id="{DBDEEE37-3F51-49E0-92B4-5DA4D6BF6615}"/>
              </a:ext>
            </a:extLst>
          </p:cNvPr>
          <p:cNvGraphicFramePr/>
          <p:nvPr/>
        </p:nvGraphicFramePr>
        <p:xfrm>
          <a:off xmlns:a="http://schemas.openxmlformats.org/drawingml/2006/main" x="609600" y="2657475"/>
          <a:ext xmlns:a="http://schemas.openxmlformats.org/drawingml/2006/main" cx="5257800" cy="1905000"/>
        </p:xfrm>
        <a:graphic xmlns:a="http://schemas.openxmlformats.org/drawingml/2006/main">
          <a:graphicData uri="http://schemas.openxmlformats.org/drawingml/2006/chart">
            <c:chart xmlns:r="http://schemas.openxmlformats.org/officeDocument/2006/relationships" xmlns:c="http://schemas.openxmlformats.org/drawingml/2006/chart" r:id="R4e6ef267c33a4d5b"/>
          </a:graphicData>
        </a:graphic>
      </p:graphicFrame>
      <p:sp>
        <p:nvSpPr>
          <p:cNvPr id="10" name="shape-105">
            <a:extLst xmlns:a="http://schemas.openxmlformats.org/drawingml/2006/main">
              <a:ext uri="{FF2B5EF4-FFF2-40B4-BE49-F238E27FC236}">
                <a16:creationId xmlns:a16="http://schemas.microsoft.com/office/drawing/2014/main" id="{2FB9EA5F-CA15-4BB8-B939-DEFD1E367C6F}"/>
              </a:ext>
            </a:extLst>
          </p:cNvPr>
          <p:cNvSpPr>
            <a:spLocks xmlns:a="http://schemas.openxmlformats.org/drawingml/2006/main" noGrp="1"/>
          </p:cNvSpPr>
          <p:nvPr/>
        </p:nvSpPr>
        <p:spPr>
          <a:xfrm xmlns:a="http://schemas.openxmlformats.org/drawingml/2006/main">
            <a:off x="609600" y="4762500"/>
            <a:ext cx="525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142D40"/>
                </a:solidFill>
                <a:latin typeface="Arial"/>
                <a:ea typeface="Arial"/>
                <a:cs typeface="Arial"/>
              </a:defRPr>
            </a:defPPr>
            <a:lvl1pPr algn="l">
              <a:defRPr sz="1800" b="1">
                <a:solidFill>
                  <a:srgbClr val="142D40"/>
                </a:solidFill>
                <a:latin typeface="Arial"/>
                <a:ea typeface="Arial"/>
                <a:cs typeface="Arial"/>
              </a:defRPr>
            </a:lvl1pPr>
            <a:lvl2pPr algn="l">
              <a:defRPr sz="1800" b="1">
                <a:solidFill>
                  <a:srgbClr val="142D40"/>
                </a:solidFill>
                <a:latin typeface="Arial"/>
                <a:ea typeface="Arial"/>
                <a:cs typeface="Arial"/>
              </a:defRPr>
            </a:lvl2pPr>
            <a:lvl3pPr algn="l">
              <a:defRPr sz="1800" b="1">
                <a:solidFill>
                  <a:srgbClr val="142D40"/>
                </a:solidFill>
                <a:latin typeface="Arial"/>
                <a:ea typeface="Arial"/>
                <a:cs typeface="Arial"/>
              </a:defRPr>
            </a:lvl3pPr>
            <a:lvl4pPr algn="l">
              <a:defRPr sz="1800" b="1">
                <a:solidFill>
                  <a:srgbClr val="142D40"/>
                </a:solidFill>
                <a:latin typeface="Arial"/>
                <a:ea typeface="Arial"/>
                <a:cs typeface="Arial"/>
              </a:defRPr>
            </a:lvl4pPr>
            <a:lvl5pPr algn="l">
              <a:defRPr sz="1800" b="1">
                <a:solidFill>
                  <a:srgbClr val="142D40"/>
                </a:solidFill>
                <a:latin typeface="Arial"/>
                <a:ea typeface="Arial"/>
                <a:cs typeface="Arial"/>
              </a:defRPr>
            </a:lvl5pPr>
            <a:lvl6pPr algn="l">
              <a:defRPr sz="1800" b="1">
                <a:solidFill>
                  <a:srgbClr val="142D40"/>
                </a:solidFill>
                <a:latin typeface="Arial"/>
                <a:ea typeface="Arial"/>
                <a:cs typeface="Arial"/>
              </a:defRPr>
            </a:lvl6pPr>
            <a:lvl7pPr algn="l">
              <a:defRPr sz="1800" b="1">
                <a:solidFill>
                  <a:srgbClr val="142D40"/>
                </a:solidFill>
                <a:latin typeface="Arial"/>
                <a:ea typeface="Arial"/>
                <a:cs typeface="Arial"/>
              </a:defRPr>
            </a:lvl7pPr>
            <a:lvl8pPr algn="l">
              <a:defRPr sz="1800" b="1">
                <a:solidFill>
                  <a:srgbClr val="142D40"/>
                </a:solidFill>
                <a:latin typeface="Arial"/>
                <a:ea typeface="Arial"/>
                <a:cs typeface="Arial"/>
              </a:defRPr>
            </a:lvl8pPr>
            <a:lvl9pPr algn="l">
              <a:defRPr sz="1800" b="1">
                <a:solidFill>
                  <a:srgbClr val="142D40"/>
                </a:solidFill>
                <a:latin typeface="Arial"/>
                <a:ea typeface="Arial"/>
                <a:cs typeface="Arial"/>
              </a:defRPr>
            </a:lvl9pPr>
          </a:lstStyle>
          <a:p xmlns:a="http://schemas.openxmlformats.org/drawingml/2006/main">
            <a:pPr algn="l">
              <a:defRPr sz="1800" b="1">
                <a:solidFill>
                  <a:srgbClr val="142D40"/>
                </a:solidFill>
                <a:latin typeface="Arial"/>
                <a:ea typeface="Arial"/>
                <a:cs typeface="Arial"/>
              </a:defRPr>
            </a:pPr>
            <a:r>
              <a:rPr sz="1800" b="1">
                <a:solidFill>
                  <a:srgbClr val="142D40"/>
                </a:solidFill>
                <a:latin typeface="Arial"/>
                <a:ea typeface="Arial"/>
                <a:cs typeface="Arial"/>
              </a:rPr>
              <a:t>Score 1.27  /  threshold 1.15</a:t>
            </a:r>
          </a:p>
        </p:txBody>
      </p:sp>
      <p:sp>
        <p:nvSpPr>
          <p:cNvPr id="11" name="shape-106">
            <a:extLst xmlns:a="http://schemas.openxmlformats.org/drawingml/2006/main">
              <a:ext uri="{FF2B5EF4-FFF2-40B4-BE49-F238E27FC236}">
                <a16:creationId xmlns:a16="http://schemas.microsoft.com/office/drawing/2014/main" id="{FC7F5E23-00F6-47A4-BEEE-1FA7DE28B252}"/>
              </a:ext>
            </a:extLst>
          </p:cNvPr>
          <p:cNvSpPr>
            <a:spLocks xmlns:a="http://schemas.openxmlformats.org/drawingml/2006/main" noGrp="1"/>
          </p:cNvSpPr>
          <p:nvPr/>
        </p:nvSpPr>
        <p:spPr>
          <a:xfrm xmlns:a="http://schemas.openxmlformats.org/drawingml/2006/main">
            <a:off x="609600" y="5162550"/>
            <a:ext cx="5257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536775"/>
                </a:solidFill>
                <a:latin typeface="Arial"/>
                <a:ea typeface="Arial"/>
                <a:cs typeface="Arial"/>
              </a:defRPr>
            </a:defPPr>
            <a:lvl1pPr algn="l">
              <a:defRPr sz="1575" b="0">
                <a:solidFill>
                  <a:srgbClr val="536775"/>
                </a:solidFill>
                <a:latin typeface="Arial"/>
                <a:ea typeface="Arial"/>
                <a:cs typeface="Arial"/>
              </a:defRPr>
            </a:lvl1pPr>
            <a:lvl2pPr algn="l">
              <a:defRPr sz="1575" b="0">
                <a:solidFill>
                  <a:srgbClr val="536775"/>
                </a:solidFill>
                <a:latin typeface="Arial"/>
                <a:ea typeface="Arial"/>
                <a:cs typeface="Arial"/>
              </a:defRPr>
            </a:lvl2pPr>
            <a:lvl3pPr algn="l">
              <a:defRPr sz="1575" b="0">
                <a:solidFill>
                  <a:srgbClr val="536775"/>
                </a:solidFill>
                <a:latin typeface="Arial"/>
                <a:ea typeface="Arial"/>
                <a:cs typeface="Arial"/>
              </a:defRPr>
            </a:lvl3pPr>
            <a:lvl4pPr algn="l">
              <a:defRPr sz="1575" b="0">
                <a:solidFill>
                  <a:srgbClr val="536775"/>
                </a:solidFill>
                <a:latin typeface="Arial"/>
                <a:ea typeface="Arial"/>
                <a:cs typeface="Arial"/>
              </a:defRPr>
            </a:lvl4pPr>
            <a:lvl5pPr algn="l">
              <a:defRPr sz="1575" b="0">
                <a:solidFill>
                  <a:srgbClr val="536775"/>
                </a:solidFill>
                <a:latin typeface="Arial"/>
                <a:ea typeface="Arial"/>
                <a:cs typeface="Arial"/>
              </a:defRPr>
            </a:lvl5pPr>
            <a:lvl6pPr algn="l">
              <a:defRPr sz="1575" b="0">
                <a:solidFill>
                  <a:srgbClr val="536775"/>
                </a:solidFill>
                <a:latin typeface="Arial"/>
                <a:ea typeface="Arial"/>
                <a:cs typeface="Arial"/>
              </a:defRPr>
            </a:lvl6pPr>
            <a:lvl7pPr algn="l">
              <a:defRPr sz="1575" b="0">
                <a:solidFill>
                  <a:srgbClr val="536775"/>
                </a:solidFill>
                <a:latin typeface="Arial"/>
                <a:ea typeface="Arial"/>
                <a:cs typeface="Arial"/>
              </a:defRPr>
            </a:lvl7pPr>
            <a:lvl8pPr algn="l">
              <a:defRPr sz="1575" b="0">
                <a:solidFill>
                  <a:srgbClr val="536775"/>
                </a:solidFill>
                <a:latin typeface="Arial"/>
                <a:ea typeface="Arial"/>
                <a:cs typeface="Arial"/>
              </a:defRPr>
            </a:lvl8pPr>
            <a:lvl9pPr algn="l">
              <a:defRPr sz="1575" b="0">
                <a:solidFill>
                  <a:srgbClr val="536775"/>
                </a:solidFill>
                <a:latin typeface="Arial"/>
                <a:ea typeface="Arial"/>
                <a:cs typeface="Arial"/>
              </a:defRPr>
            </a:lvl9pPr>
          </a:lstStyle>
          <a:p xmlns:a="http://schemas.openxmlformats.org/drawingml/2006/main">
            <a:pPr algn="l">
              <a:defRPr sz="1575" b="0">
                <a:solidFill>
                  <a:srgbClr val="536775"/>
                </a:solidFill>
                <a:latin typeface="Arial"/>
                <a:ea typeface="Arial"/>
                <a:cs typeface="Arial"/>
              </a:defRPr>
            </a:pPr>
            <a:r>
              <a:rPr sz="1575" b="0">
                <a:solidFill>
                  <a:srgbClr val="536775"/>
                </a:solidFill>
                <a:latin typeface="Arial"/>
                <a:ea typeface="Arial"/>
                <a:cs typeface="Arial"/>
              </a:rPr>
              <a:t>Observed 0.13; expected 0.87</a:t>
            </a:r>
          </a:p>
          <a:p xmlns:a="http://schemas.openxmlformats.org/drawingml/2006/main">
            <a:pPr algn="l">
              <a:defRPr sz="1575" b="0">
                <a:solidFill>
                  <a:srgbClr val="536775"/>
                </a:solidFill>
                <a:latin typeface="Arial"/>
                <a:ea typeface="Arial"/>
                <a:cs typeface="Arial"/>
              </a:defRPr>
            </a:pPr>
            <a:r>
              <a:rPr sz="1575" b="0">
                <a:solidFill>
                  <a:srgbClr val="536775"/>
                </a:solidFill>
                <a:latin typeface="Arial"/>
                <a:ea typeface="Arial"/>
                <a:cs typeface="Arial"/>
              </a:rPr>
              <a:t>Range [0.20, 1.54]; h=1</a:t>
            </a:r>
          </a:p>
          <a:p xmlns:a="http://schemas.openxmlformats.org/drawingml/2006/main">
            <a:pPr algn="l">
              <a:defRPr sz="1575" b="0">
                <a:solidFill>
                  <a:srgbClr val="536775"/>
                </a:solidFill>
                <a:latin typeface="Arial"/>
                <a:ea typeface="Arial"/>
                <a:cs typeface="Arial"/>
              </a:defRPr>
            </a:pPr>
            <a:r>
              <a:rPr sz="1575" b="0">
                <a:solidFill>
                  <a:srgbClr val="536775"/>
                </a:solidFill>
                <a:latin typeface="Arial"/>
                <a:ea typeface="Arial"/>
                <a:cs typeface="Arial"/>
              </a:rPr>
              <a:t>Label: ANOMALOUS · 1.10× cutoff</a:t>
            </a:r>
          </a:p>
        </p:txBody>
      </p:sp>
      <p:sp>
        <p:nvSpPr>
          <p:cNvPr id="12" name="shape-107">
            <a:extLst xmlns:a="http://schemas.openxmlformats.org/drawingml/2006/main">
              <a:ext uri="{FF2B5EF4-FFF2-40B4-BE49-F238E27FC236}">
                <a16:creationId xmlns:a16="http://schemas.microsoft.com/office/drawing/2014/main" id="{1D441639-09D9-4961-8B6F-06B6853CFB1D}"/>
              </a:ext>
            </a:extLst>
          </p:cNvPr>
          <p:cNvSpPr>
            <a:spLocks xmlns:a="http://schemas.openxmlformats.org/drawingml/2006/main" noGrp="1"/>
          </p:cNvSpPr>
          <p:nvPr/>
        </p:nvSpPr>
        <p:spPr>
          <a:xfrm xmlns:a="http://schemas.openxmlformats.org/drawingml/2006/main">
            <a:off x="6324600" y="1771650"/>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950" b="1">
                <a:solidFill>
                  <a:srgbClr val="AA3944"/>
                </a:solidFill>
                <a:latin typeface="Arial"/>
                <a:ea typeface="Arial"/>
                <a:cs typeface="Arial"/>
              </a:defRPr>
            </a:defPPr>
            <a:lvl1pPr algn="l">
              <a:defRPr sz="1950" b="1">
                <a:solidFill>
                  <a:srgbClr val="AA3944"/>
                </a:solidFill>
                <a:latin typeface="Arial"/>
                <a:ea typeface="Arial"/>
                <a:cs typeface="Arial"/>
              </a:defRPr>
            </a:lvl1pPr>
            <a:lvl2pPr algn="l">
              <a:defRPr sz="1950" b="1">
                <a:solidFill>
                  <a:srgbClr val="AA3944"/>
                </a:solidFill>
                <a:latin typeface="Arial"/>
                <a:ea typeface="Arial"/>
                <a:cs typeface="Arial"/>
              </a:defRPr>
            </a:lvl2pPr>
            <a:lvl3pPr algn="l">
              <a:defRPr sz="1950" b="1">
                <a:solidFill>
                  <a:srgbClr val="AA3944"/>
                </a:solidFill>
                <a:latin typeface="Arial"/>
                <a:ea typeface="Arial"/>
                <a:cs typeface="Arial"/>
              </a:defRPr>
            </a:lvl3pPr>
            <a:lvl4pPr algn="l">
              <a:defRPr sz="1950" b="1">
                <a:solidFill>
                  <a:srgbClr val="AA3944"/>
                </a:solidFill>
                <a:latin typeface="Arial"/>
                <a:ea typeface="Arial"/>
                <a:cs typeface="Arial"/>
              </a:defRPr>
            </a:lvl4pPr>
            <a:lvl5pPr algn="l">
              <a:defRPr sz="1950" b="1">
                <a:solidFill>
                  <a:srgbClr val="AA3944"/>
                </a:solidFill>
                <a:latin typeface="Arial"/>
                <a:ea typeface="Arial"/>
                <a:cs typeface="Arial"/>
              </a:defRPr>
            </a:lvl5pPr>
            <a:lvl6pPr algn="l">
              <a:defRPr sz="1950" b="1">
                <a:solidFill>
                  <a:srgbClr val="AA3944"/>
                </a:solidFill>
                <a:latin typeface="Arial"/>
                <a:ea typeface="Arial"/>
                <a:cs typeface="Arial"/>
              </a:defRPr>
            </a:lvl6pPr>
            <a:lvl7pPr algn="l">
              <a:defRPr sz="1950" b="1">
                <a:solidFill>
                  <a:srgbClr val="AA3944"/>
                </a:solidFill>
                <a:latin typeface="Arial"/>
                <a:ea typeface="Arial"/>
                <a:cs typeface="Arial"/>
              </a:defRPr>
            </a:lvl7pPr>
            <a:lvl8pPr algn="l">
              <a:defRPr sz="1950" b="1">
                <a:solidFill>
                  <a:srgbClr val="AA3944"/>
                </a:solidFill>
                <a:latin typeface="Arial"/>
                <a:ea typeface="Arial"/>
                <a:cs typeface="Arial"/>
              </a:defRPr>
            </a:lvl8pPr>
            <a:lvl9pPr algn="l">
              <a:defRPr sz="1950" b="1">
                <a:solidFill>
                  <a:srgbClr val="AA3944"/>
                </a:solidFill>
                <a:latin typeface="Arial"/>
                <a:ea typeface="Arial"/>
                <a:cs typeface="Arial"/>
              </a:defRPr>
            </a:lvl9pPr>
          </a:lstStyle>
          <a:p xmlns:a="http://schemas.openxmlformats.org/drawingml/2006/main">
            <a:pPr algn="l">
              <a:defRPr sz="1950" b="1">
                <a:solidFill>
                  <a:srgbClr val="AA3944"/>
                </a:solidFill>
                <a:latin typeface="Arial"/>
                <a:ea typeface="Arial"/>
                <a:cs typeface="Arial"/>
              </a:defRPr>
            </a:pPr>
            <a:r>
              <a:rPr sz="1950" b="1">
                <a:solidFill>
                  <a:srgbClr val="AA3944"/>
                </a:solidFill>
                <a:latin typeface="Arial"/>
                <a:ea typeface="Arial"/>
                <a:cs typeface="Arial"/>
              </a:rPr>
              <a:t>False alert outside a true window</a:t>
            </a:r>
          </a:p>
        </p:txBody>
      </p:sp>
      <p:sp>
        <p:nvSpPr>
          <p:cNvPr id="13" name="shape-108">
            <a:extLst xmlns:a="http://schemas.openxmlformats.org/drawingml/2006/main">
              <a:ext uri="{FF2B5EF4-FFF2-40B4-BE49-F238E27FC236}">
                <a16:creationId xmlns:a16="http://schemas.microsoft.com/office/drawing/2014/main" id="{079BE603-0DC0-471D-AC06-D3C47DCCCA83}"/>
              </a:ext>
            </a:extLst>
          </p:cNvPr>
          <p:cNvSpPr>
            <a:spLocks xmlns:a="http://schemas.openxmlformats.org/drawingml/2006/main" noGrp="1"/>
          </p:cNvSpPr>
          <p:nvPr/>
        </p:nvSpPr>
        <p:spPr>
          <a:xfrm xmlns:a="http://schemas.openxmlformats.org/drawingml/2006/main">
            <a:off x="6324600" y="2238375"/>
            <a:ext cx="525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0">
                <a:solidFill>
                  <a:srgbClr val="536775"/>
                </a:solidFill>
                <a:latin typeface="Arial"/>
                <a:ea typeface="Arial"/>
                <a:cs typeface="Arial"/>
              </a:defRPr>
            </a:defPPr>
            <a:lvl1pPr algn="l">
              <a:defRPr sz="1425" b="0">
                <a:solidFill>
                  <a:srgbClr val="536775"/>
                </a:solidFill>
                <a:latin typeface="Arial"/>
                <a:ea typeface="Arial"/>
                <a:cs typeface="Arial"/>
              </a:defRPr>
            </a:lvl1pPr>
            <a:lvl2pPr algn="l">
              <a:defRPr sz="1425" b="0">
                <a:solidFill>
                  <a:srgbClr val="536775"/>
                </a:solidFill>
                <a:latin typeface="Arial"/>
                <a:ea typeface="Arial"/>
                <a:cs typeface="Arial"/>
              </a:defRPr>
            </a:lvl2pPr>
            <a:lvl3pPr algn="l">
              <a:defRPr sz="1425" b="0">
                <a:solidFill>
                  <a:srgbClr val="536775"/>
                </a:solidFill>
                <a:latin typeface="Arial"/>
                <a:ea typeface="Arial"/>
                <a:cs typeface="Arial"/>
              </a:defRPr>
            </a:lvl3pPr>
            <a:lvl4pPr algn="l">
              <a:defRPr sz="1425" b="0">
                <a:solidFill>
                  <a:srgbClr val="536775"/>
                </a:solidFill>
                <a:latin typeface="Arial"/>
                <a:ea typeface="Arial"/>
                <a:cs typeface="Arial"/>
              </a:defRPr>
            </a:lvl4pPr>
            <a:lvl5pPr algn="l">
              <a:defRPr sz="1425" b="0">
                <a:solidFill>
                  <a:srgbClr val="536775"/>
                </a:solidFill>
                <a:latin typeface="Arial"/>
                <a:ea typeface="Arial"/>
                <a:cs typeface="Arial"/>
              </a:defRPr>
            </a:lvl5pPr>
            <a:lvl6pPr algn="l">
              <a:defRPr sz="1425" b="0">
                <a:solidFill>
                  <a:srgbClr val="536775"/>
                </a:solidFill>
                <a:latin typeface="Arial"/>
                <a:ea typeface="Arial"/>
                <a:cs typeface="Arial"/>
              </a:defRPr>
            </a:lvl6pPr>
            <a:lvl7pPr algn="l">
              <a:defRPr sz="1425" b="0">
                <a:solidFill>
                  <a:srgbClr val="536775"/>
                </a:solidFill>
                <a:latin typeface="Arial"/>
                <a:ea typeface="Arial"/>
                <a:cs typeface="Arial"/>
              </a:defRPr>
            </a:lvl7pPr>
            <a:lvl8pPr algn="l">
              <a:defRPr sz="1425" b="0">
                <a:solidFill>
                  <a:srgbClr val="536775"/>
                </a:solidFill>
                <a:latin typeface="Arial"/>
                <a:ea typeface="Arial"/>
                <a:cs typeface="Arial"/>
              </a:defRPr>
            </a:lvl8pPr>
            <a:lvl9pPr algn="l">
              <a:defRPr sz="1425" b="0">
                <a:solidFill>
                  <a:srgbClr val="536775"/>
                </a:solidFill>
                <a:latin typeface="Arial"/>
                <a:ea typeface="Arial"/>
                <a:cs typeface="Arial"/>
              </a:defRPr>
            </a:lvl9pPr>
          </a:lstStyle>
          <a:p xmlns:a="http://schemas.openxmlformats.org/drawingml/2006/main">
            <a:pPr algn="l">
              <a:defRPr sz="1425" b="0">
                <a:solidFill>
                  <a:srgbClr val="536775"/>
                </a:solidFill>
                <a:latin typeface="Arial"/>
                <a:ea typeface="Arial"/>
                <a:cs typeface="Arial"/>
              </a:defRPr>
            </a:pPr>
            <a:r>
              <a:rPr sz="1425" b="0">
                <a:solidFill>
                  <a:srgbClr val="536775"/>
                </a:solidFill>
                <a:latin typeface="Arial"/>
                <a:ea typeface="Arial"/>
                <a:cs typeface="Arial"/>
              </a:rPr>
              <a:t>2014-04-21 15:00 UTC</a:t>
            </a:r>
          </a:p>
        </p:txBody>
      </p:sp>
      <p:graphicFrame>
        <p:nvGraphicFramePr>
          <p:cNvPr id="14" name="Chart">
            <a:extLst xmlns:a="http://schemas.openxmlformats.org/drawingml/2006/main">
              <a:ext uri="{FF2B5EF4-FFF2-40B4-BE49-F238E27FC236}">
                <a16:creationId xmlns:a16="http://schemas.microsoft.com/office/drawing/2014/main" id="{12AD87FC-53DB-4463-8CAB-F1A47146D4E2}"/>
              </a:ext>
            </a:extLst>
          </p:cNvPr>
          <p:cNvGraphicFramePr/>
          <p:nvPr/>
        </p:nvGraphicFramePr>
        <p:xfrm>
          <a:off xmlns:a="http://schemas.openxmlformats.org/drawingml/2006/main" x="6324600" y="2657475"/>
          <a:ext xmlns:a="http://schemas.openxmlformats.org/drawingml/2006/main" cx="5257800" cy="1905000"/>
        </p:xfrm>
        <a:graphic xmlns:a="http://schemas.openxmlformats.org/drawingml/2006/main">
          <a:graphicData uri="http://schemas.openxmlformats.org/drawingml/2006/chart">
            <c:chart xmlns:r="http://schemas.openxmlformats.org/officeDocument/2006/relationships" xmlns:c="http://schemas.openxmlformats.org/drawingml/2006/chart" r:id="R2a3441fef66048af"/>
          </a:graphicData>
        </a:graphic>
      </p:graphicFrame>
      <p:sp>
        <p:nvSpPr>
          <p:cNvPr id="15" name="shape-109">
            <a:extLst xmlns:a="http://schemas.openxmlformats.org/drawingml/2006/main">
              <a:ext uri="{FF2B5EF4-FFF2-40B4-BE49-F238E27FC236}">
                <a16:creationId xmlns:a16="http://schemas.microsoft.com/office/drawing/2014/main" id="{6E22C25C-8CD0-4B33-A427-CB3D9355A5DD}"/>
              </a:ext>
            </a:extLst>
          </p:cNvPr>
          <p:cNvSpPr>
            <a:spLocks xmlns:a="http://schemas.openxmlformats.org/drawingml/2006/main" noGrp="1"/>
          </p:cNvSpPr>
          <p:nvPr/>
        </p:nvSpPr>
        <p:spPr>
          <a:xfrm xmlns:a="http://schemas.openxmlformats.org/drawingml/2006/main">
            <a:off x="6324600" y="4762500"/>
            <a:ext cx="525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142D40"/>
                </a:solidFill>
                <a:latin typeface="Arial"/>
                <a:ea typeface="Arial"/>
                <a:cs typeface="Arial"/>
              </a:defRPr>
            </a:defPPr>
            <a:lvl1pPr algn="l">
              <a:defRPr sz="1800" b="1">
                <a:solidFill>
                  <a:srgbClr val="142D40"/>
                </a:solidFill>
                <a:latin typeface="Arial"/>
                <a:ea typeface="Arial"/>
                <a:cs typeface="Arial"/>
              </a:defRPr>
            </a:lvl1pPr>
            <a:lvl2pPr algn="l">
              <a:defRPr sz="1800" b="1">
                <a:solidFill>
                  <a:srgbClr val="142D40"/>
                </a:solidFill>
                <a:latin typeface="Arial"/>
                <a:ea typeface="Arial"/>
                <a:cs typeface="Arial"/>
              </a:defRPr>
            </a:lvl2pPr>
            <a:lvl3pPr algn="l">
              <a:defRPr sz="1800" b="1">
                <a:solidFill>
                  <a:srgbClr val="142D40"/>
                </a:solidFill>
                <a:latin typeface="Arial"/>
                <a:ea typeface="Arial"/>
                <a:cs typeface="Arial"/>
              </a:defRPr>
            </a:lvl3pPr>
            <a:lvl4pPr algn="l">
              <a:defRPr sz="1800" b="1">
                <a:solidFill>
                  <a:srgbClr val="142D40"/>
                </a:solidFill>
                <a:latin typeface="Arial"/>
                <a:ea typeface="Arial"/>
                <a:cs typeface="Arial"/>
              </a:defRPr>
            </a:lvl4pPr>
            <a:lvl5pPr algn="l">
              <a:defRPr sz="1800" b="1">
                <a:solidFill>
                  <a:srgbClr val="142D40"/>
                </a:solidFill>
                <a:latin typeface="Arial"/>
                <a:ea typeface="Arial"/>
                <a:cs typeface="Arial"/>
              </a:defRPr>
            </a:lvl5pPr>
            <a:lvl6pPr algn="l">
              <a:defRPr sz="1800" b="1">
                <a:solidFill>
                  <a:srgbClr val="142D40"/>
                </a:solidFill>
                <a:latin typeface="Arial"/>
                <a:ea typeface="Arial"/>
                <a:cs typeface="Arial"/>
              </a:defRPr>
            </a:lvl6pPr>
            <a:lvl7pPr algn="l">
              <a:defRPr sz="1800" b="1">
                <a:solidFill>
                  <a:srgbClr val="142D40"/>
                </a:solidFill>
                <a:latin typeface="Arial"/>
                <a:ea typeface="Arial"/>
                <a:cs typeface="Arial"/>
              </a:defRPr>
            </a:lvl7pPr>
            <a:lvl8pPr algn="l">
              <a:defRPr sz="1800" b="1">
                <a:solidFill>
                  <a:srgbClr val="142D40"/>
                </a:solidFill>
                <a:latin typeface="Arial"/>
                <a:ea typeface="Arial"/>
                <a:cs typeface="Arial"/>
              </a:defRPr>
            </a:lvl8pPr>
            <a:lvl9pPr algn="l">
              <a:defRPr sz="1800" b="1">
                <a:solidFill>
                  <a:srgbClr val="142D40"/>
                </a:solidFill>
                <a:latin typeface="Arial"/>
                <a:ea typeface="Arial"/>
                <a:cs typeface="Arial"/>
              </a:defRPr>
            </a:lvl9pPr>
          </a:lstStyle>
          <a:p xmlns:a="http://schemas.openxmlformats.org/drawingml/2006/main">
            <a:pPr algn="l">
              <a:defRPr sz="1800" b="1">
                <a:solidFill>
                  <a:srgbClr val="142D40"/>
                </a:solidFill>
                <a:latin typeface="Arial"/>
                <a:ea typeface="Arial"/>
                <a:cs typeface="Arial"/>
              </a:defRPr>
            </a:pPr>
            <a:r>
              <a:rPr sz="1800" b="1">
                <a:solidFill>
                  <a:srgbClr val="142D40"/>
                </a:solidFill>
                <a:latin typeface="Arial"/>
                <a:ea typeface="Arial"/>
                <a:cs typeface="Arial"/>
              </a:rPr>
              <a:t>Score 6.15  /  threshold 5.00</a:t>
            </a:r>
          </a:p>
        </p:txBody>
      </p:sp>
      <p:sp>
        <p:nvSpPr>
          <p:cNvPr id="16" name="shape-110">
            <a:extLst xmlns:a="http://schemas.openxmlformats.org/drawingml/2006/main">
              <a:ext uri="{FF2B5EF4-FFF2-40B4-BE49-F238E27FC236}">
                <a16:creationId xmlns:a16="http://schemas.microsoft.com/office/drawing/2014/main" id="{4D1D0A78-4075-49E0-AD4D-9CA37CFDCA81}"/>
              </a:ext>
            </a:extLst>
          </p:cNvPr>
          <p:cNvSpPr>
            <a:spLocks xmlns:a="http://schemas.openxmlformats.org/drawingml/2006/main" noGrp="1"/>
          </p:cNvSpPr>
          <p:nvPr/>
        </p:nvSpPr>
        <p:spPr>
          <a:xfrm xmlns:a="http://schemas.openxmlformats.org/drawingml/2006/main">
            <a:off x="6324600" y="5162550"/>
            <a:ext cx="5257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0">
                <a:solidFill>
                  <a:srgbClr val="536775"/>
                </a:solidFill>
                <a:latin typeface="Arial"/>
                <a:ea typeface="Arial"/>
                <a:cs typeface="Arial"/>
              </a:defRPr>
            </a:defPPr>
            <a:lvl1pPr algn="l">
              <a:defRPr sz="1575" b="0">
                <a:solidFill>
                  <a:srgbClr val="536775"/>
                </a:solidFill>
                <a:latin typeface="Arial"/>
                <a:ea typeface="Arial"/>
                <a:cs typeface="Arial"/>
              </a:defRPr>
            </a:lvl1pPr>
            <a:lvl2pPr algn="l">
              <a:defRPr sz="1575" b="0">
                <a:solidFill>
                  <a:srgbClr val="536775"/>
                </a:solidFill>
                <a:latin typeface="Arial"/>
                <a:ea typeface="Arial"/>
                <a:cs typeface="Arial"/>
              </a:defRPr>
            </a:lvl2pPr>
            <a:lvl3pPr algn="l">
              <a:defRPr sz="1575" b="0">
                <a:solidFill>
                  <a:srgbClr val="536775"/>
                </a:solidFill>
                <a:latin typeface="Arial"/>
                <a:ea typeface="Arial"/>
                <a:cs typeface="Arial"/>
              </a:defRPr>
            </a:lvl3pPr>
            <a:lvl4pPr algn="l">
              <a:defRPr sz="1575" b="0">
                <a:solidFill>
                  <a:srgbClr val="536775"/>
                </a:solidFill>
                <a:latin typeface="Arial"/>
                <a:ea typeface="Arial"/>
                <a:cs typeface="Arial"/>
              </a:defRPr>
            </a:lvl4pPr>
            <a:lvl5pPr algn="l">
              <a:defRPr sz="1575" b="0">
                <a:solidFill>
                  <a:srgbClr val="536775"/>
                </a:solidFill>
                <a:latin typeface="Arial"/>
                <a:ea typeface="Arial"/>
                <a:cs typeface="Arial"/>
              </a:defRPr>
            </a:lvl5pPr>
            <a:lvl6pPr algn="l">
              <a:defRPr sz="1575" b="0">
                <a:solidFill>
                  <a:srgbClr val="536775"/>
                </a:solidFill>
                <a:latin typeface="Arial"/>
                <a:ea typeface="Arial"/>
                <a:cs typeface="Arial"/>
              </a:defRPr>
            </a:lvl6pPr>
            <a:lvl7pPr algn="l">
              <a:defRPr sz="1575" b="0">
                <a:solidFill>
                  <a:srgbClr val="536775"/>
                </a:solidFill>
                <a:latin typeface="Arial"/>
                <a:ea typeface="Arial"/>
                <a:cs typeface="Arial"/>
              </a:defRPr>
            </a:lvl7pPr>
            <a:lvl8pPr algn="l">
              <a:defRPr sz="1575" b="0">
                <a:solidFill>
                  <a:srgbClr val="536775"/>
                </a:solidFill>
                <a:latin typeface="Arial"/>
                <a:ea typeface="Arial"/>
                <a:cs typeface="Arial"/>
              </a:defRPr>
            </a:lvl8pPr>
            <a:lvl9pPr algn="l">
              <a:defRPr sz="1575" b="0">
                <a:solidFill>
                  <a:srgbClr val="536775"/>
                </a:solidFill>
                <a:latin typeface="Arial"/>
                <a:ea typeface="Arial"/>
                <a:cs typeface="Arial"/>
              </a:defRPr>
            </a:lvl9pPr>
          </a:lstStyle>
          <a:p xmlns:a="http://schemas.openxmlformats.org/drawingml/2006/main">
            <a:pPr algn="l">
              <a:defRPr sz="1575" b="0">
                <a:solidFill>
                  <a:srgbClr val="536775"/>
                </a:solidFill>
                <a:latin typeface="Arial"/>
                <a:ea typeface="Arial"/>
                <a:cs typeface="Arial"/>
              </a:defRPr>
            </a:pPr>
            <a:r>
              <a:rPr sz="1575" b="0">
                <a:solidFill>
                  <a:srgbClr val="536775"/>
                </a:solidFill>
                <a:latin typeface="Arial"/>
                <a:ea typeface="Arial"/>
                <a:cs typeface="Arial"/>
              </a:rPr>
              <a:t>Observed 70.07; expected 62.71</a:t>
            </a:r>
          </a:p>
          <a:p xmlns:a="http://schemas.openxmlformats.org/drawingml/2006/main">
            <a:pPr algn="l">
              <a:defRPr sz="1575" b="0">
                <a:solidFill>
                  <a:srgbClr val="536775"/>
                </a:solidFill>
                <a:latin typeface="Arial"/>
                <a:ea typeface="Arial"/>
                <a:cs typeface="Arial"/>
              </a:defRPr>
            </a:pPr>
            <a:r>
              <a:rPr sz="1575" b="0">
                <a:solidFill>
                  <a:srgbClr val="536775"/>
                </a:solidFill>
                <a:latin typeface="Arial"/>
                <a:ea typeface="Arial"/>
                <a:cs typeface="Arial"/>
              </a:rPr>
              <a:t>Range [56.72, 68.70]; h=8</a:t>
            </a:r>
          </a:p>
          <a:p xmlns:a="http://schemas.openxmlformats.org/drawingml/2006/main">
            <a:pPr algn="l">
              <a:defRPr sz="1575" b="0">
                <a:solidFill>
                  <a:srgbClr val="536775"/>
                </a:solidFill>
                <a:latin typeface="Arial"/>
                <a:ea typeface="Arial"/>
                <a:cs typeface="Arial"/>
              </a:defRPr>
            </a:pPr>
            <a:r>
              <a:rPr sz="1575" b="0">
                <a:solidFill>
                  <a:srgbClr val="536775"/>
                </a:solidFill>
                <a:latin typeface="Arial"/>
                <a:ea typeface="Arial"/>
                <a:cs typeface="Arial"/>
              </a:rPr>
              <a:t>Label: ANOMALOUS · 1.23× cutoff</a:t>
            </a:r>
          </a:p>
        </p:txBody>
      </p:sp>
    </p:spTree>
    <p:extLst>
      <p:ext uri="{BB962C8B-B14F-4D97-AF65-F5344CB8AC3E}">
        <p14:creationId xmlns:p14="http://schemas.microsoft.com/office/powerpoint/2010/main" val="20328557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111">
            <a:extLst xmlns:a="http://schemas.openxmlformats.org/drawingml/2006/main">
              <a:ext uri="{FF2B5EF4-FFF2-40B4-BE49-F238E27FC236}">
                <a16:creationId xmlns:a16="http://schemas.microsoft.com/office/drawing/2014/main" id="{EEA923E6-6E93-4A42-BFAF-D4112D299D46}"/>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42D40"/>
                </a:solidFill>
                <a:latin typeface="Arial"/>
                <a:ea typeface="Arial"/>
                <a:cs typeface="Arial"/>
              </a:defRPr>
            </a:defPPr>
            <a:lvl1pPr algn="l">
              <a:defRPr sz="3000" b="1">
                <a:solidFill>
                  <a:srgbClr val="142D40"/>
                </a:solidFill>
                <a:latin typeface="Arial"/>
                <a:ea typeface="Arial"/>
                <a:cs typeface="Arial"/>
              </a:defRPr>
            </a:lvl1pPr>
            <a:lvl2pPr algn="l">
              <a:defRPr sz="3000" b="1">
                <a:solidFill>
                  <a:srgbClr val="142D40"/>
                </a:solidFill>
                <a:latin typeface="Arial"/>
                <a:ea typeface="Arial"/>
                <a:cs typeface="Arial"/>
              </a:defRPr>
            </a:lvl2pPr>
            <a:lvl3pPr algn="l">
              <a:defRPr sz="3000" b="1">
                <a:solidFill>
                  <a:srgbClr val="142D40"/>
                </a:solidFill>
                <a:latin typeface="Arial"/>
                <a:ea typeface="Arial"/>
                <a:cs typeface="Arial"/>
              </a:defRPr>
            </a:lvl3pPr>
            <a:lvl4pPr algn="l">
              <a:defRPr sz="3000" b="1">
                <a:solidFill>
                  <a:srgbClr val="142D40"/>
                </a:solidFill>
                <a:latin typeface="Arial"/>
                <a:ea typeface="Arial"/>
                <a:cs typeface="Arial"/>
              </a:defRPr>
            </a:lvl4pPr>
            <a:lvl5pPr algn="l">
              <a:defRPr sz="3000" b="1">
                <a:solidFill>
                  <a:srgbClr val="142D40"/>
                </a:solidFill>
                <a:latin typeface="Arial"/>
                <a:ea typeface="Arial"/>
                <a:cs typeface="Arial"/>
              </a:defRPr>
            </a:lvl5pPr>
            <a:lvl6pPr algn="l">
              <a:defRPr sz="3000" b="1">
                <a:solidFill>
                  <a:srgbClr val="142D40"/>
                </a:solidFill>
                <a:latin typeface="Arial"/>
                <a:ea typeface="Arial"/>
                <a:cs typeface="Arial"/>
              </a:defRPr>
            </a:lvl6pPr>
            <a:lvl7pPr algn="l">
              <a:defRPr sz="3000" b="1">
                <a:solidFill>
                  <a:srgbClr val="142D40"/>
                </a:solidFill>
                <a:latin typeface="Arial"/>
                <a:ea typeface="Arial"/>
                <a:cs typeface="Arial"/>
              </a:defRPr>
            </a:lvl7pPr>
            <a:lvl8pPr algn="l">
              <a:defRPr sz="3000" b="1">
                <a:solidFill>
                  <a:srgbClr val="142D40"/>
                </a:solidFill>
                <a:latin typeface="Arial"/>
                <a:ea typeface="Arial"/>
                <a:cs typeface="Arial"/>
              </a:defRPr>
            </a:lvl8pPr>
            <a:lvl9pPr algn="l">
              <a:defRPr sz="3000" b="1">
                <a:solidFill>
                  <a:srgbClr val="142D40"/>
                </a:solidFill>
                <a:latin typeface="Arial"/>
                <a:ea typeface="Arial"/>
                <a:cs typeface="Arial"/>
              </a:defRPr>
            </a:lvl9pPr>
          </a:lstStyle>
          <a:p xmlns:a="http://schemas.openxmlformats.org/drawingml/2006/main">
            <a:pPr algn="l">
              <a:defRPr sz="3000" b="1">
                <a:solidFill>
                  <a:srgbClr val="142D40"/>
                </a:solidFill>
                <a:latin typeface="Arial"/>
                <a:ea typeface="Arial"/>
                <a:cs typeface="Arial"/>
              </a:defRPr>
            </a:pPr>
            <a:r>
              <a:rPr sz="3000" b="1">
                <a:solidFill>
                  <a:srgbClr val="142D40"/>
                </a:solidFill>
                <a:latin typeface="Arial"/>
                <a:ea typeface="Arial"/>
                <a:cs typeface="Arial"/>
              </a:rPr>
              <a:t>Limitations and next steps</a:t>
            </a:r>
          </a:p>
        </p:txBody>
      </p:sp>
      <p:sp>
        <p:nvSpPr>
          <p:cNvPr id="3" name="shape-112">
            <a:extLst xmlns:a="http://schemas.openxmlformats.org/drawingml/2006/main">
              <a:ext uri="{FF2B5EF4-FFF2-40B4-BE49-F238E27FC236}">
                <a16:creationId xmlns:a16="http://schemas.microsoft.com/office/drawing/2014/main" id="{A9A543BB-529B-44A1-BB2C-A4347C6FC5DF}"/>
              </a:ext>
            </a:extLst>
          </p:cNvPr>
          <p:cNvSpPr>
            <a:spLocks xmlns:a="http://schemas.openxmlformats.org/drawingml/2006/main" noGrp="1"/>
          </p:cNvSpPr>
          <p:nvPr/>
        </p:nvSpPr>
        <p:spPr>
          <a:xfrm xmlns:a="http://schemas.openxmlformats.org/drawingml/2006/main">
            <a:off x="609600" y="6286500"/>
            <a:ext cx="10972800" cy="9525"/>
          </a:xfrm>
          <a:prstGeom xmlns:a="http://schemas.openxmlformats.org/drawingml/2006/main" prst="rect">
            <a:avLst/>
          </a:prstGeom>
          <a:solidFill xmlns:a="http://schemas.openxmlformats.org/drawingml/2006/main">
            <a:srgbClr val="D7E2E7"/>
          </a:solidFill>
          <a:ln xmlns:a="http://schemas.openxmlformats.org/drawingml/2006/main" w="0">
            <a:noFill/>
            <a:prstDash val="solid"/>
          </a:ln>
        </p:spPr>
      </p:sp>
      <p:sp>
        <p:nvSpPr>
          <p:cNvPr id="4" name="shape-113">
            <a:extLst xmlns:a="http://schemas.openxmlformats.org/drawingml/2006/main">
              <a:ext uri="{FF2B5EF4-FFF2-40B4-BE49-F238E27FC236}">
                <a16:creationId xmlns:a16="http://schemas.microsoft.com/office/drawing/2014/main" id="{CAE9282C-FAA2-4580-A3D4-3521D87C860E}"/>
              </a:ext>
            </a:extLst>
          </p:cNvPr>
          <p:cNvSpPr>
            <a:spLocks xmlns:a="http://schemas.openxmlformats.org/drawingml/2006/main" noGrp="1"/>
          </p:cNvSpPr>
          <p:nvPr/>
        </p:nvSpPr>
        <p:spPr>
          <a:xfrm xmlns:a="http://schemas.openxmlformats.org/drawingml/2006/main">
            <a:off x="609600" y="6457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36775"/>
                </a:solidFill>
                <a:latin typeface="Arial"/>
                <a:ea typeface="Arial"/>
                <a:cs typeface="Arial"/>
              </a:defRPr>
            </a:defPPr>
            <a:lvl1pPr algn="l">
              <a:defRPr sz="975" b="0">
                <a:solidFill>
                  <a:srgbClr val="536775"/>
                </a:solidFill>
                <a:latin typeface="Arial"/>
                <a:ea typeface="Arial"/>
                <a:cs typeface="Arial"/>
              </a:defRPr>
            </a:lvl1pPr>
            <a:lvl2pPr algn="l">
              <a:defRPr sz="975" b="0">
                <a:solidFill>
                  <a:srgbClr val="536775"/>
                </a:solidFill>
                <a:latin typeface="Arial"/>
                <a:ea typeface="Arial"/>
                <a:cs typeface="Arial"/>
              </a:defRPr>
            </a:lvl2pPr>
            <a:lvl3pPr algn="l">
              <a:defRPr sz="975" b="0">
                <a:solidFill>
                  <a:srgbClr val="536775"/>
                </a:solidFill>
                <a:latin typeface="Arial"/>
                <a:ea typeface="Arial"/>
                <a:cs typeface="Arial"/>
              </a:defRPr>
            </a:lvl3pPr>
            <a:lvl4pPr algn="l">
              <a:defRPr sz="975" b="0">
                <a:solidFill>
                  <a:srgbClr val="536775"/>
                </a:solidFill>
                <a:latin typeface="Arial"/>
                <a:ea typeface="Arial"/>
                <a:cs typeface="Arial"/>
              </a:defRPr>
            </a:lvl4pPr>
            <a:lvl5pPr algn="l">
              <a:defRPr sz="975" b="0">
                <a:solidFill>
                  <a:srgbClr val="536775"/>
                </a:solidFill>
                <a:latin typeface="Arial"/>
                <a:ea typeface="Arial"/>
                <a:cs typeface="Arial"/>
              </a:defRPr>
            </a:lvl5pPr>
            <a:lvl6pPr algn="l">
              <a:defRPr sz="975" b="0">
                <a:solidFill>
                  <a:srgbClr val="536775"/>
                </a:solidFill>
                <a:latin typeface="Arial"/>
                <a:ea typeface="Arial"/>
                <a:cs typeface="Arial"/>
              </a:defRPr>
            </a:lvl6pPr>
            <a:lvl7pPr algn="l">
              <a:defRPr sz="975" b="0">
                <a:solidFill>
                  <a:srgbClr val="536775"/>
                </a:solidFill>
                <a:latin typeface="Arial"/>
                <a:ea typeface="Arial"/>
                <a:cs typeface="Arial"/>
              </a:defRPr>
            </a:lvl7pPr>
            <a:lvl8pPr algn="l">
              <a:defRPr sz="975" b="0">
                <a:solidFill>
                  <a:srgbClr val="536775"/>
                </a:solidFill>
                <a:latin typeface="Arial"/>
                <a:ea typeface="Arial"/>
                <a:cs typeface="Arial"/>
              </a:defRPr>
            </a:lvl8pPr>
            <a:lvl9pPr algn="l">
              <a:defRPr sz="975" b="0">
                <a:solidFill>
                  <a:srgbClr val="536775"/>
                </a:solidFill>
                <a:latin typeface="Arial"/>
                <a:ea typeface="Arial"/>
                <a:cs typeface="Arial"/>
              </a:defRPr>
            </a:lvl9pPr>
          </a:lstStyle>
          <a:p xmlns:a="http://schemas.openxmlformats.org/drawingml/2006/main">
            <a:pPr algn="l">
              <a:defRPr sz="975" b="0">
                <a:solidFill>
                  <a:srgbClr val="536775"/>
                </a:solidFill>
                <a:latin typeface="Arial"/>
                <a:ea typeface="Arial"/>
                <a:cs typeface="Arial"/>
              </a:defRPr>
            </a:pPr>
            <a:r>
              <a:rPr sz="975" b="0">
                <a:solidFill>
                  <a:srgbClr val="536775"/>
                </a:solidFill>
                <a:latin typeface="Arial"/>
                <a:ea typeface="Arial"/>
                <a:cs typeface="Arial"/>
              </a:rPr>
              <a:t>UTKRISHTA 2026  /  CHALLENGE 2</a:t>
            </a:r>
          </a:p>
        </p:txBody>
      </p:sp>
      <p:sp>
        <p:nvSpPr>
          <p:cNvPr id="5" name="shape-114">
            <a:extLst xmlns:a="http://schemas.openxmlformats.org/drawingml/2006/main">
              <a:ext uri="{FF2B5EF4-FFF2-40B4-BE49-F238E27FC236}">
                <a16:creationId xmlns:a16="http://schemas.microsoft.com/office/drawing/2014/main" id="{6AAF68CA-D546-49E8-9B89-A20B864E61AA}"/>
              </a:ext>
            </a:extLst>
          </p:cNvPr>
          <p:cNvSpPr>
            <a:spLocks xmlns:a="http://schemas.openxmlformats.org/drawingml/2006/main" noGrp="1"/>
          </p:cNvSpPr>
          <p:nvPr/>
        </p:nvSpPr>
        <p:spPr>
          <a:xfrm xmlns:a="http://schemas.openxmlformats.org/drawingml/2006/main">
            <a:off x="10906125" y="6448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36775"/>
                </a:solidFill>
                <a:latin typeface="Arial"/>
                <a:ea typeface="Arial"/>
                <a:cs typeface="Arial"/>
              </a:defRPr>
            </a:defPPr>
            <a:lvl1pPr algn="l">
              <a:defRPr sz="1050" b="0">
                <a:solidFill>
                  <a:srgbClr val="536775"/>
                </a:solidFill>
                <a:latin typeface="Arial"/>
                <a:ea typeface="Arial"/>
                <a:cs typeface="Arial"/>
              </a:defRPr>
            </a:lvl1pPr>
            <a:lvl2pPr algn="l">
              <a:defRPr sz="1050" b="0">
                <a:solidFill>
                  <a:srgbClr val="536775"/>
                </a:solidFill>
                <a:latin typeface="Arial"/>
                <a:ea typeface="Arial"/>
                <a:cs typeface="Arial"/>
              </a:defRPr>
            </a:lvl2pPr>
            <a:lvl3pPr algn="l">
              <a:defRPr sz="1050" b="0">
                <a:solidFill>
                  <a:srgbClr val="536775"/>
                </a:solidFill>
                <a:latin typeface="Arial"/>
                <a:ea typeface="Arial"/>
                <a:cs typeface="Arial"/>
              </a:defRPr>
            </a:lvl3pPr>
            <a:lvl4pPr algn="l">
              <a:defRPr sz="1050" b="0">
                <a:solidFill>
                  <a:srgbClr val="536775"/>
                </a:solidFill>
                <a:latin typeface="Arial"/>
                <a:ea typeface="Arial"/>
                <a:cs typeface="Arial"/>
              </a:defRPr>
            </a:lvl4pPr>
            <a:lvl5pPr algn="l">
              <a:defRPr sz="1050" b="0">
                <a:solidFill>
                  <a:srgbClr val="536775"/>
                </a:solidFill>
                <a:latin typeface="Arial"/>
                <a:ea typeface="Arial"/>
                <a:cs typeface="Arial"/>
              </a:defRPr>
            </a:lvl5pPr>
            <a:lvl6pPr algn="l">
              <a:defRPr sz="1050" b="0">
                <a:solidFill>
                  <a:srgbClr val="536775"/>
                </a:solidFill>
                <a:latin typeface="Arial"/>
                <a:ea typeface="Arial"/>
                <a:cs typeface="Arial"/>
              </a:defRPr>
            </a:lvl6pPr>
            <a:lvl7pPr algn="l">
              <a:defRPr sz="1050" b="0">
                <a:solidFill>
                  <a:srgbClr val="536775"/>
                </a:solidFill>
                <a:latin typeface="Arial"/>
                <a:ea typeface="Arial"/>
                <a:cs typeface="Arial"/>
              </a:defRPr>
            </a:lvl7pPr>
            <a:lvl8pPr algn="l">
              <a:defRPr sz="1050" b="0">
                <a:solidFill>
                  <a:srgbClr val="536775"/>
                </a:solidFill>
                <a:latin typeface="Arial"/>
                <a:ea typeface="Arial"/>
                <a:cs typeface="Arial"/>
              </a:defRPr>
            </a:lvl8pPr>
            <a:lvl9pPr algn="l">
              <a:defRPr sz="1050" b="0">
                <a:solidFill>
                  <a:srgbClr val="536775"/>
                </a:solidFill>
                <a:latin typeface="Arial"/>
                <a:ea typeface="Arial"/>
                <a:cs typeface="Arial"/>
              </a:defRPr>
            </a:lvl9pPr>
          </a:lstStyle>
          <a:p xmlns:a="http://schemas.openxmlformats.org/drawingml/2006/main">
            <a:pPr algn="l">
              <a:defRPr sz="1050" b="0">
                <a:solidFill>
                  <a:srgbClr val="536775"/>
                </a:solidFill>
                <a:latin typeface="Arial"/>
                <a:ea typeface="Arial"/>
                <a:cs typeface="Arial"/>
              </a:defRPr>
            </a:pPr>
            <a:r>
              <a:rPr sz="1050" b="0">
                <a:solidFill>
                  <a:srgbClr val="536775"/>
                </a:solidFill>
                <a:latin typeface="Arial"/>
                <a:ea typeface="Arial"/>
                <a:cs typeface="Arial"/>
              </a:rPr>
              <a:t>10 / 10</a:t>
            </a:r>
          </a:p>
        </p:txBody>
      </p:sp>
      <p:sp>
        <p:nvSpPr>
          <p:cNvPr id="6" name="shape-115">
            <a:extLst xmlns:a="http://schemas.openxmlformats.org/drawingml/2006/main">
              <a:ext uri="{FF2B5EF4-FFF2-40B4-BE49-F238E27FC236}">
                <a16:creationId xmlns:a16="http://schemas.microsoft.com/office/drawing/2014/main" id="{E74F7AC4-C140-4A88-A85D-4EDD32AE0F81}"/>
              </a:ext>
            </a:extLst>
          </p:cNvPr>
          <p:cNvSpPr>
            <a:spLocks xmlns:a="http://schemas.openxmlformats.org/drawingml/2006/main" noGrp="1"/>
          </p:cNvSpPr>
          <p:nvPr/>
        </p:nvSpPr>
        <p:spPr>
          <a:xfrm xmlns:a="http://schemas.openxmlformats.org/drawingml/2006/main">
            <a:off x="609600" y="16192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067C75"/>
                </a:solidFill>
                <a:latin typeface="Arial"/>
                <a:ea typeface="Arial"/>
                <a:cs typeface="Arial"/>
              </a:defRPr>
            </a:defPPr>
            <a:lvl1pPr algn="l">
              <a:defRPr sz="1800" b="1">
                <a:solidFill>
                  <a:srgbClr val="067C75"/>
                </a:solidFill>
                <a:latin typeface="Arial"/>
                <a:ea typeface="Arial"/>
                <a:cs typeface="Arial"/>
              </a:defRPr>
            </a:lvl1pPr>
            <a:lvl2pPr algn="l">
              <a:defRPr sz="1800" b="1">
                <a:solidFill>
                  <a:srgbClr val="067C75"/>
                </a:solidFill>
                <a:latin typeface="Arial"/>
                <a:ea typeface="Arial"/>
                <a:cs typeface="Arial"/>
              </a:defRPr>
            </a:lvl2pPr>
            <a:lvl3pPr algn="l">
              <a:defRPr sz="1800" b="1">
                <a:solidFill>
                  <a:srgbClr val="067C75"/>
                </a:solidFill>
                <a:latin typeface="Arial"/>
                <a:ea typeface="Arial"/>
                <a:cs typeface="Arial"/>
              </a:defRPr>
            </a:lvl3pPr>
            <a:lvl4pPr algn="l">
              <a:defRPr sz="1800" b="1">
                <a:solidFill>
                  <a:srgbClr val="067C75"/>
                </a:solidFill>
                <a:latin typeface="Arial"/>
                <a:ea typeface="Arial"/>
                <a:cs typeface="Arial"/>
              </a:defRPr>
            </a:lvl4pPr>
            <a:lvl5pPr algn="l">
              <a:defRPr sz="1800" b="1">
                <a:solidFill>
                  <a:srgbClr val="067C75"/>
                </a:solidFill>
                <a:latin typeface="Arial"/>
                <a:ea typeface="Arial"/>
                <a:cs typeface="Arial"/>
              </a:defRPr>
            </a:lvl5pPr>
            <a:lvl6pPr algn="l">
              <a:defRPr sz="1800" b="1">
                <a:solidFill>
                  <a:srgbClr val="067C75"/>
                </a:solidFill>
                <a:latin typeface="Arial"/>
                <a:ea typeface="Arial"/>
                <a:cs typeface="Arial"/>
              </a:defRPr>
            </a:lvl6pPr>
            <a:lvl7pPr algn="l">
              <a:defRPr sz="1800" b="1">
                <a:solidFill>
                  <a:srgbClr val="067C75"/>
                </a:solidFill>
                <a:latin typeface="Arial"/>
                <a:ea typeface="Arial"/>
                <a:cs typeface="Arial"/>
              </a:defRPr>
            </a:lvl7pPr>
            <a:lvl8pPr algn="l">
              <a:defRPr sz="1800" b="1">
                <a:solidFill>
                  <a:srgbClr val="067C75"/>
                </a:solidFill>
                <a:latin typeface="Arial"/>
                <a:ea typeface="Arial"/>
                <a:cs typeface="Arial"/>
              </a:defRPr>
            </a:lvl8pPr>
            <a:lvl9pPr algn="l">
              <a:defRPr sz="1800" b="1">
                <a:solidFill>
                  <a:srgbClr val="067C75"/>
                </a:solidFill>
                <a:latin typeface="Arial"/>
                <a:ea typeface="Arial"/>
                <a:cs typeface="Arial"/>
              </a:defRPr>
            </a:lvl9pPr>
          </a:lstStyle>
          <a:p xmlns:a="http://schemas.openxmlformats.org/drawingml/2006/main">
            <a:pPr algn="l">
              <a:defRPr sz="1800" b="1">
                <a:solidFill>
                  <a:srgbClr val="067C75"/>
                </a:solidFill>
                <a:latin typeface="Arial"/>
                <a:ea typeface="Arial"/>
                <a:cs typeface="Arial"/>
              </a:defRPr>
            </a:pPr>
            <a:r>
              <a:rPr sz="1800" b="1">
                <a:solidFill>
                  <a:srgbClr val="067C75"/>
                </a:solidFill>
                <a:latin typeface="Arial"/>
                <a:ea typeface="Arial"/>
                <a:cs typeface="Arial"/>
              </a:rPr>
              <a:t>What the results establish</a:t>
            </a:r>
          </a:p>
        </p:txBody>
      </p:sp>
      <p:sp>
        <p:nvSpPr>
          <p:cNvPr id="7" name="shape-116">
            <a:extLst xmlns:a="http://schemas.openxmlformats.org/drawingml/2006/main">
              <a:ext uri="{FF2B5EF4-FFF2-40B4-BE49-F238E27FC236}">
                <a16:creationId xmlns:a16="http://schemas.microsoft.com/office/drawing/2014/main" id="{E8B919A8-2B6F-4543-A4F1-91738F4F419B}"/>
              </a:ext>
            </a:extLst>
          </p:cNvPr>
          <p:cNvSpPr>
            <a:spLocks xmlns:a="http://schemas.openxmlformats.org/drawingml/2006/main" noGrp="1"/>
          </p:cNvSpPr>
          <p:nvPr/>
        </p:nvSpPr>
        <p:spPr>
          <a:xfrm xmlns:a="http://schemas.openxmlformats.org/drawingml/2006/main">
            <a:off x="609600" y="2066925"/>
            <a:ext cx="5238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42D40"/>
                </a:solidFill>
                <a:latin typeface="Arial"/>
                <a:ea typeface="Arial"/>
                <a:cs typeface="Arial"/>
              </a:defRPr>
            </a:defPPr>
            <a:lvl1pPr algn="l">
              <a:defRPr sz="1725" b="0">
                <a:solidFill>
                  <a:srgbClr val="142D40"/>
                </a:solidFill>
                <a:latin typeface="Arial"/>
                <a:ea typeface="Arial"/>
                <a:cs typeface="Arial"/>
              </a:defRPr>
            </a:lvl1pPr>
            <a:lvl2pPr algn="l">
              <a:defRPr sz="1725" b="0">
                <a:solidFill>
                  <a:srgbClr val="142D40"/>
                </a:solidFill>
                <a:latin typeface="Arial"/>
                <a:ea typeface="Arial"/>
                <a:cs typeface="Arial"/>
              </a:defRPr>
            </a:lvl2pPr>
            <a:lvl3pPr algn="l">
              <a:defRPr sz="1725" b="0">
                <a:solidFill>
                  <a:srgbClr val="142D40"/>
                </a:solidFill>
                <a:latin typeface="Arial"/>
                <a:ea typeface="Arial"/>
                <a:cs typeface="Arial"/>
              </a:defRPr>
            </a:lvl3pPr>
            <a:lvl4pPr algn="l">
              <a:defRPr sz="1725" b="0">
                <a:solidFill>
                  <a:srgbClr val="142D40"/>
                </a:solidFill>
                <a:latin typeface="Arial"/>
                <a:ea typeface="Arial"/>
                <a:cs typeface="Arial"/>
              </a:defRPr>
            </a:lvl4pPr>
            <a:lvl5pPr algn="l">
              <a:defRPr sz="1725" b="0">
                <a:solidFill>
                  <a:srgbClr val="142D40"/>
                </a:solidFill>
                <a:latin typeface="Arial"/>
                <a:ea typeface="Arial"/>
                <a:cs typeface="Arial"/>
              </a:defRPr>
            </a:lvl5pPr>
            <a:lvl6pPr algn="l">
              <a:defRPr sz="1725" b="0">
                <a:solidFill>
                  <a:srgbClr val="142D40"/>
                </a:solidFill>
                <a:latin typeface="Arial"/>
                <a:ea typeface="Arial"/>
                <a:cs typeface="Arial"/>
              </a:defRPr>
            </a:lvl6pPr>
            <a:lvl7pPr algn="l">
              <a:defRPr sz="1725" b="0">
                <a:solidFill>
                  <a:srgbClr val="142D40"/>
                </a:solidFill>
                <a:latin typeface="Arial"/>
                <a:ea typeface="Arial"/>
                <a:cs typeface="Arial"/>
              </a:defRPr>
            </a:lvl7pPr>
            <a:lvl8pPr algn="l">
              <a:defRPr sz="1725" b="0">
                <a:solidFill>
                  <a:srgbClr val="142D40"/>
                </a:solidFill>
                <a:latin typeface="Arial"/>
                <a:ea typeface="Arial"/>
                <a:cs typeface="Arial"/>
              </a:defRPr>
            </a:lvl8pPr>
            <a:lvl9pPr algn="l">
              <a:defRPr sz="1725" b="0">
                <a:solidFill>
                  <a:srgbClr val="142D40"/>
                </a:solidFill>
                <a:latin typeface="Arial"/>
                <a:ea typeface="Arial"/>
                <a:cs typeface="Arial"/>
              </a:defRPr>
            </a:lvl9pPr>
          </a:lstStyle>
          <a:p xmlns:a="http://schemas.openxmlformats.org/drawingml/2006/main">
            <a:pPr algn="l">
              <a:defRPr sz="1725" b="0">
                <a:solidFill>
                  <a:srgbClr val="142D40"/>
                </a:solidFill>
                <a:latin typeface="Arial"/>
                <a:ea typeface="Arial"/>
                <a:cs typeface="Arial"/>
              </a:defRPr>
            </a:pPr>
            <a:r>
              <a:rPr sz="1725" b="0">
                <a:solidFill>
                  <a:srgbClr val="142D40"/>
                </a:solidFill>
                <a:latin typeface="Arial"/>
                <a:ea typeface="Arial"/>
                <a:cs typeface="Arial"/>
              </a:rPr>
              <a:t>Moving variance is competitive with the completed reconstruction models. The strongest offline event-F1 is 73.64%.</a:t>
            </a:r>
          </a:p>
        </p:txBody>
      </p:sp>
      <p:sp>
        <p:nvSpPr>
          <p:cNvPr id="8" name="shape-117">
            <a:extLst xmlns:a="http://schemas.openxmlformats.org/drawingml/2006/main">
              <a:ext uri="{FF2B5EF4-FFF2-40B4-BE49-F238E27FC236}">
                <a16:creationId xmlns:a16="http://schemas.microsoft.com/office/drawing/2014/main" id="{C0933BF5-6900-4522-BA82-B52766C365B5}"/>
              </a:ext>
            </a:extLst>
          </p:cNvPr>
          <p:cNvSpPr>
            <a:spLocks xmlns:a="http://schemas.openxmlformats.org/drawingml/2006/main" noGrp="1"/>
          </p:cNvSpPr>
          <p:nvPr/>
        </p:nvSpPr>
        <p:spPr>
          <a:xfrm xmlns:a="http://schemas.openxmlformats.org/drawingml/2006/main">
            <a:off x="6477000" y="1619250"/>
            <a:ext cx="509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067C75"/>
                </a:solidFill>
                <a:latin typeface="Arial"/>
                <a:ea typeface="Arial"/>
                <a:cs typeface="Arial"/>
              </a:defRPr>
            </a:defPPr>
            <a:lvl1pPr algn="l">
              <a:defRPr sz="1800" b="1">
                <a:solidFill>
                  <a:srgbClr val="067C75"/>
                </a:solidFill>
                <a:latin typeface="Arial"/>
                <a:ea typeface="Arial"/>
                <a:cs typeface="Arial"/>
              </a:defRPr>
            </a:lvl1pPr>
            <a:lvl2pPr algn="l">
              <a:defRPr sz="1800" b="1">
                <a:solidFill>
                  <a:srgbClr val="067C75"/>
                </a:solidFill>
                <a:latin typeface="Arial"/>
                <a:ea typeface="Arial"/>
                <a:cs typeface="Arial"/>
              </a:defRPr>
            </a:lvl2pPr>
            <a:lvl3pPr algn="l">
              <a:defRPr sz="1800" b="1">
                <a:solidFill>
                  <a:srgbClr val="067C75"/>
                </a:solidFill>
                <a:latin typeface="Arial"/>
                <a:ea typeface="Arial"/>
                <a:cs typeface="Arial"/>
              </a:defRPr>
            </a:lvl3pPr>
            <a:lvl4pPr algn="l">
              <a:defRPr sz="1800" b="1">
                <a:solidFill>
                  <a:srgbClr val="067C75"/>
                </a:solidFill>
                <a:latin typeface="Arial"/>
                <a:ea typeface="Arial"/>
                <a:cs typeface="Arial"/>
              </a:defRPr>
            </a:lvl4pPr>
            <a:lvl5pPr algn="l">
              <a:defRPr sz="1800" b="1">
                <a:solidFill>
                  <a:srgbClr val="067C75"/>
                </a:solidFill>
                <a:latin typeface="Arial"/>
                <a:ea typeface="Arial"/>
                <a:cs typeface="Arial"/>
              </a:defRPr>
            </a:lvl5pPr>
            <a:lvl6pPr algn="l">
              <a:defRPr sz="1800" b="1">
                <a:solidFill>
                  <a:srgbClr val="067C75"/>
                </a:solidFill>
                <a:latin typeface="Arial"/>
                <a:ea typeface="Arial"/>
                <a:cs typeface="Arial"/>
              </a:defRPr>
            </a:lvl6pPr>
            <a:lvl7pPr algn="l">
              <a:defRPr sz="1800" b="1">
                <a:solidFill>
                  <a:srgbClr val="067C75"/>
                </a:solidFill>
                <a:latin typeface="Arial"/>
                <a:ea typeface="Arial"/>
                <a:cs typeface="Arial"/>
              </a:defRPr>
            </a:lvl7pPr>
            <a:lvl8pPr algn="l">
              <a:defRPr sz="1800" b="1">
                <a:solidFill>
                  <a:srgbClr val="067C75"/>
                </a:solidFill>
                <a:latin typeface="Arial"/>
                <a:ea typeface="Arial"/>
                <a:cs typeface="Arial"/>
              </a:defRPr>
            </a:lvl8pPr>
            <a:lvl9pPr algn="l">
              <a:defRPr sz="1800" b="1">
                <a:solidFill>
                  <a:srgbClr val="067C75"/>
                </a:solidFill>
                <a:latin typeface="Arial"/>
                <a:ea typeface="Arial"/>
                <a:cs typeface="Arial"/>
              </a:defRPr>
            </a:lvl9pPr>
          </a:lstStyle>
          <a:p xmlns:a="http://schemas.openxmlformats.org/drawingml/2006/main">
            <a:pPr algn="l">
              <a:defRPr sz="1800" b="1">
                <a:solidFill>
                  <a:srgbClr val="067C75"/>
                </a:solidFill>
                <a:latin typeface="Arial"/>
                <a:ea typeface="Arial"/>
                <a:cs typeface="Arial"/>
              </a:defRPr>
            </a:pPr>
            <a:r>
              <a:rPr sz="1800" b="1">
                <a:solidFill>
                  <a:srgbClr val="067C75"/>
                </a:solidFill>
                <a:latin typeface="Arial"/>
                <a:ea typeface="Arial"/>
                <a:cs typeface="Arial"/>
              </a:rPr>
              <a:t>What remains unresolved</a:t>
            </a:r>
          </a:p>
        </p:txBody>
      </p:sp>
      <p:sp>
        <p:nvSpPr>
          <p:cNvPr id="9" name="shape-118">
            <a:extLst xmlns:a="http://schemas.openxmlformats.org/drawingml/2006/main">
              <a:ext uri="{FF2B5EF4-FFF2-40B4-BE49-F238E27FC236}">
                <a16:creationId xmlns:a16="http://schemas.microsoft.com/office/drawing/2014/main" id="{D0A0DA5D-16CA-410D-98BE-3396C969DEEF}"/>
              </a:ext>
            </a:extLst>
          </p:cNvPr>
          <p:cNvSpPr>
            <a:spLocks xmlns:a="http://schemas.openxmlformats.org/drawingml/2006/main" noGrp="1"/>
          </p:cNvSpPr>
          <p:nvPr/>
        </p:nvSpPr>
        <p:spPr>
          <a:xfrm xmlns:a="http://schemas.openxmlformats.org/drawingml/2006/main">
            <a:off x="6477000" y="2066925"/>
            <a:ext cx="5095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42D40"/>
                </a:solidFill>
                <a:latin typeface="Arial"/>
                <a:ea typeface="Arial"/>
                <a:cs typeface="Arial"/>
              </a:defRPr>
            </a:defPPr>
            <a:lvl1pPr algn="l">
              <a:defRPr sz="1725" b="0">
                <a:solidFill>
                  <a:srgbClr val="142D40"/>
                </a:solidFill>
                <a:latin typeface="Arial"/>
                <a:ea typeface="Arial"/>
                <a:cs typeface="Arial"/>
              </a:defRPr>
            </a:lvl1pPr>
            <a:lvl2pPr algn="l">
              <a:defRPr sz="1725" b="0">
                <a:solidFill>
                  <a:srgbClr val="142D40"/>
                </a:solidFill>
                <a:latin typeface="Arial"/>
                <a:ea typeface="Arial"/>
                <a:cs typeface="Arial"/>
              </a:defRPr>
            </a:lvl2pPr>
            <a:lvl3pPr algn="l">
              <a:defRPr sz="1725" b="0">
                <a:solidFill>
                  <a:srgbClr val="142D40"/>
                </a:solidFill>
                <a:latin typeface="Arial"/>
                <a:ea typeface="Arial"/>
                <a:cs typeface="Arial"/>
              </a:defRPr>
            </a:lvl3pPr>
            <a:lvl4pPr algn="l">
              <a:defRPr sz="1725" b="0">
                <a:solidFill>
                  <a:srgbClr val="142D40"/>
                </a:solidFill>
                <a:latin typeface="Arial"/>
                <a:ea typeface="Arial"/>
                <a:cs typeface="Arial"/>
              </a:defRPr>
            </a:lvl4pPr>
            <a:lvl5pPr algn="l">
              <a:defRPr sz="1725" b="0">
                <a:solidFill>
                  <a:srgbClr val="142D40"/>
                </a:solidFill>
                <a:latin typeface="Arial"/>
                <a:ea typeface="Arial"/>
                <a:cs typeface="Arial"/>
              </a:defRPr>
            </a:lvl5pPr>
            <a:lvl6pPr algn="l">
              <a:defRPr sz="1725" b="0">
                <a:solidFill>
                  <a:srgbClr val="142D40"/>
                </a:solidFill>
                <a:latin typeface="Arial"/>
                <a:ea typeface="Arial"/>
                <a:cs typeface="Arial"/>
              </a:defRPr>
            </a:lvl6pPr>
            <a:lvl7pPr algn="l">
              <a:defRPr sz="1725" b="0">
                <a:solidFill>
                  <a:srgbClr val="142D40"/>
                </a:solidFill>
                <a:latin typeface="Arial"/>
                <a:ea typeface="Arial"/>
                <a:cs typeface="Arial"/>
              </a:defRPr>
            </a:lvl7pPr>
            <a:lvl8pPr algn="l">
              <a:defRPr sz="1725" b="0">
                <a:solidFill>
                  <a:srgbClr val="142D40"/>
                </a:solidFill>
                <a:latin typeface="Arial"/>
                <a:ea typeface="Arial"/>
                <a:cs typeface="Arial"/>
              </a:defRPr>
            </a:lvl8pPr>
            <a:lvl9pPr algn="l">
              <a:defRPr sz="1725" b="0">
                <a:solidFill>
                  <a:srgbClr val="142D40"/>
                </a:solidFill>
                <a:latin typeface="Arial"/>
                <a:ea typeface="Arial"/>
                <a:cs typeface="Arial"/>
              </a:defRPr>
            </a:lvl9pPr>
          </a:lstStyle>
          <a:p xmlns:a="http://schemas.openxmlformats.org/drawingml/2006/main">
            <a:pPr algn="l">
              <a:defRPr sz="1725" b="0">
                <a:solidFill>
                  <a:srgbClr val="142D40"/>
                </a:solidFill>
                <a:latin typeface="Arial"/>
                <a:ea typeface="Arial"/>
                <a:cs typeface="Arial"/>
              </a:defRPr>
            </a:pPr>
            <a:r>
              <a:rPr sz="1725" b="0">
                <a:solidFill>
                  <a:srgbClr val="142D40"/>
                </a:solidFill>
                <a:latin typeface="Arial"/>
                <a:ea typeface="Arial"/>
                <a:cs typeface="Arial"/>
              </a:rPr>
              <a:t>Offline thresholds and future context do not establish streaming performance. The remaining model suite is unfinished.</a:t>
            </a:r>
          </a:p>
        </p:txBody>
      </p:sp>
      <p:sp>
        <p:nvSpPr>
          <p:cNvPr id="10" name="shape-119">
            <a:extLst xmlns:a="http://schemas.openxmlformats.org/drawingml/2006/main">
              <a:ext uri="{FF2B5EF4-FFF2-40B4-BE49-F238E27FC236}">
                <a16:creationId xmlns:a16="http://schemas.microsoft.com/office/drawing/2014/main" id="{F9E0F700-E5ED-4D2D-95B0-E9FFCAFBCDB8}"/>
              </a:ext>
            </a:extLst>
          </p:cNvPr>
          <p:cNvSpPr>
            <a:spLocks xmlns:a="http://schemas.openxmlformats.org/drawingml/2006/main" noGrp="1"/>
          </p:cNvSpPr>
          <p:nvPr/>
        </p:nvSpPr>
        <p:spPr>
          <a:xfrm xmlns:a="http://schemas.openxmlformats.org/drawingml/2006/main">
            <a:off x="609600" y="37147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42D40"/>
                </a:solidFill>
                <a:latin typeface="Arial"/>
                <a:ea typeface="Arial"/>
                <a:cs typeface="Arial"/>
              </a:defRPr>
            </a:defPPr>
            <a:lvl1pPr algn="l">
              <a:defRPr sz="2175" b="1">
                <a:solidFill>
                  <a:srgbClr val="142D40"/>
                </a:solidFill>
                <a:latin typeface="Arial"/>
                <a:ea typeface="Arial"/>
                <a:cs typeface="Arial"/>
              </a:defRPr>
            </a:lvl1pPr>
            <a:lvl2pPr algn="l">
              <a:defRPr sz="2175" b="1">
                <a:solidFill>
                  <a:srgbClr val="142D40"/>
                </a:solidFill>
                <a:latin typeface="Arial"/>
                <a:ea typeface="Arial"/>
                <a:cs typeface="Arial"/>
              </a:defRPr>
            </a:lvl2pPr>
            <a:lvl3pPr algn="l">
              <a:defRPr sz="2175" b="1">
                <a:solidFill>
                  <a:srgbClr val="142D40"/>
                </a:solidFill>
                <a:latin typeface="Arial"/>
                <a:ea typeface="Arial"/>
                <a:cs typeface="Arial"/>
              </a:defRPr>
            </a:lvl3pPr>
            <a:lvl4pPr algn="l">
              <a:defRPr sz="2175" b="1">
                <a:solidFill>
                  <a:srgbClr val="142D40"/>
                </a:solidFill>
                <a:latin typeface="Arial"/>
                <a:ea typeface="Arial"/>
                <a:cs typeface="Arial"/>
              </a:defRPr>
            </a:lvl4pPr>
            <a:lvl5pPr algn="l">
              <a:defRPr sz="2175" b="1">
                <a:solidFill>
                  <a:srgbClr val="142D40"/>
                </a:solidFill>
                <a:latin typeface="Arial"/>
                <a:ea typeface="Arial"/>
                <a:cs typeface="Arial"/>
              </a:defRPr>
            </a:lvl5pPr>
            <a:lvl6pPr algn="l">
              <a:defRPr sz="2175" b="1">
                <a:solidFill>
                  <a:srgbClr val="142D40"/>
                </a:solidFill>
                <a:latin typeface="Arial"/>
                <a:ea typeface="Arial"/>
                <a:cs typeface="Arial"/>
              </a:defRPr>
            </a:lvl6pPr>
            <a:lvl7pPr algn="l">
              <a:defRPr sz="2175" b="1">
                <a:solidFill>
                  <a:srgbClr val="142D40"/>
                </a:solidFill>
                <a:latin typeface="Arial"/>
                <a:ea typeface="Arial"/>
                <a:cs typeface="Arial"/>
              </a:defRPr>
            </a:lvl7pPr>
            <a:lvl8pPr algn="l">
              <a:defRPr sz="2175" b="1">
                <a:solidFill>
                  <a:srgbClr val="142D40"/>
                </a:solidFill>
                <a:latin typeface="Arial"/>
                <a:ea typeface="Arial"/>
                <a:cs typeface="Arial"/>
              </a:defRPr>
            </a:lvl8pPr>
            <a:lvl9pPr algn="l">
              <a:defRPr sz="2175" b="1">
                <a:solidFill>
                  <a:srgbClr val="142D40"/>
                </a:solidFill>
                <a:latin typeface="Arial"/>
                <a:ea typeface="Arial"/>
                <a:cs typeface="Arial"/>
              </a:defRPr>
            </a:lvl9pPr>
          </a:lstStyle>
          <a:p xmlns:a="http://schemas.openxmlformats.org/drawingml/2006/main">
            <a:pPr algn="l">
              <a:defRPr sz="2175" b="1">
                <a:solidFill>
                  <a:srgbClr val="142D40"/>
                </a:solidFill>
                <a:latin typeface="Arial"/>
                <a:ea typeface="Arial"/>
                <a:cs typeface="Arial"/>
              </a:defRPr>
            </a:pPr>
            <a:r>
              <a:rPr sz="2175" b="1">
                <a:solidFill>
                  <a:srgbClr val="142D40"/>
                </a:solidFill>
                <a:latin typeface="Arial"/>
                <a:ea typeface="Arial"/>
                <a:cs typeface="Arial"/>
              </a:rPr>
              <a:t>Operational improvements to validate</a:t>
            </a:r>
          </a:p>
        </p:txBody>
      </p:sp>
      <p:sp>
        <p:nvSpPr>
          <p:cNvPr id="11" name="shape-120">
            <a:extLst xmlns:a="http://schemas.openxmlformats.org/drawingml/2006/main">
              <a:ext uri="{FF2B5EF4-FFF2-40B4-BE49-F238E27FC236}">
                <a16:creationId xmlns:a16="http://schemas.microsoft.com/office/drawing/2014/main" id="{A2CE74DB-651C-4F1E-BA02-6C956C883A7B}"/>
              </a:ext>
            </a:extLst>
          </p:cNvPr>
          <p:cNvSpPr>
            <a:spLocks xmlns:a="http://schemas.openxmlformats.org/drawingml/2006/main" noGrp="1"/>
          </p:cNvSpPr>
          <p:nvPr/>
        </p:nvSpPr>
        <p:spPr>
          <a:xfrm xmlns:a="http://schemas.openxmlformats.org/drawingml/2006/main">
            <a:off x="609600" y="4343400"/>
            <a:ext cx="109728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536775"/>
                </a:solidFill>
                <a:latin typeface="Arial"/>
                <a:ea typeface="Arial"/>
                <a:cs typeface="Arial"/>
              </a:defRPr>
            </a:defPPr>
            <a:lvl1pPr algn="l">
              <a:defRPr sz="1800" b="0">
                <a:solidFill>
                  <a:srgbClr val="536775"/>
                </a:solidFill>
                <a:latin typeface="Arial"/>
                <a:ea typeface="Arial"/>
                <a:cs typeface="Arial"/>
              </a:defRPr>
            </a:lvl1pPr>
            <a:lvl2pPr algn="l">
              <a:defRPr sz="1800" b="0">
                <a:solidFill>
                  <a:srgbClr val="536775"/>
                </a:solidFill>
                <a:latin typeface="Arial"/>
                <a:ea typeface="Arial"/>
                <a:cs typeface="Arial"/>
              </a:defRPr>
            </a:lvl2pPr>
            <a:lvl3pPr algn="l">
              <a:defRPr sz="1800" b="0">
                <a:solidFill>
                  <a:srgbClr val="536775"/>
                </a:solidFill>
                <a:latin typeface="Arial"/>
                <a:ea typeface="Arial"/>
                <a:cs typeface="Arial"/>
              </a:defRPr>
            </a:lvl3pPr>
            <a:lvl4pPr algn="l">
              <a:defRPr sz="1800" b="0">
                <a:solidFill>
                  <a:srgbClr val="536775"/>
                </a:solidFill>
                <a:latin typeface="Arial"/>
                <a:ea typeface="Arial"/>
                <a:cs typeface="Arial"/>
              </a:defRPr>
            </a:lvl4pPr>
            <a:lvl5pPr algn="l">
              <a:defRPr sz="1800" b="0">
                <a:solidFill>
                  <a:srgbClr val="536775"/>
                </a:solidFill>
                <a:latin typeface="Arial"/>
                <a:ea typeface="Arial"/>
                <a:cs typeface="Arial"/>
              </a:defRPr>
            </a:lvl5pPr>
            <a:lvl6pPr algn="l">
              <a:defRPr sz="1800" b="0">
                <a:solidFill>
                  <a:srgbClr val="536775"/>
                </a:solidFill>
                <a:latin typeface="Arial"/>
                <a:ea typeface="Arial"/>
                <a:cs typeface="Arial"/>
              </a:defRPr>
            </a:lvl6pPr>
            <a:lvl7pPr algn="l">
              <a:defRPr sz="1800" b="0">
                <a:solidFill>
                  <a:srgbClr val="536775"/>
                </a:solidFill>
                <a:latin typeface="Arial"/>
                <a:ea typeface="Arial"/>
                <a:cs typeface="Arial"/>
              </a:defRPr>
            </a:lvl7pPr>
            <a:lvl8pPr algn="l">
              <a:defRPr sz="1800" b="0">
                <a:solidFill>
                  <a:srgbClr val="536775"/>
                </a:solidFill>
                <a:latin typeface="Arial"/>
                <a:ea typeface="Arial"/>
                <a:cs typeface="Arial"/>
              </a:defRPr>
            </a:lvl8pPr>
            <a:lvl9pPr algn="l">
              <a:defRPr sz="1800" b="0">
                <a:solidFill>
                  <a:srgbClr val="536775"/>
                </a:solidFill>
                <a:latin typeface="Arial"/>
                <a:ea typeface="Arial"/>
                <a:cs typeface="Arial"/>
              </a:defRPr>
            </a:lvl9pPr>
          </a:lstStyle>
          <a:p xmlns:a="http://schemas.openxmlformats.org/drawingml/2006/main">
            <a:pPr algn="l">
              <a:defRPr sz="1800" b="0">
                <a:solidFill>
                  <a:srgbClr val="536775"/>
                </a:solidFill>
                <a:latin typeface="Arial"/>
                <a:ea typeface="Arial"/>
                <a:cs typeface="Arial"/>
              </a:defRPr>
            </a:pPr>
            <a:r>
              <a:rPr sz="1800" b="0">
                <a:solidFill>
                  <a:srgbClr val="536775"/>
                </a:solidFill>
                <a:latin typeface="Arial"/>
                <a:ea typeface="Arial"/>
                <a:cs typeface="Arial"/>
              </a:rPr>
              <a:t>1. Convert variance scoring to trailing, past-only windows.</a:t>
            </a:r>
          </a:p>
          <a:p xmlns:a="http://schemas.openxmlformats.org/drawingml/2006/main">
            <a:pPr algn="l">
              <a:defRPr sz="1800" b="0">
                <a:solidFill>
                  <a:srgbClr val="536775"/>
                </a:solidFill>
                <a:latin typeface="Arial"/>
                <a:ea typeface="Arial"/>
                <a:cs typeface="Arial"/>
              </a:defRPr>
            </a:pPr>
            <a:r>
              <a:rPr sz="1800" b="0">
                <a:solidFill>
                  <a:srgbClr val="536775"/>
                </a:solidFill>
                <a:latin typeface="Arial"/>
                <a:ea typeface="Arial"/>
                <a:cs typeface="Arial"/>
              </a:rPr>
              <a:t>2. Calibrate thresholds on chronological development data and measure false alerts.</a:t>
            </a:r>
          </a:p>
          <a:p xmlns:a="http://schemas.openxmlformats.org/drawingml/2006/main">
            <a:pPr algn="l">
              <a:defRPr sz="1800" b="0">
                <a:solidFill>
                  <a:srgbClr val="536775"/>
                </a:solidFill>
                <a:latin typeface="Arial"/>
                <a:ea typeface="Arial"/>
                <a:cs typeface="Arial"/>
              </a:defRPr>
            </a:pPr>
            <a:r>
              <a:rPr sz="1800" b="0">
                <a:solidFill>
                  <a:srgbClr val="536775"/>
                </a:solidFill>
                <a:latin typeface="Arial"/>
                <a:ea typeface="Arial"/>
                <a:cs typeface="Arial"/>
              </a:rPr>
              <a:t>3. Reduce the 43 false alerts and 11.36-hour mean detection delay.</a:t>
            </a:r>
          </a:p>
          <a:p xmlns:a="http://schemas.openxmlformats.org/drawingml/2006/main">
            <a:pPr algn="l">
              <a:defRPr sz="1800" b="0">
                <a:solidFill>
                  <a:srgbClr val="536775"/>
                </a:solidFill>
                <a:latin typeface="Arial"/>
                <a:ea typeface="Arial"/>
                <a:cs typeface="Arial"/>
              </a:defRPr>
            </a:pPr>
            <a:r>
              <a:rPr sz="1800" b="0">
                <a:solidFill>
                  <a:srgbClr val="536775"/>
                </a:solidFill>
                <a:latin typeface="Arial"/>
                <a:ea typeface="Arial"/>
                <a:cs typeface="Arial"/>
              </a:rPr>
              <a:t>4. Freeze the final policy, then evaluate organizer-held hidden windows.</a:t>
            </a:r>
          </a:p>
        </p:txBody>
      </p:sp>
    </p:spTree>
    <p:extLst>
      <p:ext uri="{BB962C8B-B14F-4D97-AF65-F5344CB8AC3E}">
        <p14:creationId xmlns:p14="http://schemas.microsoft.com/office/powerpoint/2010/main" val="1616022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2026-10-27T12:02:51.6030000Z</dcterms:created>
  <dcterms:modified xsi:type="dcterms:W3CDTF">2026-10-27T12:02:51.6030000Z</dcterms:modified>
</coreProperties>
</file>